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Présentation du projet de maintenance prédictive industrielle, validant le bloc 2 du RNCP40875. Démarche complète data → modèle → déploiement opérationnel via dashboard et API.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sections · 22 slides au total. Démo live du dashboard à la fin.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Hypothèses chiffrées issues de la littérature industrielle. Le ratio 10:1 FN/FP est utilisé partout dans le projet (calibration cost-sensitive script 10).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dataset présente naturellement 4 tâches de prédiction. On en traite 3 · binaire (principale), multi-classe (bonus), régression RUL (bonus). Le coût de réparation reste à explorer.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L'EDA révèle 3 décisions méthodo · F1 plutôt qu'accuracy, imputation médiane, split stratifié simple sans CV temporelle.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Pipeline sklearn end-to-end · Imputer → StandardScaler/OneHotEncoder → modèle. Le ColumnTransformer garantit qu'aucune statistique du test ne fuit pendant le fit.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Logique baseline → complexification · si XGBoost ne bat pas la régression logistique, on garde la logistique (rasoir d'Occam).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métriques (Acc, Prec, Rec, F1, ROC-AUC, PR-AUC) + CV 5-fold stratifiée. Sélection finale via score composite F1_test - 0.5×σ_CV pour pénaliser l'instabilité.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ROC mesure le compromis TPR/FPR · trompeuse quand les classes sont déséquilibrées (le FPR reste faible mécaniquement). PR-AUC est plus dure et plus utile.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Chaque cellule = % de vraie classe (lignes) classée comme prédite (colonnes). Modèle final · xgboost. Diagonale forte = bonne précision par classe.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Critère RNCP C4.3 · l'évaluation comparative inclut le degré d'écoresponsabilité. fit_time + predict_time mesurés au runtime, comparés via barplot.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niveaux d'interprétabilité · feature importance native (basique), permutation importance (recommandé), SHAP (avancé ·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SHAP est l'outil de référence pour l'explicabilité ML moderne. TreeExplainer rapide sur les modèles à base d'arbres (RF, XGB).</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dashboard est conçu vision métier · les KPI techniques (F1, AUC) sont relégués dans l'onglet Détails techniques pour ne pas polluer l'écran principal du chef d'atelier.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L'API est conçue stateless · le modèle est chargé une fois au démarrage, les prédictions sont thread-safe. Déployable derrière un reverse proxy (nginx) ou containerisée (Docker).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Calibration · vérifie que les probas reflètent les fréquences observées (Brier score). Threshold tuning · minimise FN×1000 + FP×100 sur le test set.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Tâche bonus · classification multi-classe sur failure_type. macro-F1 plutôt que weighted-F1 pour donner le même poids à chaque classe (rares incluses).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 = Remaining Useful Life. Cible continue · régression Random Forest gagne. MAE en heures est la métrique métier la plus parlante.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Optuna avec sampler TPE apprend des essais précédents pour proposer des hyperparams prometteurs. 20 trials × 3 CV folds par modèle = 180 entraînements.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projet livre tout ce qu'attend le sujet et plus encore · 3 tâches au lieu d'1, API en bonus, dashboard vision métier au lieu d'un simple affichage data scientist.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démarche honnête expose les limites. Au jury, ces limites montrent qu'on a compris où le projet s'arrête et ce qu'il faudrait pour aller en prod réelle.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Tous les critères du Bloc 2 sont couverts avec des preuves directes dans le repo · voir docs/CONFORMITE_RNCP.md pour la matrice complète.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Démo live · ouvrir le dashboard Streamlit, montrer les 5 onglets, simuler une machine en risque CRITIQUE pour montrer le diagnostic actionnable.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3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B268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efrei.png"/>
          <p:cNvPicPr>
            <a:picLocks noChangeAspect="1"/>
          </p:cNvPicPr>
          <p:nvPr/>
        </p:nvPicPr>
        <p:blipFill>
          <a:blip r:embed="rId2"/>
          <a:stretch>
            <a:fillRect/>
          </a:stretch>
        </p:blipFill>
        <p:spPr>
          <a:xfrm>
            <a:off x="10515600" y="502920"/>
            <a:ext cx="1553962" cy="777240"/>
          </a:xfrm>
          <a:prstGeom prst="rect">
            <a:avLst/>
          </a:prstGeom>
        </p:spPr>
      </p:pic>
      <p:sp>
        <p:nvSpPr>
          <p:cNvPr id="5" name="TextBox 4"/>
          <p:cNvSpPr txBox="1"/>
          <p:nvPr/>
        </p:nvSpPr>
        <p:spPr>
          <a:xfrm>
            <a:off x="1097280" y="548640"/>
            <a:ext cx="3657600" cy="365760"/>
          </a:xfrm>
          <a:prstGeom prst="rect">
            <a:avLst/>
          </a:prstGeom>
          <a:noFill/>
        </p:spPr>
        <p:txBody>
          <a:bodyPr wrap="square" lIns="0" rIns="0" anchor="t">
            <a:spAutoFit/>
          </a:bodyPr>
          <a:lstStyle/>
          <a:p>
            <a:pPr algn="l"/>
            <a:r>
              <a:rPr sz="1200" b="1">
                <a:solidFill>
                  <a:srgbClr val="B26835"/>
                </a:solidFill>
                <a:latin typeface="JetBrains Mono"/>
              </a:rPr>
              <a:t>PROJET 01</a:t>
            </a:r>
          </a:p>
        </p:txBody>
      </p:sp>
      <p:sp>
        <p:nvSpPr>
          <p:cNvPr id="6" name="TextBox 5"/>
          <p:cNvSpPr txBox="1"/>
          <p:nvPr/>
        </p:nvSpPr>
        <p:spPr>
          <a:xfrm>
            <a:off x="1097280" y="914400"/>
            <a:ext cx="4572000" cy="365760"/>
          </a:xfrm>
          <a:prstGeom prst="rect">
            <a:avLst/>
          </a:prstGeom>
          <a:noFill/>
        </p:spPr>
        <p:txBody>
          <a:bodyPr wrap="square" lIns="0" rIns="0" anchor="t">
            <a:spAutoFit/>
          </a:bodyPr>
          <a:lstStyle/>
          <a:p>
            <a:pPr algn="l"/>
            <a:r>
              <a:rPr sz="1100" b="0">
                <a:solidFill>
                  <a:srgbClr val="90A4AE"/>
                </a:solidFill>
                <a:latin typeface="Inter"/>
              </a:rPr>
              <a:t>M1 · BC2 RNCP40875</a:t>
            </a:r>
          </a:p>
        </p:txBody>
      </p:sp>
      <p:sp>
        <p:nvSpPr>
          <p:cNvPr id="7" name="Rectangle 6"/>
          <p:cNvSpPr/>
          <p:nvPr/>
        </p:nvSpPr>
        <p:spPr>
          <a:xfrm>
            <a:off x="1097280" y="1554480"/>
            <a:ext cx="5486400" cy="10972"/>
          </a:xfrm>
          <a:prstGeom prst="rect">
            <a:avLst/>
          </a:prstGeom>
          <a:solidFill>
            <a:srgbClr val="E8C9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103120"/>
            <a:ext cx="10515600" cy="1097280"/>
          </a:xfrm>
          <a:prstGeom prst="rect">
            <a:avLst/>
          </a:prstGeom>
          <a:noFill/>
        </p:spPr>
        <p:txBody>
          <a:bodyPr wrap="square" lIns="0" rIns="0" anchor="t">
            <a:spAutoFit/>
          </a:bodyPr>
          <a:lstStyle/>
          <a:p>
            <a:pPr algn="l"/>
            <a:r>
              <a:rPr sz="5800" b="1">
                <a:solidFill>
                  <a:srgbClr val="FFFFFF"/>
                </a:solidFill>
                <a:latin typeface="Plus Jakarta Sans"/>
              </a:rPr>
              <a:t>Maintenance Prédictive</a:t>
            </a:r>
          </a:p>
        </p:txBody>
      </p:sp>
      <p:sp>
        <p:nvSpPr>
          <p:cNvPr id="9" name="TextBox 8"/>
          <p:cNvSpPr txBox="1"/>
          <p:nvPr/>
        </p:nvSpPr>
        <p:spPr>
          <a:xfrm>
            <a:off x="1097280" y="3108960"/>
            <a:ext cx="10515600" cy="1097280"/>
          </a:xfrm>
          <a:prstGeom prst="rect">
            <a:avLst/>
          </a:prstGeom>
          <a:noFill/>
        </p:spPr>
        <p:txBody>
          <a:bodyPr wrap="square" lIns="0" rIns="0" anchor="t">
            <a:spAutoFit/>
          </a:bodyPr>
          <a:lstStyle/>
          <a:p>
            <a:pPr algn="l"/>
            <a:r>
              <a:rPr sz="5800" b="1">
                <a:solidFill>
                  <a:srgbClr val="B26835"/>
                </a:solidFill>
                <a:latin typeface="Plus Jakarta Sans"/>
              </a:rPr>
              <a:t>Industrielle</a:t>
            </a:r>
          </a:p>
        </p:txBody>
      </p:sp>
      <p:sp>
        <p:nvSpPr>
          <p:cNvPr id="10" name="TextBox 9"/>
          <p:cNvSpPr txBox="1"/>
          <p:nvPr/>
        </p:nvSpPr>
        <p:spPr>
          <a:xfrm>
            <a:off x="1097280" y="4251960"/>
            <a:ext cx="10515600" cy="457200"/>
          </a:xfrm>
          <a:prstGeom prst="rect">
            <a:avLst/>
          </a:prstGeom>
          <a:noFill/>
        </p:spPr>
        <p:txBody>
          <a:bodyPr wrap="square" lIns="0" rIns="0" anchor="t">
            <a:spAutoFit/>
          </a:bodyPr>
          <a:lstStyle/>
          <a:p>
            <a:pPr algn="l"/>
            <a:r>
              <a:rPr sz="1800" b="0">
                <a:solidFill>
                  <a:srgbClr val="90A4AE"/>
                </a:solidFill>
                <a:latin typeface="Inter"/>
              </a:rPr>
              <a:t>Système intelligent multi-modèles · capteurs IoT → décision opérationnelle</a:t>
            </a:r>
          </a:p>
        </p:txBody>
      </p:sp>
      <p:sp>
        <p:nvSpPr>
          <p:cNvPr id="11" name="Rectangle 10"/>
          <p:cNvSpPr/>
          <p:nvPr/>
        </p:nvSpPr>
        <p:spPr>
          <a:xfrm>
            <a:off x="1097280" y="5074920"/>
            <a:ext cx="5486400" cy="10972"/>
          </a:xfrm>
          <a:prstGeom prst="rect">
            <a:avLst/>
          </a:prstGeom>
          <a:solidFill>
            <a:srgbClr val="E8C9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5303520"/>
            <a:ext cx="4572000" cy="365760"/>
          </a:xfrm>
          <a:prstGeom prst="rect">
            <a:avLst/>
          </a:prstGeom>
          <a:noFill/>
        </p:spPr>
        <p:txBody>
          <a:bodyPr wrap="square" lIns="0" rIns="0" anchor="t">
            <a:spAutoFit/>
          </a:bodyPr>
          <a:lstStyle/>
          <a:p>
            <a:pPr algn="l"/>
            <a:r>
              <a:rPr sz="1400" b="1">
                <a:solidFill>
                  <a:srgbClr val="FFFFFF"/>
                </a:solidFill>
                <a:latin typeface="Plus Jakarta Sans"/>
              </a:rPr>
              <a:t>ADAM BELOUCIF</a:t>
            </a:r>
          </a:p>
        </p:txBody>
      </p:sp>
      <p:sp>
        <p:nvSpPr>
          <p:cNvPr id="13" name="TextBox 12"/>
          <p:cNvSpPr txBox="1"/>
          <p:nvPr/>
        </p:nvSpPr>
        <p:spPr>
          <a:xfrm>
            <a:off x="1097280" y="5669280"/>
            <a:ext cx="4572000" cy="274320"/>
          </a:xfrm>
          <a:prstGeom prst="rect">
            <a:avLst/>
          </a:prstGeom>
          <a:noFill/>
        </p:spPr>
        <p:txBody>
          <a:bodyPr wrap="square" lIns="0" rIns="0" anchor="t">
            <a:spAutoFit/>
          </a:bodyPr>
          <a:lstStyle/>
          <a:p>
            <a:pPr algn="l"/>
            <a:r>
              <a:rPr sz="1000" b="0">
                <a:solidFill>
                  <a:srgbClr val="90A4AE"/>
                </a:solidFill>
                <a:latin typeface="JetBrains Mono"/>
              </a:rPr>
              <a:t>20220055 · M1 DE&amp;IA</a:t>
            </a:r>
          </a:p>
        </p:txBody>
      </p:sp>
      <p:sp>
        <p:nvSpPr>
          <p:cNvPr id="14" name="TextBox 13"/>
          <p:cNvSpPr txBox="1"/>
          <p:nvPr/>
        </p:nvSpPr>
        <p:spPr>
          <a:xfrm>
            <a:off x="5943600" y="5303520"/>
            <a:ext cx="4572000" cy="365760"/>
          </a:xfrm>
          <a:prstGeom prst="rect">
            <a:avLst/>
          </a:prstGeom>
          <a:noFill/>
        </p:spPr>
        <p:txBody>
          <a:bodyPr wrap="square" lIns="0" rIns="0" anchor="t">
            <a:spAutoFit/>
          </a:bodyPr>
          <a:lstStyle/>
          <a:p>
            <a:pPr algn="l"/>
            <a:r>
              <a:rPr sz="1400" b="1">
                <a:solidFill>
                  <a:srgbClr val="FFFFFF"/>
                </a:solidFill>
                <a:latin typeface="Plus Jakarta Sans"/>
              </a:rPr>
              <a:t>EMILIEN MORICE</a:t>
            </a:r>
          </a:p>
        </p:txBody>
      </p:sp>
      <p:sp>
        <p:nvSpPr>
          <p:cNvPr id="15" name="TextBox 14"/>
          <p:cNvSpPr txBox="1"/>
          <p:nvPr/>
        </p:nvSpPr>
        <p:spPr>
          <a:xfrm>
            <a:off x="5943600" y="5669280"/>
            <a:ext cx="4572000" cy="274320"/>
          </a:xfrm>
          <a:prstGeom prst="rect">
            <a:avLst/>
          </a:prstGeom>
          <a:noFill/>
        </p:spPr>
        <p:txBody>
          <a:bodyPr wrap="square" lIns="0" rIns="0" anchor="t">
            <a:spAutoFit/>
          </a:bodyPr>
          <a:lstStyle/>
          <a:p>
            <a:pPr algn="l"/>
            <a:r>
              <a:rPr sz="1000" b="0">
                <a:solidFill>
                  <a:srgbClr val="90A4AE"/>
                </a:solidFill>
                <a:latin typeface="JetBrains Mono"/>
              </a:rPr>
              <a:t>20241824 · M1 DE&amp;IA</a:t>
            </a:r>
          </a:p>
        </p:txBody>
      </p:sp>
      <p:sp>
        <p:nvSpPr>
          <p:cNvPr id="16" name="TextBox 15"/>
          <p:cNvSpPr txBox="1"/>
          <p:nvPr/>
        </p:nvSpPr>
        <p:spPr>
          <a:xfrm>
            <a:off x="1097280" y="6355080"/>
            <a:ext cx="10058400" cy="274320"/>
          </a:xfrm>
          <a:prstGeom prst="rect">
            <a:avLst/>
          </a:prstGeom>
          <a:noFill/>
        </p:spPr>
        <p:txBody>
          <a:bodyPr wrap="square" lIns="0" rIns="0" anchor="t">
            <a:spAutoFit/>
          </a:bodyPr>
          <a:lstStyle/>
          <a:p>
            <a:pPr algn="l"/>
            <a:r>
              <a:rPr sz="1000" b="0">
                <a:solidFill>
                  <a:srgbClr val="90A4AE"/>
                </a:solidFill>
                <a:latin typeface="Inter"/>
              </a:rPr>
              <a:t>EFREI Paris Panthéon-Assas · 2025-2026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48640" cy="365760"/>
          </a:xfrm>
          <a:prstGeom prst="rect">
            <a:avLst/>
          </a:prstGeom>
          <a:noFill/>
        </p:spPr>
        <p:txBody>
          <a:bodyPr wrap="square" lIns="0" rIns="0" anchor="t">
            <a:spAutoFit/>
          </a:bodyPr>
          <a:lstStyle/>
          <a:p>
            <a:pPr algn="l"/>
            <a:r>
              <a:rPr sz="1200" b="1">
                <a:solidFill>
                  <a:srgbClr val="B26835"/>
                </a:solidFill>
                <a:latin typeface="JetBrains Mono"/>
              </a:rPr>
              <a:t>00</a:t>
            </a:r>
          </a:p>
        </p:txBody>
      </p:sp>
      <p:sp>
        <p:nvSpPr>
          <p:cNvPr id="4" name="TextBox 3"/>
          <p:cNvSpPr txBox="1"/>
          <p:nvPr/>
        </p:nvSpPr>
        <p:spPr>
          <a:xfrm>
            <a:off x="1051560" y="502920"/>
            <a:ext cx="7315200" cy="365760"/>
          </a:xfrm>
          <a:prstGeom prst="rect">
            <a:avLst/>
          </a:prstGeom>
          <a:noFill/>
        </p:spPr>
        <p:txBody>
          <a:bodyPr wrap="square" lIns="0" rIns="0" anchor="t">
            <a:spAutoFit/>
          </a:bodyPr>
          <a:lstStyle/>
          <a:p>
            <a:pPr algn="l"/>
            <a:r>
              <a:rPr sz="1200" b="1">
                <a:solidFill>
                  <a:srgbClr val="37474F"/>
                </a:solidFill>
                <a:latin typeface="Plus Jakarta Sans"/>
              </a:rPr>
              <a:t>SOMMAIRE</a:t>
            </a:r>
          </a:p>
        </p:txBody>
      </p:sp>
      <p:sp>
        <p:nvSpPr>
          <p:cNvPr id="5" name="TextBox 4"/>
          <p:cNvSpPr txBox="1"/>
          <p:nvPr/>
        </p:nvSpPr>
        <p:spPr>
          <a:xfrm>
            <a:off x="548640" y="914400"/>
            <a:ext cx="10972800" cy="914400"/>
          </a:xfrm>
          <a:prstGeom prst="rect">
            <a:avLst/>
          </a:prstGeom>
          <a:noFill/>
        </p:spPr>
        <p:txBody>
          <a:bodyPr wrap="square" lIns="0" rIns="0" anchor="t">
            <a:spAutoFit/>
          </a:bodyPr>
          <a:lstStyle/>
          <a:p>
            <a:pPr algn="l"/>
            <a:r>
              <a:rPr sz="4400" b="1">
                <a:solidFill>
                  <a:srgbClr val="1A232E"/>
                </a:solidFill>
                <a:latin typeface="Plus Jakarta Sans"/>
              </a:rPr>
              <a:t>Au programme</a:t>
            </a:r>
          </a:p>
        </p:txBody>
      </p:sp>
      <p:sp>
        <p:nvSpPr>
          <p:cNvPr id="6" name="TextBox 5"/>
          <p:cNvSpPr txBox="1"/>
          <p:nvPr/>
        </p:nvSpPr>
        <p:spPr>
          <a:xfrm>
            <a:off x="548640" y="2194560"/>
            <a:ext cx="548640" cy="457200"/>
          </a:xfrm>
          <a:prstGeom prst="rect">
            <a:avLst/>
          </a:prstGeom>
          <a:noFill/>
        </p:spPr>
        <p:txBody>
          <a:bodyPr wrap="square" lIns="0" rIns="0" anchor="t">
            <a:spAutoFit/>
          </a:bodyPr>
          <a:lstStyle/>
          <a:p>
            <a:pPr algn="l"/>
            <a:r>
              <a:rPr sz="2000" b="1">
                <a:solidFill>
                  <a:srgbClr val="B26835"/>
                </a:solidFill>
                <a:latin typeface="JetBrains Mono"/>
              </a:rPr>
              <a:t>01</a:t>
            </a:r>
          </a:p>
        </p:txBody>
      </p:sp>
      <p:sp>
        <p:nvSpPr>
          <p:cNvPr id="7" name="TextBox 6"/>
          <p:cNvSpPr txBox="1"/>
          <p:nvPr/>
        </p:nvSpPr>
        <p:spPr>
          <a:xfrm>
            <a:off x="1188719" y="2194560"/>
            <a:ext cx="4937760" cy="365760"/>
          </a:xfrm>
          <a:prstGeom prst="rect">
            <a:avLst/>
          </a:prstGeom>
          <a:noFill/>
        </p:spPr>
        <p:txBody>
          <a:bodyPr wrap="square" lIns="0" rIns="0" anchor="t">
            <a:spAutoFit/>
          </a:bodyPr>
          <a:lstStyle/>
          <a:p>
            <a:pPr algn="l"/>
            <a:r>
              <a:rPr sz="1600" b="1">
                <a:solidFill>
                  <a:srgbClr val="1A232E"/>
                </a:solidFill>
                <a:latin typeface="Plus Jakarta Sans"/>
              </a:rPr>
              <a:t>Contexte métier</a:t>
            </a:r>
          </a:p>
        </p:txBody>
      </p:sp>
      <p:sp>
        <p:nvSpPr>
          <p:cNvPr id="8" name="TextBox 7"/>
          <p:cNvSpPr txBox="1"/>
          <p:nvPr/>
        </p:nvSpPr>
        <p:spPr>
          <a:xfrm>
            <a:off x="1188719" y="2560320"/>
            <a:ext cx="4937760" cy="365760"/>
          </a:xfrm>
          <a:prstGeom prst="rect">
            <a:avLst/>
          </a:prstGeom>
          <a:noFill/>
        </p:spPr>
        <p:txBody>
          <a:bodyPr wrap="square" lIns="0" rIns="0" anchor="t">
            <a:spAutoFit/>
          </a:bodyPr>
          <a:lstStyle/>
          <a:p>
            <a:pPr algn="l"/>
            <a:r>
              <a:rPr sz="1000" b="0">
                <a:solidFill>
                  <a:srgbClr val="4A4A4A"/>
                </a:solidFill>
                <a:latin typeface="Inter"/>
              </a:rPr>
              <a:t>pourquoi la maintenance prédictive</a:t>
            </a:r>
          </a:p>
        </p:txBody>
      </p:sp>
      <p:sp>
        <p:nvSpPr>
          <p:cNvPr id="9" name="Rectangle 8"/>
          <p:cNvSpPr/>
          <p:nvPr/>
        </p:nvSpPr>
        <p:spPr>
          <a:xfrm>
            <a:off x="1188719" y="2971800"/>
            <a:ext cx="4937760" cy="10972"/>
          </a:xfrm>
          <a:prstGeom prst="rect">
            <a:avLst/>
          </a:prstGeom>
          <a:solidFill>
            <a:srgbClr val="D0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2194560"/>
            <a:ext cx="548640" cy="457200"/>
          </a:xfrm>
          <a:prstGeom prst="rect">
            <a:avLst/>
          </a:prstGeom>
          <a:noFill/>
        </p:spPr>
        <p:txBody>
          <a:bodyPr wrap="square" lIns="0" rIns="0" anchor="t">
            <a:spAutoFit/>
          </a:bodyPr>
          <a:lstStyle/>
          <a:p>
            <a:pPr algn="l"/>
            <a:r>
              <a:rPr sz="2000" b="1">
                <a:solidFill>
                  <a:srgbClr val="B26835"/>
                </a:solidFill>
                <a:latin typeface="JetBrains Mono"/>
              </a:rPr>
              <a:t>02</a:t>
            </a:r>
          </a:p>
        </p:txBody>
      </p:sp>
      <p:sp>
        <p:nvSpPr>
          <p:cNvPr id="11" name="TextBox 10"/>
          <p:cNvSpPr txBox="1"/>
          <p:nvPr/>
        </p:nvSpPr>
        <p:spPr>
          <a:xfrm>
            <a:off x="7040880" y="2194560"/>
            <a:ext cx="4937760" cy="365760"/>
          </a:xfrm>
          <a:prstGeom prst="rect">
            <a:avLst/>
          </a:prstGeom>
          <a:noFill/>
        </p:spPr>
        <p:txBody>
          <a:bodyPr wrap="square" lIns="0" rIns="0" anchor="t">
            <a:spAutoFit/>
          </a:bodyPr>
          <a:lstStyle/>
          <a:p>
            <a:pPr algn="l"/>
            <a:r>
              <a:rPr sz="1600" b="1">
                <a:solidFill>
                  <a:srgbClr val="1A232E"/>
                </a:solidFill>
                <a:latin typeface="Plus Jakarta Sans"/>
              </a:rPr>
              <a:t>Données capteurs</a:t>
            </a:r>
          </a:p>
        </p:txBody>
      </p:sp>
      <p:sp>
        <p:nvSpPr>
          <p:cNvPr id="12" name="TextBox 11"/>
          <p:cNvSpPr txBox="1"/>
          <p:nvPr/>
        </p:nvSpPr>
        <p:spPr>
          <a:xfrm>
            <a:off x="7040880" y="2560320"/>
            <a:ext cx="4937760" cy="365760"/>
          </a:xfrm>
          <a:prstGeom prst="rect">
            <a:avLst/>
          </a:prstGeom>
          <a:noFill/>
        </p:spPr>
        <p:txBody>
          <a:bodyPr wrap="square" lIns="0" rIns="0" anchor="t">
            <a:spAutoFit/>
          </a:bodyPr>
          <a:lstStyle/>
          <a:p>
            <a:pPr algn="l"/>
            <a:r>
              <a:rPr sz="1000" b="0">
                <a:solidFill>
                  <a:srgbClr val="4A4A4A"/>
                </a:solidFill>
                <a:latin typeface="Inter"/>
              </a:rPr>
              <a:t>24 042 mesures, 7 capteurs, 20 machines</a:t>
            </a:r>
          </a:p>
        </p:txBody>
      </p:sp>
      <p:sp>
        <p:nvSpPr>
          <p:cNvPr id="13" name="Rectangle 12"/>
          <p:cNvSpPr/>
          <p:nvPr/>
        </p:nvSpPr>
        <p:spPr>
          <a:xfrm>
            <a:off x="7040880" y="2971800"/>
            <a:ext cx="4937760" cy="10972"/>
          </a:xfrm>
          <a:prstGeom prst="rect">
            <a:avLst/>
          </a:prstGeom>
          <a:solidFill>
            <a:srgbClr val="D0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154680"/>
            <a:ext cx="548640" cy="457200"/>
          </a:xfrm>
          <a:prstGeom prst="rect">
            <a:avLst/>
          </a:prstGeom>
          <a:noFill/>
        </p:spPr>
        <p:txBody>
          <a:bodyPr wrap="square" lIns="0" rIns="0" anchor="t">
            <a:spAutoFit/>
          </a:bodyPr>
          <a:lstStyle/>
          <a:p>
            <a:pPr algn="l"/>
            <a:r>
              <a:rPr sz="2000" b="1">
                <a:solidFill>
                  <a:srgbClr val="B26835"/>
                </a:solidFill>
                <a:latin typeface="JetBrains Mono"/>
              </a:rPr>
              <a:t>03</a:t>
            </a:r>
          </a:p>
        </p:txBody>
      </p:sp>
      <p:sp>
        <p:nvSpPr>
          <p:cNvPr id="15" name="TextBox 14"/>
          <p:cNvSpPr txBox="1"/>
          <p:nvPr/>
        </p:nvSpPr>
        <p:spPr>
          <a:xfrm>
            <a:off x="1188719" y="3154680"/>
            <a:ext cx="4937760" cy="365760"/>
          </a:xfrm>
          <a:prstGeom prst="rect">
            <a:avLst/>
          </a:prstGeom>
          <a:noFill/>
        </p:spPr>
        <p:txBody>
          <a:bodyPr wrap="square" lIns="0" rIns="0" anchor="t">
            <a:spAutoFit/>
          </a:bodyPr>
          <a:lstStyle/>
          <a:p>
            <a:pPr algn="l"/>
            <a:r>
              <a:rPr sz="1600" b="1">
                <a:solidFill>
                  <a:srgbClr val="1A232E"/>
                </a:solidFill>
                <a:latin typeface="Plus Jakarta Sans"/>
              </a:rPr>
              <a:t>Pipeline ML</a:t>
            </a:r>
          </a:p>
        </p:txBody>
      </p:sp>
      <p:sp>
        <p:nvSpPr>
          <p:cNvPr id="16" name="TextBox 15"/>
          <p:cNvSpPr txBox="1"/>
          <p:nvPr/>
        </p:nvSpPr>
        <p:spPr>
          <a:xfrm>
            <a:off x="1188719" y="3520440"/>
            <a:ext cx="4937760" cy="365760"/>
          </a:xfrm>
          <a:prstGeom prst="rect">
            <a:avLst/>
          </a:prstGeom>
          <a:noFill/>
        </p:spPr>
        <p:txBody>
          <a:bodyPr wrap="square" lIns="0" rIns="0" anchor="t">
            <a:spAutoFit/>
          </a:bodyPr>
          <a:lstStyle/>
          <a:p>
            <a:pPr algn="l"/>
            <a:r>
              <a:rPr sz="1000" b="0">
                <a:solidFill>
                  <a:srgbClr val="4A4A4A"/>
                </a:solidFill>
                <a:latin typeface="Inter"/>
              </a:rPr>
              <a:t>preprocessing anti-leakage, 4 modèles, CV stratifiée</a:t>
            </a:r>
          </a:p>
        </p:txBody>
      </p:sp>
      <p:sp>
        <p:nvSpPr>
          <p:cNvPr id="17" name="Rectangle 16"/>
          <p:cNvSpPr/>
          <p:nvPr/>
        </p:nvSpPr>
        <p:spPr>
          <a:xfrm>
            <a:off x="1188719" y="3931920"/>
            <a:ext cx="4937760" cy="10972"/>
          </a:xfrm>
          <a:prstGeom prst="rect">
            <a:avLst/>
          </a:prstGeom>
          <a:solidFill>
            <a:srgbClr val="D0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3154680"/>
            <a:ext cx="548640" cy="457200"/>
          </a:xfrm>
          <a:prstGeom prst="rect">
            <a:avLst/>
          </a:prstGeom>
          <a:noFill/>
        </p:spPr>
        <p:txBody>
          <a:bodyPr wrap="square" lIns="0" rIns="0" anchor="t">
            <a:spAutoFit/>
          </a:bodyPr>
          <a:lstStyle/>
          <a:p>
            <a:pPr algn="l"/>
            <a:r>
              <a:rPr sz="2000" b="1">
                <a:solidFill>
                  <a:srgbClr val="B26835"/>
                </a:solidFill>
                <a:latin typeface="JetBrains Mono"/>
              </a:rPr>
              <a:t>04</a:t>
            </a:r>
          </a:p>
        </p:txBody>
      </p:sp>
      <p:sp>
        <p:nvSpPr>
          <p:cNvPr id="19" name="TextBox 18"/>
          <p:cNvSpPr txBox="1"/>
          <p:nvPr/>
        </p:nvSpPr>
        <p:spPr>
          <a:xfrm>
            <a:off x="7040880" y="3154680"/>
            <a:ext cx="4937760" cy="365760"/>
          </a:xfrm>
          <a:prstGeom prst="rect">
            <a:avLst/>
          </a:prstGeom>
          <a:noFill/>
        </p:spPr>
        <p:txBody>
          <a:bodyPr wrap="square" lIns="0" rIns="0" anchor="t">
            <a:spAutoFit/>
          </a:bodyPr>
          <a:lstStyle/>
          <a:p>
            <a:pPr algn="l"/>
            <a:r>
              <a:rPr sz="1600" b="1">
                <a:solidFill>
                  <a:srgbClr val="1A232E"/>
                </a:solidFill>
                <a:latin typeface="Plus Jakarta Sans"/>
              </a:rPr>
              <a:t>Résultats</a:t>
            </a:r>
          </a:p>
        </p:txBody>
      </p:sp>
      <p:sp>
        <p:nvSpPr>
          <p:cNvPr id="20" name="TextBox 19"/>
          <p:cNvSpPr txBox="1"/>
          <p:nvPr/>
        </p:nvSpPr>
        <p:spPr>
          <a:xfrm>
            <a:off x="7040880" y="3520440"/>
            <a:ext cx="4937760" cy="365760"/>
          </a:xfrm>
          <a:prstGeom prst="rect">
            <a:avLst/>
          </a:prstGeom>
          <a:noFill/>
        </p:spPr>
        <p:txBody>
          <a:bodyPr wrap="square" lIns="0" rIns="0" anchor="t">
            <a:spAutoFit/>
          </a:bodyPr>
          <a:lstStyle/>
          <a:p>
            <a:pPr algn="l"/>
            <a:r>
              <a:rPr sz="1000" b="0">
                <a:solidFill>
                  <a:srgbClr val="4A4A4A"/>
                </a:solidFill>
                <a:latin typeface="Inter"/>
              </a:rPr>
              <a:t>F1, ROC-AUC, comparaison écoresponsable</a:t>
            </a:r>
          </a:p>
        </p:txBody>
      </p:sp>
      <p:sp>
        <p:nvSpPr>
          <p:cNvPr id="21" name="Rectangle 20"/>
          <p:cNvSpPr/>
          <p:nvPr/>
        </p:nvSpPr>
        <p:spPr>
          <a:xfrm>
            <a:off x="7040880" y="3931920"/>
            <a:ext cx="4937760" cy="10972"/>
          </a:xfrm>
          <a:prstGeom prst="rect">
            <a:avLst/>
          </a:prstGeom>
          <a:solidFill>
            <a:srgbClr val="D0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4114800"/>
            <a:ext cx="548640" cy="457200"/>
          </a:xfrm>
          <a:prstGeom prst="rect">
            <a:avLst/>
          </a:prstGeom>
          <a:noFill/>
        </p:spPr>
        <p:txBody>
          <a:bodyPr wrap="square" lIns="0" rIns="0" anchor="t">
            <a:spAutoFit/>
          </a:bodyPr>
          <a:lstStyle/>
          <a:p>
            <a:pPr algn="l"/>
            <a:r>
              <a:rPr sz="2000" b="1">
                <a:solidFill>
                  <a:srgbClr val="B26835"/>
                </a:solidFill>
                <a:latin typeface="JetBrains Mono"/>
              </a:rPr>
              <a:t>05</a:t>
            </a:r>
          </a:p>
        </p:txBody>
      </p:sp>
      <p:sp>
        <p:nvSpPr>
          <p:cNvPr id="23" name="TextBox 22"/>
          <p:cNvSpPr txBox="1"/>
          <p:nvPr/>
        </p:nvSpPr>
        <p:spPr>
          <a:xfrm>
            <a:off x="1188719" y="4114800"/>
            <a:ext cx="4937760" cy="365760"/>
          </a:xfrm>
          <a:prstGeom prst="rect">
            <a:avLst/>
          </a:prstGeom>
          <a:noFill/>
        </p:spPr>
        <p:txBody>
          <a:bodyPr wrap="square" lIns="0" rIns="0" anchor="t">
            <a:spAutoFit/>
          </a:bodyPr>
          <a:lstStyle/>
          <a:p>
            <a:pPr algn="l"/>
            <a:r>
              <a:rPr sz="1600" b="1">
                <a:solidFill>
                  <a:srgbClr val="1A232E"/>
                </a:solidFill>
                <a:latin typeface="Plus Jakarta Sans"/>
              </a:rPr>
              <a:t>Interprétabilité</a:t>
            </a:r>
          </a:p>
        </p:txBody>
      </p:sp>
      <p:sp>
        <p:nvSpPr>
          <p:cNvPr id="24" name="TextBox 23"/>
          <p:cNvSpPr txBox="1"/>
          <p:nvPr/>
        </p:nvSpPr>
        <p:spPr>
          <a:xfrm>
            <a:off x="1188719" y="4480560"/>
            <a:ext cx="4937760" cy="365760"/>
          </a:xfrm>
          <a:prstGeom prst="rect">
            <a:avLst/>
          </a:prstGeom>
          <a:noFill/>
        </p:spPr>
        <p:txBody>
          <a:bodyPr wrap="square" lIns="0" rIns="0" anchor="t">
            <a:spAutoFit/>
          </a:bodyPr>
          <a:lstStyle/>
          <a:p>
            <a:pPr algn="l"/>
            <a:r>
              <a:rPr sz="1000" b="0">
                <a:solidFill>
                  <a:srgbClr val="4A4A4A"/>
                </a:solidFill>
                <a:latin typeface="Inter"/>
              </a:rPr>
              <a:t>feature importance, permutation, SHAP</a:t>
            </a:r>
          </a:p>
        </p:txBody>
      </p:sp>
      <p:sp>
        <p:nvSpPr>
          <p:cNvPr id="25" name="Rectangle 24"/>
          <p:cNvSpPr/>
          <p:nvPr/>
        </p:nvSpPr>
        <p:spPr>
          <a:xfrm>
            <a:off x="1188719" y="4892040"/>
            <a:ext cx="4937760" cy="10972"/>
          </a:xfrm>
          <a:prstGeom prst="rect">
            <a:avLst/>
          </a:prstGeom>
          <a:solidFill>
            <a:srgbClr val="D0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0" y="4114800"/>
            <a:ext cx="548640" cy="457200"/>
          </a:xfrm>
          <a:prstGeom prst="rect">
            <a:avLst/>
          </a:prstGeom>
          <a:noFill/>
        </p:spPr>
        <p:txBody>
          <a:bodyPr wrap="square" lIns="0" rIns="0" anchor="t">
            <a:spAutoFit/>
          </a:bodyPr>
          <a:lstStyle/>
          <a:p>
            <a:pPr algn="l"/>
            <a:r>
              <a:rPr sz="2000" b="1">
                <a:solidFill>
                  <a:srgbClr val="B26835"/>
                </a:solidFill>
                <a:latin typeface="JetBrains Mono"/>
              </a:rPr>
              <a:t>06</a:t>
            </a:r>
          </a:p>
        </p:txBody>
      </p:sp>
      <p:sp>
        <p:nvSpPr>
          <p:cNvPr id="27" name="TextBox 26"/>
          <p:cNvSpPr txBox="1"/>
          <p:nvPr/>
        </p:nvSpPr>
        <p:spPr>
          <a:xfrm>
            <a:off x="7040880" y="4114800"/>
            <a:ext cx="4937760" cy="365760"/>
          </a:xfrm>
          <a:prstGeom prst="rect">
            <a:avLst/>
          </a:prstGeom>
          <a:noFill/>
        </p:spPr>
        <p:txBody>
          <a:bodyPr wrap="square" lIns="0" rIns="0" anchor="t">
            <a:spAutoFit/>
          </a:bodyPr>
          <a:lstStyle/>
          <a:p>
            <a:pPr algn="l"/>
            <a:r>
              <a:rPr sz="1600" b="1">
                <a:solidFill>
                  <a:srgbClr val="1A232E"/>
                </a:solidFill>
                <a:latin typeface="Plus Jakarta Sans"/>
              </a:rPr>
              <a:t>Mise en prod</a:t>
            </a:r>
          </a:p>
        </p:txBody>
      </p:sp>
      <p:sp>
        <p:nvSpPr>
          <p:cNvPr id="28" name="TextBox 27"/>
          <p:cNvSpPr txBox="1"/>
          <p:nvPr/>
        </p:nvSpPr>
        <p:spPr>
          <a:xfrm>
            <a:off x="7040880" y="4480560"/>
            <a:ext cx="4937760" cy="365760"/>
          </a:xfrm>
          <a:prstGeom prst="rect">
            <a:avLst/>
          </a:prstGeom>
          <a:noFill/>
        </p:spPr>
        <p:txBody>
          <a:bodyPr wrap="square" lIns="0" rIns="0" anchor="t">
            <a:spAutoFit/>
          </a:bodyPr>
          <a:lstStyle/>
          <a:p>
            <a:pPr algn="l"/>
            <a:r>
              <a:rPr sz="1000" b="0">
                <a:solidFill>
                  <a:srgbClr val="4A4A4A"/>
                </a:solidFill>
                <a:latin typeface="Inter"/>
              </a:rPr>
              <a:t>dashboard métier + API d'inférence</a:t>
            </a:r>
          </a:p>
        </p:txBody>
      </p:sp>
      <p:sp>
        <p:nvSpPr>
          <p:cNvPr id="29" name="Rectangle 28"/>
          <p:cNvSpPr/>
          <p:nvPr/>
        </p:nvSpPr>
        <p:spPr>
          <a:xfrm>
            <a:off x="7040880" y="4892040"/>
            <a:ext cx="4937760" cy="10972"/>
          </a:xfrm>
          <a:prstGeom prst="rect">
            <a:avLst/>
          </a:prstGeom>
          <a:solidFill>
            <a:srgbClr val="D0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5074920"/>
            <a:ext cx="548640" cy="457200"/>
          </a:xfrm>
          <a:prstGeom prst="rect">
            <a:avLst/>
          </a:prstGeom>
          <a:noFill/>
        </p:spPr>
        <p:txBody>
          <a:bodyPr wrap="square" lIns="0" rIns="0" anchor="t">
            <a:spAutoFit/>
          </a:bodyPr>
          <a:lstStyle/>
          <a:p>
            <a:pPr algn="l"/>
            <a:r>
              <a:rPr sz="2000" b="1">
                <a:solidFill>
                  <a:srgbClr val="B26835"/>
                </a:solidFill>
                <a:latin typeface="JetBrains Mono"/>
              </a:rPr>
              <a:t>07</a:t>
            </a:r>
          </a:p>
        </p:txBody>
      </p:sp>
      <p:sp>
        <p:nvSpPr>
          <p:cNvPr id="31" name="TextBox 30"/>
          <p:cNvSpPr txBox="1"/>
          <p:nvPr/>
        </p:nvSpPr>
        <p:spPr>
          <a:xfrm>
            <a:off x="1188719" y="5074920"/>
            <a:ext cx="4937760" cy="365760"/>
          </a:xfrm>
          <a:prstGeom prst="rect">
            <a:avLst/>
          </a:prstGeom>
          <a:noFill/>
        </p:spPr>
        <p:txBody>
          <a:bodyPr wrap="square" lIns="0" rIns="0" anchor="t">
            <a:spAutoFit/>
          </a:bodyPr>
          <a:lstStyle/>
          <a:p>
            <a:pPr algn="l"/>
            <a:r>
              <a:rPr sz="1600" b="1">
                <a:solidFill>
                  <a:srgbClr val="1A232E"/>
                </a:solidFill>
                <a:latin typeface="Plus Jakarta Sans"/>
              </a:rPr>
              <a:t>Bonus</a:t>
            </a:r>
          </a:p>
        </p:txBody>
      </p:sp>
      <p:sp>
        <p:nvSpPr>
          <p:cNvPr id="32" name="TextBox 31"/>
          <p:cNvSpPr txBox="1"/>
          <p:nvPr/>
        </p:nvSpPr>
        <p:spPr>
          <a:xfrm>
            <a:off x="1188719" y="5440680"/>
            <a:ext cx="4937760" cy="365760"/>
          </a:xfrm>
          <a:prstGeom prst="rect">
            <a:avLst/>
          </a:prstGeom>
          <a:noFill/>
        </p:spPr>
        <p:txBody>
          <a:bodyPr wrap="square" lIns="0" rIns="0" anchor="t">
            <a:spAutoFit/>
          </a:bodyPr>
          <a:lstStyle/>
          <a:p>
            <a:pPr algn="l"/>
            <a:r>
              <a:rPr sz="1000" b="0">
                <a:solidFill>
                  <a:srgbClr val="4A4A4A"/>
                </a:solidFill>
                <a:latin typeface="Inter"/>
              </a:rPr>
              <a:t>multi-classe, régression RUL, calibration</a:t>
            </a:r>
          </a:p>
        </p:txBody>
      </p:sp>
      <p:sp>
        <p:nvSpPr>
          <p:cNvPr id="33" name="Rectangle 32"/>
          <p:cNvSpPr/>
          <p:nvPr/>
        </p:nvSpPr>
        <p:spPr>
          <a:xfrm>
            <a:off x="1188719" y="5852160"/>
            <a:ext cx="4937760" cy="10972"/>
          </a:xfrm>
          <a:prstGeom prst="rect">
            <a:avLst/>
          </a:prstGeom>
          <a:solidFill>
            <a:srgbClr val="D0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0" y="5074920"/>
            <a:ext cx="548640" cy="457200"/>
          </a:xfrm>
          <a:prstGeom prst="rect">
            <a:avLst/>
          </a:prstGeom>
          <a:noFill/>
        </p:spPr>
        <p:txBody>
          <a:bodyPr wrap="square" lIns="0" rIns="0" anchor="t">
            <a:spAutoFit/>
          </a:bodyPr>
          <a:lstStyle/>
          <a:p>
            <a:pPr algn="l"/>
            <a:r>
              <a:rPr sz="2000" b="1">
                <a:solidFill>
                  <a:srgbClr val="B26835"/>
                </a:solidFill>
                <a:latin typeface="JetBrains Mono"/>
              </a:rPr>
              <a:t>08</a:t>
            </a:r>
          </a:p>
        </p:txBody>
      </p:sp>
      <p:sp>
        <p:nvSpPr>
          <p:cNvPr id="35" name="TextBox 34"/>
          <p:cNvSpPr txBox="1"/>
          <p:nvPr/>
        </p:nvSpPr>
        <p:spPr>
          <a:xfrm>
            <a:off x="7040880" y="5074920"/>
            <a:ext cx="4937760" cy="365760"/>
          </a:xfrm>
          <a:prstGeom prst="rect">
            <a:avLst/>
          </a:prstGeom>
          <a:noFill/>
        </p:spPr>
        <p:txBody>
          <a:bodyPr wrap="square" lIns="0" rIns="0" anchor="t">
            <a:spAutoFit/>
          </a:bodyPr>
          <a:lstStyle/>
          <a:p>
            <a:pPr algn="l"/>
            <a:r>
              <a:rPr sz="1600" b="1">
                <a:solidFill>
                  <a:srgbClr val="1A232E"/>
                </a:solidFill>
                <a:latin typeface="Plus Jakarta Sans"/>
              </a:rPr>
              <a:t>Synthèse &amp; limites</a:t>
            </a:r>
          </a:p>
        </p:txBody>
      </p:sp>
      <p:sp>
        <p:nvSpPr>
          <p:cNvPr id="36" name="TextBox 35"/>
          <p:cNvSpPr txBox="1"/>
          <p:nvPr/>
        </p:nvSpPr>
        <p:spPr>
          <a:xfrm>
            <a:off x="7040880" y="5440680"/>
            <a:ext cx="4937760" cy="365760"/>
          </a:xfrm>
          <a:prstGeom prst="rect">
            <a:avLst/>
          </a:prstGeom>
          <a:noFill/>
        </p:spPr>
        <p:txBody>
          <a:bodyPr wrap="square" lIns="0" rIns="0" anchor="t">
            <a:spAutoFit/>
          </a:bodyPr>
          <a:lstStyle/>
          <a:p>
            <a:pPr algn="l"/>
            <a:r>
              <a:rPr sz="1000" b="0">
                <a:solidFill>
                  <a:srgbClr val="4A4A4A"/>
                </a:solidFill>
                <a:latin typeface="Inter"/>
              </a:rPr>
              <a:t>ce qui marche, ce qui reste à faire</a:t>
            </a:r>
          </a:p>
        </p:txBody>
      </p:sp>
      <p:sp>
        <p:nvSpPr>
          <p:cNvPr id="37" name="Rectangle 36"/>
          <p:cNvSpPr/>
          <p:nvPr/>
        </p:nvSpPr>
        <p:spPr>
          <a:xfrm>
            <a:off x="7040880" y="5852160"/>
            <a:ext cx="4937760" cy="10972"/>
          </a:xfrm>
          <a:prstGeom prst="rect">
            <a:avLst/>
          </a:prstGeom>
          <a:solidFill>
            <a:srgbClr val="D0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48640" cy="365760"/>
          </a:xfrm>
          <a:prstGeom prst="rect">
            <a:avLst/>
          </a:prstGeom>
          <a:noFill/>
        </p:spPr>
        <p:txBody>
          <a:bodyPr wrap="square" lIns="0" rIns="0" anchor="t">
            <a:spAutoFit/>
          </a:bodyPr>
          <a:lstStyle/>
          <a:p>
            <a:pPr algn="l"/>
            <a:r>
              <a:rPr sz="1200" b="1">
                <a:solidFill>
                  <a:srgbClr val="B26835"/>
                </a:solidFill>
                <a:latin typeface="JetBrains Mono"/>
              </a:rPr>
              <a:t>01</a:t>
            </a:r>
          </a:p>
        </p:txBody>
      </p:sp>
      <p:sp>
        <p:nvSpPr>
          <p:cNvPr id="4" name="TextBox 3"/>
          <p:cNvSpPr txBox="1"/>
          <p:nvPr/>
        </p:nvSpPr>
        <p:spPr>
          <a:xfrm>
            <a:off x="1051560" y="502920"/>
            <a:ext cx="7315200" cy="365760"/>
          </a:xfrm>
          <a:prstGeom prst="rect">
            <a:avLst/>
          </a:prstGeom>
          <a:noFill/>
        </p:spPr>
        <p:txBody>
          <a:bodyPr wrap="square" lIns="0" rIns="0" anchor="t">
            <a:spAutoFit/>
          </a:bodyPr>
          <a:lstStyle/>
          <a:p>
            <a:pPr algn="l"/>
            <a:r>
              <a:rPr sz="1200" b="1">
                <a:solidFill>
                  <a:srgbClr val="37474F"/>
                </a:solidFill>
                <a:latin typeface="Plus Jakarta Sans"/>
              </a:rPr>
              <a:t>CONTEXTE MÉTIER</a:t>
            </a:r>
          </a:p>
        </p:txBody>
      </p:sp>
      <p:sp>
        <p:nvSpPr>
          <p:cNvPr id="5" name="TextBox 4"/>
          <p:cNvSpPr txBox="1"/>
          <p:nvPr/>
        </p:nvSpPr>
        <p:spPr>
          <a:xfrm>
            <a:off x="548640" y="914400"/>
            <a:ext cx="10972800" cy="914400"/>
          </a:xfrm>
          <a:prstGeom prst="rect">
            <a:avLst/>
          </a:prstGeom>
          <a:noFill/>
        </p:spPr>
        <p:txBody>
          <a:bodyPr wrap="square" lIns="0" rIns="0" anchor="t">
            <a:spAutoFit/>
          </a:bodyPr>
          <a:lstStyle/>
          <a:p>
            <a:pPr algn="l"/>
            <a:r>
              <a:rPr sz="4000" b="1">
                <a:solidFill>
                  <a:srgbClr val="1A232E"/>
                </a:solidFill>
                <a:latin typeface="Plus Jakarta Sans"/>
              </a:rPr>
              <a:t>Pourquoi prédire les pannes ?</a:t>
            </a:r>
          </a:p>
        </p:txBody>
      </p:sp>
      <p:sp>
        <p:nvSpPr>
          <p:cNvPr id="6" name="TextBox 5"/>
          <p:cNvSpPr txBox="1"/>
          <p:nvPr/>
        </p:nvSpPr>
        <p:spPr>
          <a:xfrm>
            <a:off x="548640" y="2194560"/>
            <a:ext cx="2194560" cy="822960"/>
          </a:xfrm>
          <a:prstGeom prst="rect">
            <a:avLst/>
          </a:prstGeom>
          <a:noFill/>
        </p:spPr>
        <p:txBody>
          <a:bodyPr wrap="square" lIns="0" rIns="0" anchor="t">
            <a:spAutoFit/>
          </a:bodyPr>
          <a:lstStyle/>
          <a:p>
            <a:pPr algn="l"/>
            <a:r>
              <a:rPr sz="4400" b="1">
                <a:solidFill>
                  <a:srgbClr val="E53935"/>
                </a:solidFill>
                <a:latin typeface="JetBrains Mono"/>
              </a:rPr>
              <a:t>5 000 €</a:t>
            </a:r>
          </a:p>
        </p:txBody>
      </p:sp>
      <p:sp>
        <p:nvSpPr>
          <p:cNvPr id="7" name="TextBox 6"/>
          <p:cNvSpPr txBox="1"/>
          <p:nvPr/>
        </p:nvSpPr>
        <p:spPr>
          <a:xfrm>
            <a:off x="548640" y="2971800"/>
            <a:ext cx="2194560" cy="365760"/>
          </a:xfrm>
          <a:prstGeom prst="rect">
            <a:avLst/>
          </a:prstGeom>
          <a:noFill/>
        </p:spPr>
        <p:txBody>
          <a:bodyPr wrap="square" lIns="0" rIns="0" anchor="t">
            <a:spAutoFit/>
          </a:bodyPr>
          <a:lstStyle/>
          <a:p>
            <a:pPr algn="l"/>
            <a:r>
              <a:rPr sz="1100" b="0">
                <a:solidFill>
                  <a:srgbClr val="4A4A4A"/>
                </a:solidFill>
                <a:latin typeface="Inter"/>
              </a:rPr>
              <a:t>coût d'un arrêt non planifié</a:t>
            </a:r>
          </a:p>
        </p:txBody>
      </p:sp>
      <p:sp>
        <p:nvSpPr>
          <p:cNvPr id="8" name="TextBox 7"/>
          <p:cNvSpPr txBox="1"/>
          <p:nvPr/>
        </p:nvSpPr>
        <p:spPr>
          <a:xfrm>
            <a:off x="548640" y="3566160"/>
            <a:ext cx="2194560" cy="822960"/>
          </a:xfrm>
          <a:prstGeom prst="rect">
            <a:avLst/>
          </a:prstGeom>
          <a:noFill/>
        </p:spPr>
        <p:txBody>
          <a:bodyPr wrap="square" lIns="0" rIns="0" anchor="t">
            <a:spAutoFit/>
          </a:bodyPr>
          <a:lstStyle/>
          <a:p>
            <a:pPr algn="l"/>
            <a:r>
              <a:rPr sz="4400" b="1">
                <a:solidFill>
                  <a:srgbClr val="2E7D32"/>
                </a:solidFill>
                <a:latin typeface="JetBrains Mono"/>
              </a:rPr>
              <a:t>200 €</a:t>
            </a:r>
          </a:p>
        </p:txBody>
      </p:sp>
      <p:sp>
        <p:nvSpPr>
          <p:cNvPr id="9" name="TextBox 8"/>
          <p:cNvSpPr txBox="1"/>
          <p:nvPr/>
        </p:nvSpPr>
        <p:spPr>
          <a:xfrm>
            <a:off x="548640" y="4343400"/>
            <a:ext cx="2194560" cy="365760"/>
          </a:xfrm>
          <a:prstGeom prst="rect">
            <a:avLst/>
          </a:prstGeom>
          <a:noFill/>
        </p:spPr>
        <p:txBody>
          <a:bodyPr wrap="square" lIns="0" rIns="0" anchor="t">
            <a:spAutoFit/>
          </a:bodyPr>
          <a:lstStyle/>
          <a:p>
            <a:pPr algn="l"/>
            <a:r>
              <a:rPr sz="1100" b="0">
                <a:solidFill>
                  <a:srgbClr val="4A4A4A"/>
                </a:solidFill>
                <a:latin typeface="Inter"/>
              </a:rPr>
              <a:t>coût d'une intervention préventive</a:t>
            </a:r>
          </a:p>
        </p:txBody>
      </p:sp>
      <p:sp>
        <p:nvSpPr>
          <p:cNvPr id="10" name="TextBox 9"/>
          <p:cNvSpPr txBox="1"/>
          <p:nvPr/>
        </p:nvSpPr>
        <p:spPr>
          <a:xfrm>
            <a:off x="548640" y="4937760"/>
            <a:ext cx="2194560" cy="822960"/>
          </a:xfrm>
          <a:prstGeom prst="rect">
            <a:avLst/>
          </a:prstGeom>
          <a:noFill/>
        </p:spPr>
        <p:txBody>
          <a:bodyPr wrap="square" lIns="0" rIns="0" anchor="t">
            <a:spAutoFit/>
          </a:bodyPr>
          <a:lstStyle/>
          <a:p>
            <a:pPr algn="l"/>
            <a:r>
              <a:rPr sz="4400" b="1">
                <a:solidFill>
                  <a:srgbClr val="B26835"/>
                </a:solidFill>
                <a:latin typeface="JetBrains Mono"/>
              </a:rPr>
              <a:t>10×</a:t>
            </a:r>
          </a:p>
        </p:txBody>
      </p:sp>
      <p:sp>
        <p:nvSpPr>
          <p:cNvPr id="11" name="TextBox 10"/>
          <p:cNvSpPr txBox="1"/>
          <p:nvPr/>
        </p:nvSpPr>
        <p:spPr>
          <a:xfrm>
            <a:off x="548640" y="5715000"/>
            <a:ext cx="2194560" cy="365760"/>
          </a:xfrm>
          <a:prstGeom prst="rect">
            <a:avLst/>
          </a:prstGeom>
          <a:noFill/>
        </p:spPr>
        <p:txBody>
          <a:bodyPr wrap="square" lIns="0" rIns="0" anchor="t">
            <a:spAutoFit/>
          </a:bodyPr>
          <a:lstStyle/>
          <a:p>
            <a:pPr algn="l"/>
            <a:r>
              <a:rPr sz="1100" b="0">
                <a:solidFill>
                  <a:srgbClr val="4A4A4A"/>
                </a:solidFill>
                <a:latin typeface="Inter"/>
              </a:rPr>
              <a:t>ratio pertes évitées / surcoût alertes</a:t>
            </a:r>
          </a:p>
        </p:txBody>
      </p:sp>
      <p:sp>
        <p:nvSpPr>
          <p:cNvPr id="12" name="Rectangle 11"/>
          <p:cNvSpPr/>
          <p:nvPr/>
        </p:nvSpPr>
        <p:spPr>
          <a:xfrm>
            <a:off x="5029200" y="2194560"/>
            <a:ext cx="6675120" cy="4114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0" y="2377440"/>
            <a:ext cx="6400800" cy="365760"/>
          </a:xfrm>
          <a:prstGeom prst="rect">
            <a:avLst/>
          </a:prstGeom>
          <a:noFill/>
        </p:spPr>
        <p:txBody>
          <a:bodyPr wrap="square" lIns="0" rIns="0" anchor="t">
            <a:spAutoFit/>
          </a:bodyPr>
          <a:lstStyle/>
          <a:p>
            <a:pPr algn="l"/>
            <a:r>
              <a:rPr sz="1100" b="1">
                <a:solidFill>
                  <a:srgbClr val="B26835"/>
                </a:solidFill>
                <a:latin typeface="JetBrains Mono"/>
              </a:rPr>
              <a:t>DE LA RÉACTION À L'ANTICIPATION</a:t>
            </a:r>
          </a:p>
        </p:txBody>
      </p:sp>
      <p:sp>
        <p:nvSpPr>
          <p:cNvPr id="14" name="TextBox 13"/>
          <p:cNvSpPr txBox="1"/>
          <p:nvPr/>
        </p:nvSpPr>
        <p:spPr>
          <a:xfrm>
            <a:off x="5303520" y="2834640"/>
            <a:ext cx="6309360" cy="3383280"/>
          </a:xfrm>
          <a:prstGeom prst="rect">
            <a:avLst/>
          </a:prstGeom>
          <a:noFill/>
        </p:spPr>
        <p:txBody>
          <a:bodyPr wrap="square" lIns="0" rIns="0" anchor="t">
            <a:spAutoFit/>
          </a:bodyPr>
          <a:lstStyle/>
          <a:p>
            <a:pPr algn="l"/>
            <a:r>
              <a:rPr sz="1400" b="0">
                <a:solidFill>
                  <a:srgbClr val="1A1A1A"/>
                </a:solidFill>
                <a:latin typeface="Inter"/>
              </a:rPr>
              <a:t>La maintenance corrective réagit après la panne · arrêt machine, production perdue, équipe d'urgence appelée hors planning. La maintenance préventive réduit ce risque mais sur-entretient les machines saines, gaspillant ressources et durée de vie utile.
La maintenance PRÉDICTIVE intercepte la dégradation avant la rupture en exploitant les signaux capteurs (vibration, température, pression, courant). Le modèle apprend les signatures précurseurs et déclenche une alerte ciblée.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48640" cy="365760"/>
          </a:xfrm>
          <a:prstGeom prst="rect">
            <a:avLst/>
          </a:prstGeom>
          <a:noFill/>
        </p:spPr>
        <p:txBody>
          <a:bodyPr wrap="square" lIns="0" rIns="0" anchor="t">
            <a:spAutoFit/>
          </a:bodyPr>
          <a:lstStyle/>
          <a:p>
            <a:pPr algn="l"/>
            <a:r>
              <a:rPr sz="1200" b="1">
                <a:solidFill>
                  <a:srgbClr val="B26835"/>
                </a:solidFill>
                <a:latin typeface="JetBrains Mono"/>
              </a:rPr>
              <a:t>02</a:t>
            </a:r>
          </a:p>
        </p:txBody>
      </p:sp>
      <p:sp>
        <p:nvSpPr>
          <p:cNvPr id="4" name="TextBox 3"/>
          <p:cNvSpPr txBox="1"/>
          <p:nvPr/>
        </p:nvSpPr>
        <p:spPr>
          <a:xfrm>
            <a:off x="1051560" y="502920"/>
            <a:ext cx="7315200" cy="365760"/>
          </a:xfrm>
          <a:prstGeom prst="rect">
            <a:avLst/>
          </a:prstGeom>
          <a:noFill/>
        </p:spPr>
        <p:txBody>
          <a:bodyPr wrap="square" lIns="0" rIns="0" anchor="t">
            <a:spAutoFit/>
          </a:bodyPr>
          <a:lstStyle/>
          <a:p>
            <a:pPr algn="l"/>
            <a:r>
              <a:rPr sz="1200" b="1">
                <a:solidFill>
                  <a:srgbClr val="37474F"/>
                </a:solidFill>
                <a:latin typeface="Plus Jakarta Sans"/>
              </a:rPr>
              <a:t>DONNÉES CAPTEURS</a:t>
            </a:r>
          </a:p>
        </p:txBody>
      </p:sp>
      <p:sp>
        <p:nvSpPr>
          <p:cNvPr id="5" name="TextBox 4"/>
          <p:cNvSpPr txBox="1"/>
          <p:nvPr/>
        </p:nvSpPr>
        <p:spPr>
          <a:xfrm>
            <a:off x="548640" y="914400"/>
            <a:ext cx="10972800" cy="914400"/>
          </a:xfrm>
          <a:prstGeom prst="rect">
            <a:avLst/>
          </a:prstGeom>
          <a:noFill/>
        </p:spPr>
        <p:txBody>
          <a:bodyPr wrap="square" lIns="0" rIns="0" anchor="t">
            <a:spAutoFit/>
          </a:bodyPr>
          <a:lstStyle/>
          <a:p>
            <a:pPr algn="l"/>
            <a:r>
              <a:rPr sz="4000" b="1">
                <a:solidFill>
                  <a:srgbClr val="1A232E"/>
                </a:solidFill>
                <a:latin typeface="Plus Jakarta Sans"/>
              </a:rPr>
              <a:t>Dataset Kaggle officiel</a:t>
            </a:r>
          </a:p>
        </p:txBody>
      </p:sp>
      <p:sp>
        <p:nvSpPr>
          <p:cNvPr id="6" name="TextBox 5"/>
          <p:cNvSpPr txBox="1"/>
          <p:nvPr/>
        </p:nvSpPr>
        <p:spPr>
          <a:xfrm>
            <a:off x="548640" y="1691640"/>
            <a:ext cx="10972800" cy="365760"/>
          </a:xfrm>
          <a:prstGeom prst="rect">
            <a:avLst/>
          </a:prstGeom>
          <a:noFill/>
        </p:spPr>
        <p:txBody>
          <a:bodyPr wrap="square" lIns="0" rIns="0" anchor="t">
            <a:spAutoFit/>
          </a:bodyPr>
          <a:lstStyle/>
          <a:p>
            <a:pPr algn="l"/>
            <a:r>
              <a:rPr sz="1200" b="0">
                <a:solidFill>
                  <a:srgbClr val="4A4A4A"/>
                </a:solidFill>
                <a:latin typeface="JetBrains Mono"/>
              </a:rPr>
              <a:t>tatheerabbas/industrial-machine-predictive-maintenance · CC0 public domain</a:t>
            </a:r>
          </a:p>
        </p:txBody>
      </p:sp>
      <p:sp>
        <p:nvSpPr>
          <p:cNvPr id="7" name="TextBox 6"/>
          <p:cNvSpPr txBox="1"/>
          <p:nvPr/>
        </p:nvSpPr>
        <p:spPr>
          <a:xfrm>
            <a:off x="548640" y="2377440"/>
            <a:ext cx="2194560" cy="822960"/>
          </a:xfrm>
          <a:prstGeom prst="rect">
            <a:avLst/>
          </a:prstGeom>
          <a:noFill/>
        </p:spPr>
        <p:txBody>
          <a:bodyPr wrap="square" lIns="0" rIns="0" anchor="t">
            <a:spAutoFit/>
          </a:bodyPr>
          <a:lstStyle/>
          <a:p>
            <a:pPr algn="l"/>
            <a:r>
              <a:rPr sz="4400" b="1">
                <a:solidFill>
                  <a:srgbClr val="B26835"/>
                </a:solidFill>
                <a:latin typeface="JetBrains Mono"/>
              </a:rPr>
              <a:t>24 042</a:t>
            </a:r>
          </a:p>
        </p:txBody>
      </p:sp>
      <p:sp>
        <p:nvSpPr>
          <p:cNvPr id="8" name="TextBox 7"/>
          <p:cNvSpPr txBox="1"/>
          <p:nvPr/>
        </p:nvSpPr>
        <p:spPr>
          <a:xfrm>
            <a:off x="548640" y="3154680"/>
            <a:ext cx="2194560" cy="365760"/>
          </a:xfrm>
          <a:prstGeom prst="rect">
            <a:avLst/>
          </a:prstGeom>
          <a:noFill/>
        </p:spPr>
        <p:txBody>
          <a:bodyPr wrap="square" lIns="0" rIns="0" anchor="t">
            <a:spAutoFit/>
          </a:bodyPr>
          <a:lstStyle/>
          <a:p>
            <a:pPr algn="l"/>
            <a:r>
              <a:rPr sz="1100" b="0">
                <a:solidFill>
                  <a:srgbClr val="4A4A4A"/>
                </a:solidFill>
                <a:latin typeface="Inter"/>
              </a:rPr>
              <a:t>lignes · une mesure par heure</a:t>
            </a:r>
          </a:p>
        </p:txBody>
      </p:sp>
      <p:sp>
        <p:nvSpPr>
          <p:cNvPr id="9" name="TextBox 8"/>
          <p:cNvSpPr txBox="1"/>
          <p:nvPr/>
        </p:nvSpPr>
        <p:spPr>
          <a:xfrm>
            <a:off x="3291840" y="2377440"/>
            <a:ext cx="2194560" cy="822960"/>
          </a:xfrm>
          <a:prstGeom prst="rect">
            <a:avLst/>
          </a:prstGeom>
          <a:noFill/>
        </p:spPr>
        <p:txBody>
          <a:bodyPr wrap="square" lIns="0" rIns="0" anchor="t">
            <a:spAutoFit/>
          </a:bodyPr>
          <a:lstStyle/>
          <a:p>
            <a:pPr algn="l"/>
            <a:r>
              <a:rPr sz="4400" b="1">
                <a:solidFill>
                  <a:srgbClr val="37474F"/>
                </a:solidFill>
                <a:latin typeface="JetBrains Mono"/>
              </a:rPr>
              <a:t>7</a:t>
            </a:r>
          </a:p>
        </p:txBody>
      </p:sp>
      <p:sp>
        <p:nvSpPr>
          <p:cNvPr id="10" name="TextBox 9"/>
          <p:cNvSpPr txBox="1"/>
          <p:nvPr/>
        </p:nvSpPr>
        <p:spPr>
          <a:xfrm>
            <a:off x="3291840" y="3154680"/>
            <a:ext cx="2194560" cy="365760"/>
          </a:xfrm>
          <a:prstGeom prst="rect">
            <a:avLst/>
          </a:prstGeom>
          <a:noFill/>
        </p:spPr>
        <p:txBody>
          <a:bodyPr wrap="square" lIns="0" rIns="0" anchor="t">
            <a:spAutoFit/>
          </a:bodyPr>
          <a:lstStyle/>
          <a:p>
            <a:pPr algn="l"/>
            <a:r>
              <a:rPr sz="1100" b="0">
                <a:solidFill>
                  <a:srgbClr val="4A4A4A"/>
                </a:solidFill>
                <a:latin typeface="Inter"/>
              </a:rPr>
              <a:t>capteurs numériques</a:t>
            </a:r>
          </a:p>
        </p:txBody>
      </p:sp>
      <p:sp>
        <p:nvSpPr>
          <p:cNvPr id="11" name="TextBox 10"/>
          <p:cNvSpPr txBox="1"/>
          <p:nvPr/>
        </p:nvSpPr>
        <p:spPr>
          <a:xfrm>
            <a:off x="5486400" y="2377440"/>
            <a:ext cx="2194560" cy="822960"/>
          </a:xfrm>
          <a:prstGeom prst="rect">
            <a:avLst/>
          </a:prstGeom>
          <a:noFill/>
        </p:spPr>
        <p:txBody>
          <a:bodyPr wrap="square" lIns="0" rIns="0" anchor="t">
            <a:spAutoFit/>
          </a:bodyPr>
          <a:lstStyle/>
          <a:p>
            <a:pPr algn="l"/>
            <a:r>
              <a:rPr sz="4400" b="1">
                <a:solidFill>
                  <a:srgbClr val="37474F"/>
                </a:solidFill>
                <a:latin typeface="JetBrains Mono"/>
              </a:rPr>
              <a:t>20</a:t>
            </a:r>
          </a:p>
        </p:txBody>
      </p:sp>
      <p:sp>
        <p:nvSpPr>
          <p:cNvPr id="12" name="TextBox 11"/>
          <p:cNvSpPr txBox="1"/>
          <p:nvPr/>
        </p:nvSpPr>
        <p:spPr>
          <a:xfrm>
            <a:off x="5486400" y="3154680"/>
            <a:ext cx="2194560" cy="365760"/>
          </a:xfrm>
          <a:prstGeom prst="rect">
            <a:avLst/>
          </a:prstGeom>
          <a:noFill/>
        </p:spPr>
        <p:txBody>
          <a:bodyPr wrap="square" lIns="0" rIns="0" anchor="t">
            <a:spAutoFit/>
          </a:bodyPr>
          <a:lstStyle/>
          <a:p>
            <a:pPr algn="l"/>
            <a:r>
              <a:rPr sz="1100" b="0">
                <a:solidFill>
                  <a:srgbClr val="4A4A4A"/>
                </a:solidFill>
                <a:latin typeface="Inter"/>
              </a:rPr>
              <a:t>machines suivies</a:t>
            </a:r>
          </a:p>
        </p:txBody>
      </p:sp>
      <p:sp>
        <p:nvSpPr>
          <p:cNvPr id="13" name="TextBox 12"/>
          <p:cNvSpPr txBox="1"/>
          <p:nvPr/>
        </p:nvSpPr>
        <p:spPr>
          <a:xfrm>
            <a:off x="7863840" y="2377440"/>
            <a:ext cx="2194560" cy="822960"/>
          </a:xfrm>
          <a:prstGeom prst="rect">
            <a:avLst/>
          </a:prstGeom>
          <a:noFill/>
        </p:spPr>
        <p:txBody>
          <a:bodyPr wrap="square" lIns="0" rIns="0" anchor="t">
            <a:spAutoFit/>
          </a:bodyPr>
          <a:lstStyle/>
          <a:p>
            <a:pPr algn="l"/>
            <a:r>
              <a:rPr sz="4400" b="1">
                <a:solidFill>
                  <a:srgbClr val="E53935"/>
                </a:solidFill>
                <a:latin typeface="JetBrains Mono"/>
              </a:rPr>
              <a:t>5</a:t>
            </a:r>
          </a:p>
        </p:txBody>
      </p:sp>
      <p:sp>
        <p:nvSpPr>
          <p:cNvPr id="14" name="TextBox 13"/>
          <p:cNvSpPr txBox="1"/>
          <p:nvPr/>
        </p:nvSpPr>
        <p:spPr>
          <a:xfrm>
            <a:off x="7863840" y="3154680"/>
            <a:ext cx="2194560" cy="365760"/>
          </a:xfrm>
          <a:prstGeom prst="rect">
            <a:avLst/>
          </a:prstGeom>
          <a:noFill/>
        </p:spPr>
        <p:txBody>
          <a:bodyPr wrap="square" lIns="0" rIns="0" anchor="t">
            <a:spAutoFit/>
          </a:bodyPr>
          <a:lstStyle/>
          <a:p>
            <a:pPr algn="l"/>
            <a:r>
              <a:rPr sz="1100" b="0">
                <a:solidFill>
                  <a:srgbClr val="4A4A4A"/>
                </a:solidFill>
                <a:latin typeface="Inter"/>
              </a:rPr>
              <a:t>types de panne distincts</a:t>
            </a:r>
          </a:p>
        </p:txBody>
      </p:sp>
      <p:sp>
        <p:nvSpPr>
          <p:cNvPr id="15" name="Rectangle 14"/>
          <p:cNvSpPr/>
          <p:nvPr/>
        </p:nvSpPr>
        <p:spPr>
          <a:xfrm>
            <a:off x="548640" y="3931920"/>
            <a:ext cx="5486400" cy="2560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069080"/>
            <a:ext cx="5120640" cy="365760"/>
          </a:xfrm>
          <a:prstGeom prst="rect">
            <a:avLst/>
          </a:prstGeom>
          <a:noFill/>
        </p:spPr>
        <p:txBody>
          <a:bodyPr wrap="square" lIns="0" rIns="0" anchor="t">
            <a:spAutoFit/>
          </a:bodyPr>
          <a:lstStyle/>
          <a:p>
            <a:pPr algn="l"/>
            <a:r>
              <a:rPr sz="1100" b="1">
                <a:solidFill>
                  <a:srgbClr val="B26835"/>
                </a:solidFill>
                <a:latin typeface="JetBrains Mono"/>
              </a:rPr>
              <a:t>CAPTEURS PHYSIQUES</a:t>
            </a:r>
          </a:p>
        </p:txBody>
      </p:sp>
      <p:sp>
        <p:nvSpPr>
          <p:cNvPr id="17" name="TextBox 16"/>
          <p:cNvSpPr txBox="1"/>
          <p:nvPr/>
        </p:nvSpPr>
        <p:spPr>
          <a:xfrm>
            <a:off x="731520" y="4434840"/>
            <a:ext cx="2377440" cy="274320"/>
          </a:xfrm>
          <a:prstGeom prst="rect">
            <a:avLst/>
          </a:prstGeom>
          <a:noFill/>
        </p:spPr>
        <p:txBody>
          <a:bodyPr wrap="square" lIns="0" rIns="0" anchor="t">
            <a:spAutoFit/>
          </a:bodyPr>
          <a:lstStyle/>
          <a:p>
            <a:pPr algn="l"/>
            <a:r>
              <a:rPr sz="1100" b="1">
                <a:solidFill>
                  <a:srgbClr val="1A232E"/>
                </a:solidFill>
                <a:latin typeface="JetBrains Mono"/>
              </a:rPr>
              <a:t>vibration_rms</a:t>
            </a:r>
          </a:p>
        </p:txBody>
      </p:sp>
      <p:sp>
        <p:nvSpPr>
          <p:cNvPr id="18" name="TextBox 17"/>
          <p:cNvSpPr txBox="1"/>
          <p:nvPr/>
        </p:nvSpPr>
        <p:spPr>
          <a:xfrm>
            <a:off x="3200400" y="4434840"/>
            <a:ext cx="2743200" cy="274320"/>
          </a:xfrm>
          <a:prstGeom prst="rect">
            <a:avLst/>
          </a:prstGeom>
          <a:noFill/>
        </p:spPr>
        <p:txBody>
          <a:bodyPr wrap="square" lIns="0" rIns="0" anchor="t">
            <a:spAutoFit/>
          </a:bodyPr>
          <a:lstStyle/>
          <a:p>
            <a:pPr algn="l"/>
            <a:r>
              <a:rPr sz="1000" b="0">
                <a:solidFill>
                  <a:srgbClr val="4A4A4A"/>
                </a:solidFill>
                <a:latin typeface="Inter"/>
              </a:rPr>
              <a:t>mm/s · usure mécanique</a:t>
            </a:r>
          </a:p>
        </p:txBody>
      </p:sp>
      <p:sp>
        <p:nvSpPr>
          <p:cNvPr id="19" name="TextBox 18"/>
          <p:cNvSpPr txBox="1"/>
          <p:nvPr/>
        </p:nvSpPr>
        <p:spPr>
          <a:xfrm>
            <a:off x="731520" y="4727448"/>
            <a:ext cx="2377440" cy="274320"/>
          </a:xfrm>
          <a:prstGeom prst="rect">
            <a:avLst/>
          </a:prstGeom>
          <a:noFill/>
        </p:spPr>
        <p:txBody>
          <a:bodyPr wrap="square" lIns="0" rIns="0" anchor="t">
            <a:spAutoFit/>
          </a:bodyPr>
          <a:lstStyle/>
          <a:p>
            <a:pPr algn="l"/>
            <a:r>
              <a:rPr sz="1100" b="1">
                <a:solidFill>
                  <a:srgbClr val="1A232E"/>
                </a:solidFill>
                <a:latin typeface="JetBrains Mono"/>
              </a:rPr>
              <a:t>temperature_motor</a:t>
            </a:r>
          </a:p>
        </p:txBody>
      </p:sp>
      <p:sp>
        <p:nvSpPr>
          <p:cNvPr id="20" name="TextBox 19"/>
          <p:cNvSpPr txBox="1"/>
          <p:nvPr/>
        </p:nvSpPr>
        <p:spPr>
          <a:xfrm>
            <a:off x="3200400" y="4727448"/>
            <a:ext cx="2743200" cy="274320"/>
          </a:xfrm>
          <a:prstGeom prst="rect">
            <a:avLst/>
          </a:prstGeom>
          <a:noFill/>
        </p:spPr>
        <p:txBody>
          <a:bodyPr wrap="square" lIns="0" rIns="0" anchor="t">
            <a:spAutoFit/>
          </a:bodyPr>
          <a:lstStyle/>
          <a:p>
            <a:pPr algn="l"/>
            <a:r>
              <a:rPr sz="1000" b="0">
                <a:solidFill>
                  <a:srgbClr val="4A4A4A"/>
                </a:solidFill>
                <a:latin typeface="Inter"/>
              </a:rPr>
              <a:t>°C · surchauffe</a:t>
            </a:r>
          </a:p>
        </p:txBody>
      </p:sp>
      <p:sp>
        <p:nvSpPr>
          <p:cNvPr id="21" name="TextBox 20"/>
          <p:cNvSpPr txBox="1"/>
          <p:nvPr/>
        </p:nvSpPr>
        <p:spPr>
          <a:xfrm>
            <a:off x="731520" y="5020055"/>
            <a:ext cx="2377440" cy="274320"/>
          </a:xfrm>
          <a:prstGeom prst="rect">
            <a:avLst/>
          </a:prstGeom>
          <a:noFill/>
        </p:spPr>
        <p:txBody>
          <a:bodyPr wrap="square" lIns="0" rIns="0" anchor="t">
            <a:spAutoFit/>
          </a:bodyPr>
          <a:lstStyle/>
          <a:p>
            <a:pPr algn="l"/>
            <a:r>
              <a:rPr sz="1100" b="1">
                <a:solidFill>
                  <a:srgbClr val="1A232E"/>
                </a:solidFill>
                <a:latin typeface="JetBrains Mono"/>
              </a:rPr>
              <a:t>current_phase_avg</a:t>
            </a:r>
          </a:p>
        </p:txBody>
      </p:sp>
      <p:sp>
        <p:nvSpPr>
          <p:cNvPr id="22" name="TextBox 21"/>
          <p:cNvSpPr txBox="1"/>
          <p:nvPr/>
        </p:nvSpPr>
        <p:spPr>
          <a:xfrm>
            <a:off x="3200400" y="5020055"/>
            <a:ext cx="2743200" cy="274320"/>
          </a:xfrm>
          <a:prstGeom prst="rect">
            <a:avLst/>
          </a:prstGeom>
          <a:noFill/>
        </p:spPr>
        <p:txBody>
          <a:bodyPr wrap="square" lIns="0" rIns="0" anchor="t">
            <a:spAutoFit/>
          </a:bodyPr>
          <a:lstStyle/>
          <a:p>
            <a:pPr algn="l"/>
            <a:r>
              <a:rPr sz="1000" b="0">
                <a:solidFill>
                  <a:srgbClr val="4A4A4A"/>
                </a:solidFill>
                <a:latin typeface="Inter"/>
              </a:rPr>
              <a:t>A · charge électrique</a:t>
            </a:r>
          </a:p>
        </p:txBody>
      </p:sp>
      <p:sp>
        <p:nvSpPr>
          <p:cNvPr id="23" name="TextBox 22"/>
          <p:cNvSpPr txBox="1"/>
          <p:nvPr/>
        </p:nvSpPr>
        <p:spPr>
          <a:xfrm>
            <a:off x="731520" y="5312664"/>
            <a:ext cx="2377440" cy="274320"/>
          </a:xfrm>
          <a:prstGeom prst="rect">
            <a:avLst/>
          </a:prstGeom>
          <a:noFill/>
        </p:spPr>
        <p:txBody>
          <a:bodyPr wrap="square" lIns="0" rIns="0" anchor="t">
            <a:spAutoFit/>
          </a:bodyPr>
          <a:lstStyle/>
          <a:p>
            <a:pPr algn="l"/>
            <a:r>
              <a:rPr sz="1100" b="1">
                <a:solidFill>
                  <a:srgbClr val="1A232E"/>
                </a:solidFill>
                <a:latin typeface="JetBrains Mono"/>
              </a:rPr>
              <a:t>pressure_level</a:t>
            </a:r>
          </a:p>
        </p:txBody>
      </p:sp>
      <p:sp>
        <p:nvSpPr>
          <p:cNvPr id="24" name="TextBox 23"/>
          <p:cNvSpPr txBox="1"/>
          <p:nvPr/>
        </p:nvSpPr>
        <p:spPr>
          <a:xfrm>
            <a:off x="3200400" y="5312664"/>
            <a:ext cx="2743200" cy="274320"/>
          </a:xfrm>
          <a:prstGeom prst="rect">
            <a:avLst/>
          </a:prstGeom>
          <a:noFill/>
        </p:spPr>
        <p:txBody>
          <a:bodyPr wrap="square" lIns="0" rIns="0" anchor="t">
            <a:spAutoFit/>
          </a:bodyPr>
          <a:lstStyle/>
          <a:p>
            <a:pPr algn="l"/>
            <a:r>
              <a:rPr sz="1000" b="0">
                <a:solidFill>
                  <a:srgbClr val="4A4A4A"/>
                </a:solidFill>
                <a:latin typeface="Inter"/>
              </a:rPr>
              <a:t>bar · circuit hydraulique</a:t>
            </a:r>
          </a:p>
        </p:txBody>
      </p:sp>
      <p:sp>
        <p:nvSpPr>
          <p:cNvPr id="25" name="TextBox 24"/>
          <p:cNvSpPr txBox="1"/>
          <p:nvPr/>
        </p:nvSpPr>
        <p:spPr>
          <a:xfrm>
            <a:off x="731520" y="5605272"/>
            <a:ext cx="2377440" cy="274320"/>
          </a:xfrm>
          <a:prstGeom prst="rect">
            <a:avLst/>
          </a:prstGeom>
          <a:noFill/>
        </p:spPr>
        <p:txBody>
          <a:bodyPr wrap="square" lIns="0" rIns="0" anchor="t">
            <a:spAutoFit/>
          </a:bodyPr>
          <a:lstStyle/>
          <a:p>
            <a:pPr algn="l"/>
            <a:r>
              <a:rPr sz="1100" b="1">
                <a:solidFill>
                  <a:srgbClr val="1A232E"/>
                </a:solidFill>
                <a:latin typeface="JetBrains Mono"/>
              </a:rPr>
              <a:t>rpm</a:t>
            </a:r>
          </a:p>
        </p:txBody>
      </p:sp>
      <p:sp>
        <p:nvSpPr>
          <p:cNvPr id="26" name="TextBox 25"/>
          <p:cNvSpPr txBox="1"/>
          <p:nvPr/>
        </p:nvSpPr>
        <p:spPr>
          <a:xfrm>
            <a:off x="3200400" y="5605272"/>
            <a:ext cx="2743200" cy="274320"/>
          </a:xfrm>
          <a:prstGeom prst="rect">
            <a:avLst/>
          </a:prstGeom>
          <a:noFill/>
        </p:spPr>
        <p:txBody>
          <a:bodyPr wrap="square" lIns="0" rIns="0" anchor="t">
            <a:spAutoFit/>
          </a:bodyPr>
          <a:lstStyle/>
          <a:p>
            <a:pPr algn="l"/>
            <a:r>
              <a:rPr sz="1000" b="0">
                <a:solidFill>
                  <a:srgbClr val="4A4A4A"/>
                </a:solidFill>
                <a:latin typeface="Inter"/>
              </a:rPr>
              <a:t>tours/min</a:t>
            </a:r>
          </a:p>
        </p:txBody>
      </p:sp>
      <p:sp>
        <p:nvSpPr>
          <p:cNvPr id="27" name="TextBox 26"/>
          <p:cNvSpPr txBox="1"/>
          <p:nvPr/>
        </p:nvSpPr>
        <p:spPr>
          <a:xfrm>
            <a:off x="731520" y="5897879"/>
            <a:ext cx="2377440" cy="274320"/>
          </a:xfrm>
          <a:prstGeom prst="rect">
            <a:avLst/>
          </a:prstGeom>
          <a:noFill/>
        </p:spPr>
        <p:txBody>
          <a:bodyPr wrap="square" lIns="0" rIns="0" anchor="t">
            <a:spAutoFit/>
          </a:bodyPr>
          <a:lstStyle/>
          <a:p>
            <a:pPr algn="l"/>
            <a:r>
              <a:rPr sz="1100" b="1">
                <a:solidFill>
                  <a:srgbClr val="1A232E"/>
                </a:solidFill>
                <a:latin typeface="JetBrains Mono"/>
              </a:rPr>
              <a:t>hours_since_maintenance</a:t>
            </a:r>
          </a:p>
        </p:txBody>
      </p:sp>
      <p:sp>
        <p:nvSpPr>
          <p:cNvPr id="28" name="TextBox 27"/>
          <p:cNvSpPr txBox="1"/>
          <p:nvPr/>
        </p:nvSpPr>
        <p:spPr>
          <a:xfrm>
            <a:off x="3200400" y="5897879"/>
            <a:ext cx="2743200" cy="274320"/>
          </a:xfrm>
          <a:prstGeom prst="rect">
            <a:avLst/>
          </a:prstGeom>
          <a:noFill/>
        </p:spPr>
        <p:txBody>
          <a:bodyPr wrap="square" lIns="0" rIns="0" anchor="t">
            <a:spAutoFit/>
          </a:bodyPr>
          <a:lstStyle/>
          <a:p>
            <a:pPr algn="l"/>
            <a:r>
              <a:rPr sz="1000" b="0">
                <a:solidFill>
                  <a:srgbClr val="4A4A4A"/>
                </a:solidFill>
                <a:latin typeface="Inter"/>
              </a:rPr>
              <a:t>h depuis dernière intervention</a:t>
            </a:r>
          </a:p>
        </p:txBody>
      </p:sp>
      <p:sp>
        <p:nvSpPr>
          <p:cNvPr id="29" name="TextBox 28"/>
          <p:cNvSpPr txBox="1"/>
          <p:nvPr/>
        </p:nvSpPr>
        <p:spPr>
          <a:xfrm>
            <a:off x="731520" y="6190488"/>
            <a:ext cx="2377440" cy="274320"/>
          </a:xfrm>
          <a:prstGeom prst="rect">
            <a:avLst/>
          </a:prstGeom>
          <a:noFill/>
        </p:spPr>
        <p:txBody>
          <a:bodyPr wrap="square" lIns="0" rIns="0" anchor="t">
            <a:spAutoFit/>
          </a:bodyPr>
          <a:lstStyle/>
          <a:p>
            <a:pPr algn="l"/>
            <a:r>
              <a:rPr sz="1100" b="1">
                <a:solidFill>
                  <a:srgbClr val="1A232E"/>
                </a:solidFill>
                <a:latin typeface="JetBrains Mono"/>
              </a:rPr>
              <a:t>ambient_temp</a:t>
            </a:r>
          </a:p>
        </p:txBody>
      </p:sp>
      <p:sp>
        <p:nvSpPr>
          <p:cNvPr id="30" name="TextBox 29"/>
          <p:cNvSpPr txBox="1"/>
          <p:nvPr/>
        </p:nvSpPr>
        <p:spPr>
          <a:xfrm>
            <a:off x="3200400" y="6190488"/>
            <a:ext cx="2743200" cy="274320"/>
          </a:xfrm>
          <a:prstGeom prst="rect">
            <a:avLst/>
          </a:prstGeom>
          <a:noFill/>
        </p:spPr>
        <p:txBody>
          <a:bodyPr wrap="square" lIns="0" rIns="0" anchor="t">
            <a:spAutoFit/>
          </a:bodyPr>
          <a:lstStyle/>
          <a:p>
            <a:pPr algn="l"/>
            <a:r>
              <a:rPr sz="1000" b="0">
                <a:solidFill>
                  <a:srgbClr val="4A4A4A"/>
                </a:solidFill>
                <a:latin typeface="Inter"/>
              </a:rPr>
              <a:t>°C ambiant</a:t>
            </a:r>
          </a:p>
        </p:txBody>
      </p:sp>
      <p:sp>
        <p:nvSpPr>
          <p:cNvPr id="31" name="Rectangle 30"/>
          <p:cNvSpPr/>
          <p:nvPr/>
        </p:nvSpPr>
        <p:spPr>
          <a:xfrm>
            <a:off x="6309360" y="3931920"/>
            <a:ext cx="5394960" cy="2560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92240" y="4069080"/>
            <a:ext cx="5029200" cy="365760"/>
          </a:xfrm>
          <a:prstGeom prst="rect">
            <a:avLst/>
          </a:prstGeom>
          <a:noFill/>
        </p:spPr>
        <p:txBody>
          <a:bodyPr wrap="square" lIns="0" rIns="0" anchor="t">
            <a:spAutoFit/>
          </a:bodyPr>
          <a:lstStyle/>
          <a:p>
            <a:pPr algn="l"/>
            <a:r>
              <a:rPr sz="1100" b="1">
                <a:solidFill>
                  <a:srgbClr val="B26835"/>
                </a:solidFill>
                <a:latin typeface="JetBrains Mono"/>
              </a:rPr>
              <a:t>VARIABLES CIBLES (4 TÂCHES POSSIBLES)</a:t>
            </a:r>
          </a:p>
        </p:txBody>
      </p:sp>
      <p:sp>
        <p:nvSpPr>
          <p:cNvPr id="33" name="TextBox 32"/>
          <p:cNvSpPr txBox="1"/>
          <p:nvPr/>
        </p:nvSpPr>
        <p:spPr>
          <a:xfrm>
            <a:off x="6492240" y="4434840"/>
            <a:ext cx="2377440" cy="274320"/>
          </a:xfrm>
          <a:prstGeom prst="rect">
            <a:avLst/>
          </a:prstGeom>
          <a:noFill/>
        </p:spPr>
        <p:txBody>
          <a:bodyPr wrap="square" lIns="0" rIns="0" anchor="t">
            <a:spAutoFit/>
          </a:bodyPr>
          <a:lstStyle/>
          <a:p>
            <a:pPr algn="l"/>
            <a:r>
              <a:rPr sz="1100" b="1">
                <a:solidFill>
                  <a:srgbClr val="1A232E"/>
                </a:solidFill>
                <a:latin typeface="JetBrains Mono"/>
              </a:rPr>
              <a:t>failure_within_24h</a:t>
            </a:r>
          </a:p>
        </p:txBody>
      </p:sp>
      <p:sp>
        <p:nvSpPr>
          <p:cNvPr id="34" name="TextBox 33"/>
          <p:cNvSpPr txBox="1"/>
          <p:nvPr/>
        </p:nvSpPr>
        <p:spPr>
          <a:xfrm>
            <a:off x="6492240" y="4690872"/>
            <a:ext cx="3200400" cy="274320"/>
          </a:xfrm>
          <a:prstGeom prst="rect">
            <a:avLst/>
          </a:prstGeom>
          <a:noFill/>
        </p:spPr>
        <p:txBody>
          <a:bodyPr wrap="square" lIns="0" rIns="0" anchor="t">
            <a:spAutoFit/>
          </a:bodyPr>
          <a:lstStyle/>
          <a:p>
            <a:pPr algn="l"/>
            <a:r>
              <a:rPr sz="1000" b="0">
                <a:solidFill>
                  <a:srgbClr val="4A4A4A"/>
                </a:solidFill>
                <a:latin typeface="Inter"/>
              </a:rPr>
              <a:t>binaire · panne sous 24h</a:t>
            </a:r>
          </a:p>
        </p:txBody>
      </p:sp>
      <p:sp>
        <p:nvSpPr>
          <p:cNvPr id="35" name="TextBox 34"/>
          <p:cNvSpPr txBox="1"/>
          <p:nvPr/>
        </p:nvSpPr>
        <p:spPr>
          <a:xfrm>
            <a:off x="9784080" y="4480559"/>
            <a:ext cx="1737360" cy="274320"/>
          </a:xfrm>
          <a:prstGeom prst="rect">
            <a:avLst/>
          </a:prstGeom>
          <a:noFill/>
        </p:spPr>
        <p:txBody>
          <a:bodyPr wrap="square" lIns="0" rIns="0" anchor="t">
            <a:spAutoFit/>
          </a:bodyPr>
          <a:lstStyle/>
          <a:p>
            <a:pPr algn="r"/>
            <a:r>
              <a:rPr sz="900" b="1">
                <a:solidFill>
                  <a:srgbClr val="B26835"/>
                </a:solidFill>
                <a:latin typeface="Inter"/>
              </a:rPr>
              <a:t>★ tâche principale</a:t>
            </a:r>
          </a:p>
        </p:txBody>
      </p:sp>
      <p:sp>
        <p:nvSpPr>
          <p:cNvPr id="36" name="TextBox 35"/>
          <p:cNvSpPr txBox="1"/>
          <p:nvPr/>
        </p:nvSpPr>
        <p:spPr>
          <a:xfrm>
            <a:off x="6492240" y="4937759"/>
            <a:ext cx="2377440" cy="274320"/>
          </a:xfrm>
          <a:prstGeom prst="rect">
            <a:avLst/>
          </a:prstGeom>
          <a:noFill/>
        </p:spPr>
        <p:txBody>
          <a:bodyPr wrap="square" lIns="0" rIns="0" anchor="t">
            <a:spAutoFit/>
          </a:bodyPr>
          <a:lstStyle/>
          <a:p>
            <a:pPr algn="l"/>
            <a:r>
              <a:rPr sz="1100" b="1">
                <a:solidFill>
                  <a:srgbClr val="1A232E"/>
                </a:solidFill>
                <a:latin typeface="JetBrains Mono"/>
              </a:rPr>
              <a:t>failure_type</a:t>
            </a:r>
          </a:p>
        </p:txBody>
      </p:sp>
      <p:sp>
        <p:nvSpPr>
          <p:cNvPr id="37" name="TextBox 36"/>
          <p:cNvSpPr txBox="1"/>
          <p:nvPr/>
        </p:nvSpPr>
        <p:spPr>
          <a:xfrm>
            <a:off x="6492240" y="5193792"/>
            <a:ext cx="3200400" cy="274320"/>
          </a:xfrm>
          <a:prstGeom prst="rect">
            <a:avLst/>
          </a:prstGeom>
          <a:noFill/>
        </p:spPr>
        <p:txBody>
          <a:bodyPr wrap="square" lIns="0" rIns="0" anchor="t">
            <a:spAutoFit/>
          </a:bodyPr>
          <a:lstStyle/>
          <a:p>
            <a:pPr algn="l"/>
            <a:r>
              <a:rPr sz="1000" b="0">
                <a:solidFill>
                  <a:srgbClr val="4A4A4A"/>
                </a:solidFill>
                <a:latin typeface="Inter"/>
              </a:rPr>
              <a:t>5 classes · type de panne</a:t>
            </a:r>
          </a:p>
        </p:txBody>
      </p:sp>
      <p:sp>
        <p:nvSpPr>
          <p:cNvPr id="38" name="TextBox 37"/>
          <p:cNvSpPr txBox="1"/>
          <p:nvPr/>
        </p:nvSpPr>
        <p:spPr>
          <a:xfrm>
            <a:off x="9784080" y="4983479"/>
            <a:ext cx="1737360" cy="274320"/>
          </a:xfrm>
          <a:prstGeom prst="rect">
            <a:avLst/>
          </a:prstGeom>
          <a:noFill/>
        </p:spPr>
        <p:txBody>
          <a:bodyPr wrap="square" lIns="0" rIns="0" anchor="t">
            <a:spAutoFit/>
          </a:bodyPr>
          <a:lstStyle/>
          <a:p>
            <a:pPr algn="r"/>
            <a:r>
              <a:rPr sz="900" b="1">
                <a:solidFill>
                  <a:srgbClr val="B26835"/>
                </a:solidFill>
                <a:latin typeface="Inter"/>
              </a:rPr>
              <a:t>bonus</a:t>
            </a:r>
          </a:p>
        </p:txBody>
      </p:sp>
      <p:sp>
        <p:nvSpPr>
          <p:cNvPr id="39" name="TextBox 38"/>
          <p:cNvSpPr txBox="1"/>
          <p:nvPr/>
        </p:nvSpPr>
        <p:spPr>
          <a:xfrm>
            <a:off x="6492240" y="5440679"/>
            <a:ext cx="2377440" cy="274320"/>
          </a:xfrm>
          <a:prstGeom prst="rect">
            <a:avLst/>
          </a:prstGeom>
          <a:noFill/>
        </p:spPr>
        <p:txBody>
          <a:bodyPr wrap="square" lIns="0" rIns="0" anchor="t">
            <a:spAutoFit/>
          </a:bodyPr>
          <a:lstStyle/>
          <a:p>
            <a:pPr algn="l"/>
            <a:r>
              <a:rPr sz="1100" b="1">
                <a:solidFill>
                  <a:srgbClr val="1A232E"/>
                </a:solidFill>
                <a:latin typeface="JetBrains Mono"/>
              </a:rPr>
              <a:t>rul_hours</a:t>
            </a:r>
          </a:p>
        </p:txBody>
      </p:sp>
      <p:sp>
        <p:nvSpPr>
          <p:cNvPr id="40" name="TextBox 39"/>
          <p:cNvSpPr txBox="1"/>
          <p:nvPr/>
        </p:nvSpPr>
        <p:spPr>
          <a:xfrm>
            <a:off x="6492240" y="5696712"/>
            <a:ext cx="3200400" cy="274320"/>
          </a:xfrm>
          <a:prstGeom prst="rect">
            <a:avLst/>
          </a:prstGeom>
          <a:noFill/>
        </p:spPr>
        <p:txBody>
          <a:bodyPr wrap="square" lIns="0" rIns="0" anchor="t">
            <a:spAutoFit/>
          </a:bodyPr>
          <a:lstStyle/>
          <a:p>
            <a:pPr algn="l"/>
            <a:r>
              <a:rPr sz="1000" b="0">
                <a:solidFill>
                  <a:srgbClr val="4A4A4A"/>
                </a:solidFill>
                <a:latin typeface="Inter"/>
              </a:rPr>
              <a:t>continue · vie restante</a:t>
            </a:r>
          </a:p>
        </p:txBody>
      </p:sp>
      <p:sp>
        <p:nvSpPr>
          <p:cNvPr id="41" name="TextBox 40"/>
          <p:cNvSpPr txBox="1"/>
          <p:nvPr/>
        </p:nvSpPr>
        <p:spPr>
          <a:xfrm>
            <a:off x="9784080" y="5486399"/>
            <a:ext cx="1737360" cy="274320"/>
          </a:xfrm>
          <a:prstGeom prst="rect">
            <a:avLst/>
          </a:prstGeom>
          <a:noFill/>
        </p:spPr>
        <p:txBody>
          <a:bodyPr wrap="square" lIns="0" rIns="0" anchor="t">
            <a:spAutoFit/>
          </a:bodyPr>
          <a:lstStyle/>
          <a:p>
            <a:pPr algn="r"/>
            <a:r>
              <a:rPr sz="900" b="1">
                <a:solidFill>
                  <a:srgbClr val="B26835"/>
                </a:solidFill>
                <a:latin typeface="Inter"/>
              </a:rPr>
              <a:t>bonus</a:t>
            </a:r>
          </a:p>
        </p:txBody>
      </p:sp>
      <p:sp>
        <p:nvSpPr>
          <p:cNvPr id="42" name="TextBox 41"/>
          <p:cNvSpPr txBox="1"/>
          <p:nvPr/>
        </p:nvSpPr>
        <p:spPr>
          <a:xfrm>
            <a:off x="6492240" y="5943600"/>
            <a:ext cx="2377440" cy="274320"/>
          </a:xfrm>
          <a:prstGeom prst="rect">
            <a:avLst/>
          </a:prstGeom>
          <a:noFill/>
        </p:spPr>
        <p:txBody>
          <a:bodyPr wrap="square" lIns="0" rIns="0" anchor="t">
            <a:spAutoFit/>
          </a:bodyPr>
          <a:lstStyle/>
          <a:p>
            <a:pPr algn="l"/>
            <a:r>
              <a:rPr sz="1100" b="1">
                <a:solidFill>
                  <a:srgbClr val="1A232E"/>
                </a:solidFill>
                <a:latin typeface="JetBrains Mono"/>
              </a:rPr>
              <a:t>estimated_repair_cost</a:t>
            </a:r>
          </a:p>
        </p:txBody>
      </p:sp>
      <p:sp>
        <p:nvSpPr>
          <p:cNvPr id="43" name="TextBox 42"/>
          <p:cNvSpPr txBox="1"/>
          <p:nvPr/>
        </p:nvSpPr>
        <p:spPr>
          <a:xfrm>
            <a:off x="6492240" y="6199632"/>
            <a:ext cx="3200400" cy="274320"/>
          </a:xfrm>
          <a:prstGeom prst="rect">
            <a:avLst/>
          </a:prstGeom>
          <a:noFill/>
        </p:spPr>
        <p:txBody>
          <a:bodyPr wrap="square" lIns="0" rIns="0" anchor="t">
            <a:spAutoFit/>
          </a:bodyPr>
          <a:lstStyle/>
          <a:p>
            <a:pPr algn="l"/>
            <a:r>
              <a:rPr sz="1000" b="0">
                <a:solidFill>
                  <a:srgbClr val="4A4A4A"/>
                </a:solidFill>
                <a:latin typeface="Inter"/>
              </a:rPr>
              <a:t>continue · coût €</a:t>
            </a:r>
          </a:p>
        </p:txBody>
      </p:sp>
      <p:sp>
        <p:nvSpPr>
          <p:cNvPr id="44" name="TextBox 43"/>
          <p:cNvSpPr txBox="1"/>
          <p:nvPr/>
        </p:nvSpPr>
        <p:spPr>
          <a:xfrm>
            <a:off x="9784080" y="5989320"/>
            <a:ext cx="1737360" cy="274320"/>
          </a:xfrm>
          <a:prstGeom prst="rect">
            <a:avLst/>
          </a:prstGeom>
          <a:noFill/>
        </p:spPr>
        <p:txBody>
          <a:bodyPr wrap="square" lIns="0" rIns="0" anchor="t">
            <a:spAutoFit/>
          </a:bodyPr>
          <a:lstStyle/>
          <a:p>
            <a:pPr algn="r"/>
            <a:r>
              <a:rPr sz="900" b="1">
                <a:solidFill>
                  <a:srgbClr val="B26835"/>
                </a:solidFill>
                <a:latin typeface="Inter"/>
              </a:rPr>
              <a:t>ROI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48640" cy="365760"/>
          </a:xfrm>
          <a:prstGeom prst="rect">
            <a:avLst/>
          </a:prstGeom>
          <a:noFill/>
        </p:spPr>
        <p:txBody>
          <a:bodyPr wrap="square" lIns="0" rIns="0" anchor="t">
            <a:spAutoFit/>
          </a:bodyPr>
          <a:lstStyle/>
          <a:p>
            <a:pPr algn="l"/>
            <a:r>
              <a:rPr sz="1200" b="1">
                <a:solidFill>
                  <a:srgbClr val="B26835"/>
                </a:solidFill>
                <a:latin typeface="JetBrains Mono"/>
              </a:rPr>
              <a:t>02</a:t>
            </a:r>
          </a:p>
        </p:txBody>
      </p:sp>
      <p:sp>
        <p:nvSpPr>
          <p:cNvPr id="4" name="TextBox 3"/>
          <p:cNvSpPr txBox="1"/>
          <p:nvPr/>
        </p:nvSpPr>
        <p:spPr>
          <a:xfrm>
            <a:off x="1051560" y="502920"/>
            <a:ext cx="7315200" cy="365760"/>
          </a:xfrm>
          <a:prstGeom prst="rect">
            <a:avLst/>
          </a:prstGeom>
          <a:noFill/>
        </p:spPr>
        <p:txBody>
          <a:bodyPr wrap="square" lIns="0" rIns="0" anchor="t">
            <a:spAutoFit/>
          </a:bodyPr>
          <a:lstStyle/>
          <a:p>
            <a:pPr algn="l"/>
            <a:r>
              <a:rPr sz="1200" b="1">
                <a:solidFill>
                  <a:srgbClr val="37474F"/>
                </a:solidFill>
                <a:latin typeface="Plus Jakarta Sans"/>
              </a:rPr>
              <a:t>DONNÉES CAPTEURS · EDA</a:t>
            </a:r>
          </a:p>
        </p:txBody>
      </p:sp>
      <p:sp>
        <p:nvSpPr>
          <p:cNvPr id="5" name="TextBox 4"/>
          <p:cNvSpPr txBox="1"/>
          <p:nvPr/>
        </p:nvSpPr>
        <p:spPr>
          <a:xfrm>
            <a:off x="548640" y="914400"/>
            <a:ext cx="10972800" cy="914400"/>
          </a:xfrm>
          <a:prstGeom prst="rect">
            <a:avLst/>
          </a:prstGeom>
          <a:noFill/>
        </p:spPr>
        <p:txBody>
          <a:bodyPr wrap="square" lIns="0" rIns="0" anchor="t">
            <a:spAutoFit/>
          </a:bodyPr>
          <a:lstStyle/>
          <a:p>
            <a:pPr algn="l"/>
            <a:r>
              <a:rPr sz="3600" b="1">
                <a:solidFill>
                  <a:srgbClr val="1A232E"/>
                </a:solidFill>
                <a:latin typeface="Plus Jakarta Sans"/>
              </a:rPr>
              <a:t>Insights de l'analyse exploratoire</a:t>
            </a:r>
          </a:p>
        </p:txBody>
      </p:sp>
      <p:sp>
        <p:nvSpPr>
          <p:cNvPr id="6" name="TextBox 5"/>
          <p:cNvSpPr txBox="1"/>
          <p:nvPr/>
        </p:nvSpPr>
        <p:spPr>
          <a:xfrm>
            <a:off x="548640" y="1828800"/>
            <a:ext cx="5486400" cy="274320"/>
          </a:xfrm>
          <a:prstGeom prst="rect">
            <a:avLst/>
          </a:prstGeom>
          <a:noFill/>
        </p:spPr>
        <p:txBody>
          <a:bodyPr wrap="square" lIns="0" rIns="0" anchor="t">
            <a:spAutoFit/>
          </a:bodyPr>
          <a:lstStyle/>
          <a:p>
            <a:pPr algn="l"/>
            <a:r>
              <a:rPr sz="1000" b="1">
                <a:solidFill>
                  <a:srgbClr val="B26835"/>
                </a:solidFill>
                <a:latin typeface="JetBrains Mono"/>
              </a:rPr>
              <a:t>RÉPARTITION DE LA CIBLE</a:t>
            </a:r>
          </a:p>
        </p:txBody>
      </p:sp>
      <p:pic>
        <p:nvPicPr>
          <p:cNvPr id="7" name="Picture 6" descr="eda_target_distribution.png"/>
          <p:cNvPicPr>
            <a:picLocks noChangeAspect="1"/>
          </p:cNvPicPr>
          <p:nvPr/>
        </p:nvPicPr>
        <p:blipFill>
          <a:blip r:embed="rId2"/>
          <a:stretch>
            <a:fillRect/>
          </a:stretch>
        </p:blipFill>
        <p:spPr>
          <a:xfrm>
            <a:off x="548640" y="2194560"/>
            <a:ext cx="5486400" cy="3871494"/>
          </a:xfrm>
          <a:prstGeom prst="rect">
            <a:avLst/>
          </a:prstGeom>
        </p:spPr>
      </p:pic>
      <p:sp>
        <p:nvSpPr>
          <p:cNvPr id="8" name="TextBox 7"/>
          <p:cNvSpPr txBox="1"/>
          <p:nvPr/>
        </p:nvSpPr>
        <p:spPr>
          <a:xfrm>
            <a:off x="6675120" y="1828800"/>
            <a:ext cx="5029200" cy="274320"/>
          </a:xfrm>
          <a:prstGeom prst="rect">
            <a:avLst/>
          </a:prstGeom>
          <a:noFill/>
        </p:spPr>
        <p:txBody>
          <a:bodyPr wrap="square" lIns="0" rIns="0" anchor="t">
            <a:spAutoFit/>
          </a:bodyPr>
          <a:lstStyle/>
          <a:p>
            <a:pPr algn="l"/>
            <a:r>
              <a:rPr sz="1000" b="1">
                <a:solidFill>
                  <a:srgbClr val="B26835"/>
                </a:solidFill>
                <a:latin typeface="JetBrains Mono"/>
              </a:rPr>
              <a:t>CE QU'ON RETIENT</a:t>
            </a:r>
          </a:p>
        </p:txBody>
      </p:sp>
      <p:sp>
        <p:nvSpPr>
          <p:cNvPr id="9" name="Rectangle 8"/>
          <p:cNvSpPr/>
          <p:nvPr/>
        </p:nvSpPr>
        <p:spPr>
          <a:xfrm>
            <a:off x="6675120" y="2286000"/>
            <a:ext cx="502920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0" y="2377440"/>
            <a:ext cx="4663440" cy="320040"/>
          </a:xfrm>
          <a:prstGeom prst="rect">
            <a:avLst/>
          </a:prstGeom>
          <a:noFill/>
        </p:spPr>
        <p:txBody>
          <a:bodyPr wrap="square" lIns="0" rIns="0" anchor="t">
            <a:spAutoFit/>
          </a:bodyPr>
          <a:lstStyle/>
          <a:p>
            <a:pPr algn="l"/>
            <a:r>
              <a:rPr sz="1400" b="1">
                <a:solidFill>
                  <a:srgbClr val="1A232E"/>
                </a:solidFill>
                <a:latin typeface="Plus Jakarta Sans"/>
              </a:rPr>
              <a:t>Classes déséquilibrées</a:t>
            </a:r>
          </a:p>
        </p:txBody>
      </p:sp>
      <p:sp>
        <p:nvSpPr>
          <p:cNvPr id="11" name="TextBox 10"/>
          <p:cNvSpPr txBox="1"/>
          <p:nvPr/>
        </p:nvSpPr>
        <p:spPr>
          <a:xfrm>
            <a:off x="6858000" y="2697480"/>
            <a:ext cx="4663440" cy="320040"/>
          </a:xfrm>
          <a:prstGeom prst="rect">
            <a:avLst/>
          </a:prstGeom>
          <a:noFill/>
        </p:spPr>
        <p:txBody>
          <a:bodyPr wrap="square" lIns="0" rIns="0" anchor="t">
            <a:spAutoFit/>
          </a:bodyPr>
          <a:lstStyle/>
          <a:p>
            <a:pPr algn="l"/>
            <a:r>
              <a:rPr sz="1100" b="0">
                <a:solidFill>
                  <a:srgbClr val="4A4A4A"/>
                </a:solidFill>
                <a:latin typeface="Inter"/>
              </a:rPr>
              <a:t>~7% de pannes vs 93% sain · F1 et PR-AUC privilégiés.</a:t>
            </a:r>
          </a:p>
        </p:txBody>
      </p:sp>
      <p:sp>
        <p:nvSpPr>
          <p:cNvPr id="12" name="Rectangle 11"/>
          <p:cNvSpPr/>
          <p:nvPr/>
        </p:nvSpPr>
        <p:spPr>
          <a:xfrm>
            <a:off x="6675120" y="3200400"/>
            <a:ext cx="502920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0" y="3291840"/>
            <a:ext cx="4663440" cy="320040"/>
          </a:xfrm>
          <a:prstGeom prst="rect">
            <a:avLst/>
          </a:prstGeom>
          <a:noFill/>
        </p:spPr>
        <p:txBody>
          <a:bodyPr wrap="square" lIns="0" rIns="0" anchor="t">
            <a:spAutoFit/>
          </a:bodyPr>
          <a:lstStyle/>
          <a:p>
            <a:pPr algn="l"/>
            <a:r>
              <a:rPr sz="1400" b="1">
                <a:solidFill>
                  <a:srgbClr val="1A232E"/>
                </a:solidFill>
                <a:latin typeface="Plus Jakarta Sans"/>
              </a:rPr>
              <a:t>NaN ~3-4%</a:t>
            </a:r>
          </a:p>
        </p:txBody>
      </p:sp>
      <p:sp>
        <p:nvSpPr>
          <p:cNvPr id="14" name="TextBox 13"/>
          <p:cNvSpPr txBox="1"/>
          <p:nvPr/>
        </p:nvSpPr>
        <p:spPr>
          <a:xfrm>
            <a:off x="6858000" y="3611880"/>
            <a:ext cx="4663440" cy="320040"/>
          </a:xfrm>
          <a:prstGeom prst="rect">
            <a:avLst/>
          </a:prstGeom>
          <a:noFill/>
        </p:spPr>
        <p:txBody>
          <a:bodyPr wrap="square" lIns="0" rIns="0" anchor="t">
            <a:spAutoFit/>
          </a:bodyPr>
          <a:lstStyle/>
          <a:p>
            <a:pPr algn="l"/>
            <a:r>
              <a:rPr sz="1100" b="0">
                <a:solidFill>
                  <a:srgbClr val="4A4A4A"/>
                </a:solidFill>
                <a:latin typeface="Inter"/>
              </a:rPr>
              <a:t>sur 5 capteurs · imputation médiane (robuste outliers).</a:t>
            </a:r>
          </a:p>
        </p:txBody>
      </p:sp>
      <p:sp>
        <p:nvSpPr>
          <p:cNvPr id="15" name="Rectangle 14"/>
          <p:cNvSpPr/>
          <p:nvPr/>
        </p:nvSpPr>
        <p:spPr>
          <a:xfrm>
            <a:off x="6675120" y="4114800"/>
            <a:ext cx="502920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0" y="4206240"/>
            <a:ext cx="4663440" cy="320040"/>
          </a:xfrm>
          <a:prstGeom prst="rect">
            <a:avLst/>
          </a:prstGeom>
          <a:noFill/>
        </p:spPr>
        <p:txBody>
          <a:bodyPr wrap="square" lIns="0" rIns="0" anchor="t">
            <a:spAutoFit/>
          </a:bodyPr>
          <a:lstStyle/>
          <a:p>
            <a:pPr algn="l"/>
            <a:r>
              <a:rPr sz="1400" b="1">
                <a:solidFill>
                  <a:srgbClr val="1A232E"/>
                </a:solidFill>
                <a:latin typeface="Plus Jakarta Sans"/>
              </a:rPr>
              <a:t>Vibration discriminante</a:t>
            </a:r>
          </a:p>
        </p:txBody>
      </p:sp>
      <p:sp>
        <p:nvSpPr>
          <p:cNvPr id="17" name="TextBox 16"/>
          <p:cNvSpPr txBox="1"/>
          <p:nvPr/>
        </p:nvSpPr>
        <p:spPr>
          <a:xfrm>
            <a:off x="6858000" y="4526280"/>
            <a:ext cx="4663440" cy="320040"/>
          </a:xfrm>
          <a:prstGeom prst="rect">
            <a:avLst/>
          </a:prstGeom>
          <a:noFill/>
        </p:spPr>
        <p:txBody>
          <a:bodyPr wrap="square" lIns="0" rIns="0" anchor="t">
            <a:spAutoFit/>
          </a:bodyPr>
          <a:lstStyle/>
          <a:p>
            <a:pPr algn="l"/>
            <a:r>
              <a:rPr sz="1100" b="0">
                <a:solidFill>
                  <a:srgbClr val="4A4A4A"/>
                </a:solidFill>
                <a:latin typeface="Inter"/>
              </a:rPr>
              <a:t>valeurs &gt; 4 mm/s très corrélées aux pannes.</a:t>
            </a:r>
          </a:p>
        </p:txBody>
      </p:sp>
      <p:sp>
        <p:nvSpPr>
          <p:cNvPr id="18" name="Rectangle 17"/>
          <p:cNvSpPr/>
          <p:nvPr/>
        </p:nvSpPr>
        <p:spPr>
          <a:xfrm>
            <a:off x="6675120" y="5029200"/>
            <a:ext cx="502920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5120640"/>
            <a:ext cx="4663440" cy="320040"/>
          </a:xfrm>
          <a:prstGeom prst="rect">
            <a:avLst/>
          </a:prstGeom>
          <a:noFill/>
        </p:spPr>
        <p:txBody>
          <a:bodyPr wrap="square" lIns="0" rIns="0" anchor="t">
            <a:spAutoFit/>
          </a:bodyPr>
          <a:lstStyle/>
          <a:p>
            <a:pPr algn="l"/>
            <a:r>
              <a:rPr sz="1400" b="1">
                <a:solidFill>
                  <a:srgbClr val="1A232E"/>
                </a:solidFill>
                <a:latin typeface="Plus Jakarta Sans"/>
              </a:rPr>
              <a:t>Pas de leakage temporel</a:t>
            </a:r>
          </a:p>
        </p:txBody>
      </p:sp>
      <p:sp>
        <p:nvSpPr>
          <p:cNvPr id="20" name="TextBox 19"/>
          <p:cNvSpPr txBox="1"/>
          <p:nvPr/>
        </p:nvSpPr>
        <p:spPr>
          <a:xfrm>
            <a:off x="6858000" y="5440680"/>
            <a:ext cx="4663440" cy="320040"/>
          </a:xfrm>
          <a:prstGeom prst="rect">
            <a:avLst/>
          </a:prstGeom>
          <a:noFill/>
        </p:spPr>
        <p:txBody>
          <a:bodyPr wrap="square" lIns="0" rIns="0" anchor="t">
            <a:spAutoFit/>
          </a:bodyPr>
          <a:lstStyle/>
          <a:p>
            <a:pPr algn="l"/>
            <a:r>
              <a:rPr sz="1100" b="0">
                <a:solidFill>
                  <a:srgbClr val="4A4A4A"/>
                </a:solidFill>
                <a:latin typeface="Inter"/>
              </a:rPr>
              <a:t>split aléatoire stratifié OK · pas de série temporelle.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48640" cy="365760"/>
          </a:xfrm>
          <a:prstGeom prst="rect">
            <a:avLst/>
          </a:prstGeom>
          <a:noFill/>
        </p:spPr>
        <p:txBody>
          <a:bodyPr wrap="square" lIns="0" rIns="0" anchor="t">
            <a:spAutoFit/>
          </a:bodyPr>
          <a:lstStyle/>
          <a:p>
            <a:pPr algn="l"/>
            <a:r>
              <a:rPr sz="1200" b="1">
                <a:solidFill>
                  <a:srgbClr val="B26835"/>
                </a:solidFill>
                <a:latin typeface="JetBrains Mono"/>
              </a:rPr>
              <a:t>03</a:t>
            </a:r>
          </a:p>
        </p:txBody>
      </p:sp>
      <p:sp>
        <p:nvSpPr>
          <p:cNvPr id="4" name="TextBox 3"/>
          <p:cNvSpPr txBox="1"/>
          <p:nvPr/>
        </p:nvSpPr>
        <p:spPr>
          <a:xfrm>
            <a:off x="1051560" y="502920"/>
            <a:ext cx="7315200" cy="365760"/>
          </a:xfrm>
          <a:prstGeom prst="rect">
            <a:avLst/>
          </a:prstGeom>
          <a:noFill/>
        </p:spPr>
        <p:txBody>
          <a:bodyPr wrap="square" lIns="0" rIns="0" anchor="t">
            <a:spAutoFit/>
          </a:bodyPr>
          <a:lstStyle/>
          <a:p>
            <a:pPr algn="l"/>
            <a:r>
              <a:rPr sz="1200" b="1">
                <a:solidFill>
                  <a:srgbClr val="37474F"/>
                </a:solidFill>
                <a:latin typeface="Plus Jakarta Sans"/>
              </a:rPr>
              <a:t>PIPELINE ML</a:t>
            </a:r>
          </a:p>
        </p:txBody>
      </p:sp>
      <p:sp>
        <p:nvSpPr>
          <p:cNvPr id="5" name="TextBox 4"/>
          <p:cNvSpPr txBox="1"/>
          <p:nvPr/>
        </p:nvSpPr>
        <p:spPr>
          <a:xfrm>
            <a:off x="548640" y="914400"/>
            <a:ext cx="10972800" cy="914400"/>
          </a:xfrm>
          <a:prstGeom prst="rect">
            <a:avLst/>
          </a:prstGeom>
          <a:noFill/>
        </p:spPr>
        <p:txBody>
          <a:bodyPr wrap="square" lIns="0" rIns="0" anchor="t">
            <a:spAutoFit/>
          </a:bodyPr>
          <a:lstStyle/>
          <a:p>
            <a:pPr algn="l"/>
            <a:r>
              <a:rPr sz="4000" b="1">
                <a:solidFill>
                  <a:srgbClr val="1A232E"/>
                </a:solidFill>
                <a:latin typeface="Plus Jakarta Sans"/>
              </a:rPr>
              <a:t>Architecture du pipeline</a:t>
            </a:r>
          </a:p>
        </p:txBody>
      </p:sp>
      <p:pic>
        <p:nvPicPr>
          <p:cNvPr id="6" name="Picture 5" descr="diagram_ml_pipeline.png"/>
          <p:cNvPicPr>
            <a:picLocks noChangeAspect="1"/>
          </p:cNvPicPr>
          <p:nvPr/>
        </p:nvPicPr>
        <p:blipFill>
          <a:blip r:embed="rId2"/>
          <a:stretch>
            <a:fillRect/>
          </a:stretch>
        </p:blipFill>
        <p:spPr>
          <a:xfrm>
            <a:off x="548640" y="1828800"/>
            <a:ext cx="11064240" cy="3502349"/>
          </a:xfrm>
          <a:prstGeom prst="rect">
            <a:avLst/>
          </a:prstGeom>
        </p:spPr>
      </p:pic>
      <p:sp>
        <p:nvSpPr>
          <p:cNvPr id="7" name="TextBox 6"/>
          <p:cNvSpPr txBox="1"/>
          <p:nvPr/>
        </p:nvSpPr>
        <p:spPr>
          <a:xfrm>
            <a:off x="548640" y="6446520"/>
            <a:ext cx="10972800" cy="274320"/>
          </a:xfrm>
          <a:prstGeom prst="rect">
            <a:avLst/>
          </a:prstGeom>
          <a:noFill/>
        </p:spPr>
        <p:txBody>
          <a:bodyPr wrap="square" lIns="0" rIns="0" anchor="t">
            <a:spAutoFit/>
          </a:bodyPr>
          <a:lstStyle/>
          <a:p>
            <a:pPr algn="ctr"/>
            <a:r>
              <a:rPr sz="1100" b="0">
                <a:solidFill>
                  <a:srgbClr val="B26835"/>
                </a:solidFill>
                <a:latin typeface="JetBrains Mono"/>
              </a:rPr>
              <a:t>fit() sur train UNIQUEMENT · transform() sur test → zéro leakage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48640" cy="365760"/>
          </a:xfrm>
          <a:prstGeom prst="rect">
            <a:avLst/>
          </a:prstGeom>
          <a:noFill/>
        </p:spPr>
        <p:txBody>
          <a:bodyPr wrap="square" lIns="0" rIns="0" anchor="t">
            <a:spAutoFit/>
          </a:bodyPr>
          <a:lstStyle/>
          <a:p>
            <a:pPr algn="l"/>
            <a:r>
              <a:rPr sz="1200" b="1">
                <a:solidFill>
                  <a:srgbClr val="B26835"/>
                </a:solidFill>
                <a:latin typeface="JetBrains Mono"/>
              </a:rPr>
              <a:t>03</a:t>
            </a:r>
          </a:p>
        </p:txBody>
      </p:sp>
      <p:sp>
        <p:nvSpPr>
          <p:cNvPr id="4" name="TextBox 3"/>
          <p:cNvSpPr txBox="1"/>
          <p:nvPr/>
        </p:nvSpPr>
        <p:spPr>
          <a:xfrm>
            <a:off x="1051560" y="502920"/>
            <a:ext cx="7315200" cy="365760"/>
          </a:xfrm>
          <a:prstGeom prst="rect">
            <a:avLst/>
          </a:prstGeom>
          <a:noFill/>
        </p:spPr>
        <p:txBody>
          <a:bodyPr wrap="square" lIns="0" rIns="0" anchor="t">
            <a:spAutoFit/>
          </a:bodyPr>
          <a:lstStyle/>
          <a:p>
            <a:pPr algn="l"/>
            <a:r>
              <a:rPr sz="1200" b="1">
                <a:solidFill>
                  <a:srgbClr val="37474F"/>
                </a:solidFill>
                <a:latin typeface="Plus Jakarta Sans"/>
              </a:rPr>
              <a:t>PIPELINE ML · 4 MODÈLES</a:t>
            </a:r>
          </a:p>
        </p:txBody>
      </p:sp>
      <p:sp>
        <p:nvSpPr>
          <p:cNvPr id="5" name="TextBox 4"/>
          <p:cNvSpPr txBox="1"/>
          <p:nvPr/>
        </p:nvSpPr>
        <p:spPr>
          <a:xfrm>
            <a:off x="548640" y="914400"/>
            <a:ext cx="10972800" cy="914400"/>
          </a:xfrm>
          <a:prstGeom prst="rect">
            <a:avLst/>
          </a:prstGeom>
          <a:noFill/>
        </p:spPr>
        <p:txBody>
          <a:bodyPr wrap="square" lIns="0" rIns="0" anchor="t">
            <a:spAutoFit/>
          </a:bodyPr>
          <a:lstStyle/>
          <a:p>
            <a:pPr algn="l"/>
            <a:r>
              <a:rPr sz="4000" b="1">
                <a:solidFill>
                  <a:srgbClr val="1A232E"/>
                </a:solidFill>
                <a:latin typeface="Plus Jakarta Sans"/>
              </a:rPr>
              <a:t>4 algorithmes, 4 philosophies</a:t>
            </a:r>
          </a:p>
        </p:txBody>
      </p:sp>
      <p:sp>
        <p:nvSpPr>
          <p:cNvPr id="6" name="Rectangle 5"/>
          <p:cNvSpPr/>
          <p:nvPr/>
        </p:nvSpPr>
        <p:spPr>
          <a:xfrm>
            <a:off x="548640" y="2194560"/>
            <a:ext cx="5486400" cy="1783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94560"/>
            <a:ext cx="137160" cy="1783080"/>
          </a:xfrm>
          <a:prstGeom prst="rect">
            <a:avLst/>
          </a:prstGeom>
          <a:solidFill>
            <a:srgbClr val="B268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331720"/>
            <a:ext cx="914400" cy="457200"/>
          </a:xfrm>
          <a:prstGeom prst="rect">
            <a:avLst/>
          </a:prstGeom>
          <a:noFill/>
        </p:spPr>
        <p:txBody>
          <a:bodyPr wrap="square" lIns="0" rIns="0" anchor="t">
            <a:spAutoFit/>
          </a:bodyPr>
          <a:lstStyle/>
          <a:p>
            <a:pPr algn="l"/>
            <a:r>
              <a:rPr sz="2200" b="1">
                <a:solidFill>
                  <a:srgbClr val="B26835"/>
                </a:solidFill>
                <a:latin typeface="JetBrains Mono"/>
              </a:rPr>
              <a:t>LR</a:t>
            </a:r>
          </a:p>
        </p:txBody>
      </p:sp>
      <p:sp>
        <p:nvSpPr>
          <p:cNvPr id="9" name="TextBox 8"/>
          <p:cNvSpPr txBox="1"/>
          <p:nvPr/>
        </p:nvSpPr>
        <p:spPr>
          <a:xfrm>
            <a:off x="2011680" y="2377440"/>
            <a:ext cx="3931920" cy="457200"/>
          </a:xfrm>
          <a:prstGeom prst="rect">
            <a:avLst/>
          </a:prstGeom>
          <a:noFill/>
        </p:spPr>
        <p:txBody>
          <a:bodyPr wrap="square" lIns="0" rIns="0" anchor="t">
            <a:spAutoFit/>
          </a:bodyPr>
          <a:lstStyle/>
          <a:p>
            <a:pPr algn="l"/>
            <a:r>
              <a:rPr sz="1800" b="1">
                <a:solidFill>
                  <a:srgbClr val="1A232E"/>
                </a:solidFill>
                <a:latin typeface="Plus Jakarta Sans"/>
              </a:rPr>
              <a:t>Logistic Regression</a:t>
            </a:r>
          </a:p>
        </p:txBody>
      </p:sp>
      <p:sp>
        <p:nvSpPr>
          <p:cNvPr id="10" name="TextBox 9"/>
          <p:cNvSpPr txBox="1"/>
          <p:nvPr/>
        </p:nvSpPr>
        <p:spPr>
          <a:xfrm>
            <a:off x="914400" y="2971800"/>
            <a:ext cx="4937760" cy="914400"/>
          </a:xfrm>
          <a:prstGeom prst="rect">
            <a:avLst/>
          </a:prstGeom>
          <a:noFill/>
        </p:spPr>
        <p:txBody>
          <a:bodyPr wrap="square" lIns="0" rIns="0" anchor="t">
            <a:spAutoFit/>
          </a:bodyPr>
          <a:lstStyle/>
          <a:p>
            <a:pPr algn="l"/>
            <a:r>
              <a:rPr sz="1200" b="0">
                <a:solidFill>
                  <a:srgbClr val="1A1A1A"/>
                </a:solidFill>
                <a:latin typeface="Inter"/>
              </a:rPr>
              <a:t>Baseline linéaire · interprétable, rapide.
class_weight=balanced pour le déséquilibre.</a:t>
            </a:r>
          </a:p>
        </p:txBody>
      </p:sp>
      <p:sp>
        <p:nvSpPr>
          <p:cNvPr id="11" name="Rectangle 10"/>
          <p:cNvSpPr/>
          <p:nvPr/>
        </p:nvSpPr>
        <p:spPr>
          <a:xfrm>
            <a:off x="6355079" y="2194560"/>
            <a:ext cx="5486400" cy="1783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55079" y="2194560"/>
            <a:ext cx="137160" cy="1783080"/>
          </a:xfrm>
          <a:prstGeom prst="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2331720"/>
            <a:ext cx="914400" cy="457200"/>
          </a:xfrm>
          <a:prstGeom prst="rect">
            <a:avLst/>
          </a:prstGeom>
          <a:noFill/>
        </p:spPr>
        <p:txBody>
          <a:bodyPr wrap="square" lIns="0" rIns="0" anchor="t">
            <a:spAutoFit/>
          </a:bodyPr>
          <a:lstStyle/>
          <a:p>
            <a:pPr algn="l"/>
            <a:r>
              <a:rPr sz="2200" b="1">
                <a:solidFill>
                  <a:srgbClr val="37474F"/>
                </a:solidFill>
                <a:latin typeface="JetBrains Mono"/>
              </a:rPr>
              <a:t>RF</a:t>
            </a:r>
          </a:p>
        </p:txBody>
      </p:sp>
      <p:sp>
        <p:nvSpPr>
          <p:cNvPr id="14" name="TextBox 13"/>
          <p:cNvSpPr txBox="1"/>
          <p:nvPr/>
        </p:nvSpPr>
        <p:spPr>
          <a:xfrm>
            <a:off x="7818119" y="2377440"/>
            <a:ext cx="3931920" cy="457200"/>
          </a:xfrm>
          <a:prstGeom prst="rect">
            <a:avLst/>
          </a:prstGeom>
          <a:noFill/>
        </p:spPr>
        <p:txBody>
          <a:bodyPr wrap="square" lIns="0" rIns="0" anchor="t">
            <a:spAutoFit/>
          </a:bodyPr>
          <a:lstStyle/>
          <a:p>
            <a:pPr algn="l"/>
            <a:r>
              <a:rPr sz="1800" b="1">
                <a:solidFill>
                  <a:srgbClr val="1A232E"/>
                </a:solidFill>
                <a:latin typeface="Plus Jakarta Sans"/>
              </a:rPr>
              <a:t>Random Forest</a:t>
            </a:r>
          </a:p>
        </p:txBody>
      </p:sp>
      <p:sp>
        <p:nvSpPr>
          <p:cNvPr id="15" name="TextBox 14"/>
          <p:cNvSpPr txBox="1"/>
          <p:nvPr/>
        </p:nvSpPr>
        <p:spPr>
          <a:xfrm>
            <a:off x="6720840" y="2971800"/>
            <a:ext cx="4937760" cy="914400"/>
          </a:xfrm>
          <a:prstGeom prst="rect">
            <a:avLst/>
          </a:prstGeom>
          <a:noFill/>
        </p:spPr>
        <p:txBody>
          <a:bodyPr wrap="square" lIns="0" rIns="0" anchor="t">
            <a:spAutoFit/>
          </a:bodyPr>
          <a:lstStyle/>
          <a:p>
            <a:pPr algn="l"/>
            <a:r>
              <a:rPr sz="1200" b="0">
                <a:solidFill>
                  <a:srgbClr val="1A1A1A"/>
                </a:solidFill>
                <a:latin typeface="Inter"/>
              </a:rPr>
              <a:t>Bagging · 200 arbres · capture les non-linéarités.
Robuste au bruit, peu sensible aux outliers.</a:t>
            </a:r>
          </a:p>
        </p:txBody>
      </p:sp>
      <p:sp>
        <p:nvSpPr>
          <p:cNvPr id="16" name="Rectangle 15"/>
          <p:cNvSpPr/>
          <p:nvPr/>
        </p:nvSpPr>
        <p:spPr>
          <a:xfrm>
            <a:off x="548640" y="4251960"/>
            <a:ext cx="5486400" cy="1783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251960"/>
            <a:ext cx="137160" cy="1783080"/>
          </a:xfrm>
          <a:prstGeom prst="rect">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389120"/>
            <a:ext cx="914400" cy="457200"/>
          </a:xfrm>
          <a:prstGeom prst="rect">
            <a:avLst/>
          </a:prstGeom>
          <a:noFill/>
        </p:spPr>
        <p:txBody>
          <a:bodyPr wrap="square" lIns="0" rIns="0" anchor="t">
            <a:spAutoFit/>
          </a:bodyPr>
          <a:lstStyle/>
          <a:p>
            <a:pPr algn="l"/>
            <a:r>
              <a:rPr sz="2200" b="1">
                <a:solidFill>
                  <a:srgbClr val="E53935"/>
                </a:solidFill>
                <a:latin typeface="JetBrains Mono"/>
              </a:rPr>
              <a:t>XGB</a:t>
            </a:r>
          </a:p>
        </p:txBody>
      </p:sp>
      <p:sp>
        <p:nvSpPr>
          <p:cNvPr id="19" name="TextBox 18"/>
          <p:cNvSpPr txBox="1"/>
          <p:nvPr/>
        </p:nvSpPr>
        <p:spPr>
          <a:xfrm>
            <a:off x="2011680" y="4434840"/>
            <a:ext cx="3931920" cy="457200"/>
          </a:xfrm>
          <a:prstGeom prst="rect">
            <a:avLst/>
          </a:prstGeom>
          <a:noFill/>
        </p:spPr>
        <p:txBody>
          <a:bodyPr wrap="square" lIns="0" rIns="0" anchor="t">
            <a:spAutoFit/>
          </a:bodyPr>
          <a:lstStyle/>
          <a:p>
            <a:pPr algn="l"/>
            <a:r>
              <a:rPr sz="1800" b="1">
                <a:solidFill>
                  <a:srgbClr val="1A232E"/>
                </a:solidFill>
                <a:latin typeface="Plus Jakarta Sans"/>
              </a:rPr>
              <a:t>XGBoost ★</a:t>
            </a:r>
          </a:p>
        </p:txBody>
      </p:sp>
      <p:sp>
        <p:nvSpPr>
          <p:cNvPr id="20" name="TextBox 19"/>
          <p:cNvSpPr txBox="1"/>
          <p:nvPr/>
        </p:nvSpPr>
        <p:spPr>
          <a:xfrm>
            <a:off x="914400" y="5029200"/>
            <a:ext cx="4937760" cy="914400"/>
          </a:xfrm>
          <a:prstGeom prst="rect">
            <a:avLst/>
          </a:prstGeom>
          <a:noFill/>
        </p:spPr>
        <p:txBody>
          <a:bodyPr wrap="square" lIns="0" rIns="0" anchor="t">
            <a:spAutoFit/>
          </a:bodyPr>
          <a:lstStyle/>
          <a:p>
            <a:pPr algn="l"/>
            <a:r>
              <a:rPr sz="1200" b="0">
                <a:solidFill>
                  <a:srgbClr val="1A1A1A"/>
                </a:solidFill>
                <a:latin typeface="Inter"/>
              </a:rPr>
              <a:t>Gradient boosting séquentiel.
Typiquement le meilleur sur tabular data.</a:t>
            </a:r>
          </a:p>
        </p:txBody>
      </p:sp>
      <p:sp>
        <p:nvSpPr>
          <p:cNvPr id="21" name="Rectangle 20"/>
          <p:cNvSpPr/>
          <p:nvPr/>
        </p:nvSpPr>
        <p:spPr>
          <a:xfrm>
            <a:off x="6355079" y="4251960"/>
            <a:ext cx="5486400" cy="1783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55079" y="4251960"/>
            <a:ext cx="137160" cy="17830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0840" y="4389120"/>
            <a:ext cx="914400" cy="457200"/>
          </a:xfrm>
          <a:prstGeom prst="rect">
            <a:avLst/>
          </a:prstGeom>
          <a:noFill/>
        </p:spPr>
        <p:txBody>
          <a:bodyPr wrap="square" lIns="0" rIns="0" anchor="t">
            <a:spAutoFit/>
          </a:bodyPr>
          <a:lstStyle/>
          <a:p>
            <a:pPr algn="l"/>
            <a:r>
              <a:rPr sz="2200" b="1">
                <a:solidFill>
                  <a:srgbClr val="2E7D32"/>
                </a:solidFill>
                <a:latin typeface="JetBrains Mono"/>
              </a:rPr>
              <a:t>MLP</a:t>
            </a:r>
          </a:p>
        </p:txBody>
      </p:sp>
      <p:sp>
        <p:nvSpPr>
          <p:cNvPr id="24" name="TextBox 23"/>
          <p:cNvSpPr txBox="1"/>
          <p:nvPr/>
        </p:nvSpPr>
        <p:spPr>
          <a:xfrm>
            <a:off x="7818119" y="4434840"/>
            <a:ext cx="3931920" cy="457200"/>
          </a:xfrm>
          <a:prstGeom prst="rect">
            <a:avLst/>
          </a:prstGeom>
          <a:noFill/>
        </p:spPr>
        <p:txBody>
          <a:bodyPr wrap="square" lIns="0" rIns="0" anchor="t">
            <a:spAutoFit/>
          </a:bodyPr>
          <a:lstStyle/>
          <a:p>
            <a:pPr algn="l"/>
            <a:r>
              <a:rPr sz="1800" b="1">
                <a:solidFill>
                  <a:srgbClr val="1A232E"/>
                </a:solidFill>
                <a:latin typeface="Plus Jakarta Sans"/>
              </a:rPr>
              <a:t>Multi-Layer Perceptron</a:t>
            </a:r>
          </a:p>
        </p:txBody>
      </p:sp>
      <p:sp>
        <p:nvSpPr>
          <p:cNvPr id="25" name="TextBox 24"/>
          <p:cNvSpPr txBox="1"/>
          <p:nvPr/>
        </p:nvSpPr>
        <p:spPr>
          <a:xfrm>
            <a:off x="6720840" y="5029200"/>
            <a:ext cx="4937760" cy="914400"/>
          </a:xfrm>
          <a:prstGeom prst="rect">
            <a:avLst/>
          </a:prstGeom>
          <a:noFill/>
        </p:spPr>
        <p:txBody>
          <a:bodyPr wrap="square" lIns="0" rIns="0" anchor="t">
            <a:spAutoFit/>
          </a:bodyPr>
          <a:lstStyle/>
          <a:p>
            <a:pPr algn="l"/>
            <a:r>
              <a:rPr sz="1200" b="0">
                <a:solidFill>
                  <a:srgbClr val="1A1A1A"/>
                </a:solidFill>
                <a:latin typeface="Inter"/>
              </a:rPr>
              <a:t>Deep Learning exigé par le sujet.
Archi 64-32 · early stopping · adaptive LR.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48640" cy="365760"/>
          </a:xfrm>
          <a:prstGeom prst="rect">
            <a:avLst/>
          </a:prstGeom>
          <a:noFill/>
        </p:spPr>
        <p:txBody>
          <a:bodyPr wrap="square" lIns="0" rIns="0" anchor="t">
            <a:spAutoFit/>
          </a:bodyPr>
          <a:lstStyle/>
          <a:p>
            <a:pPr algn="l"/>
            <a:r>
              <a:rPr sz="1200" b="1">
                <a:solidFill>
                  <a:srgbClr val="B26835"/>
                </a:solidFill>
                <a:latin typeface="JetBrains Mono"/>
              </a:rPr>
              <a:t>04</a:t>
            </a:r>
          </a:p>
        </p:txBody>
      </p:sp>
      <p:sp>
        <p:nvSpPr>
          <p:cNvPr id="4" name="TextBox 3"/>
          <p:cNvSpPr txBox="1"/>
          <p:nvPr/>
        </p:nvSpPr>
        <p:spPr>
          <a:xfrm>
            <a:off x="1051560" y="502920"/>
            <a:ext cx="7315200" cy="365760"/>
          </a:xfrm>
          <a:prstGeom prst="rect">
            <a:avLst/>
          </a:prstGeom>
          <a:noFill/>
        </p:spPr>
        <p:txBody>
          <a:bodyPr wrap="square" lIns="0" rIns="0" anchor="t">
            <a:spAutoFit/>
          </a:bodyPr>
          <a:lstStyle/>
          <a:p>
            <a:pPr algn="l"/>
            <a:r>
              <a:rPr sz="1200" b="1">
                <a:solidFill>
                  <a:srgbClr val="37474F"/>
                </a:solidFill>
                <a:latin typeface="Plus Jakarta Sans"/>
              </a:rPr>
              <a:t>RÉSULTATS</a:t>
            </a:r>
          </a:p>
        </p:txBody>
      </p:sp>
      <p:sp>
        <p:nvSpPr>
          <p:cNvPr id="5" name="TextBox 4"/>
          <p:cNvSpPr txBox="1"/>
          <p:nvPr/>
        </p:nvSpPr>
        <p:spPr>
          <a:xfrm>
            <a:off x="548640" y="914400"/>
            <a:ext cx="10972800" cy="914400"/>
          </a:xfrm>
          <a:prstGeom prst="rect">
            <a:avLst/>
          </a:prstGeom>
          <a:noFill/>
        </p:spPr>
        <p:txBody>
          <a:bodyPr wrap="square" lIns="0" rIns="0" anchor="t">
            <a:spAutoFit/>
          </a:bodyPr>
          <a:lstStyle/>
          <a:p>
            <a:pPr algn="l"/>
            <a:r>
              <a:rPr sz="4000" b="1">
                <a:solidFill>
                  <a:srgbClr val="1A232E"/>
                </a:solidFill>
                <a:latin typeface="Plus Jakarta Sans"/>
              </a:rPr>
              <a:t>Comparaison rigoureuse</a:t>
            </a:r>
          </a:p>
        </p:txBody>
      </p:sp>
      <p:pic>
        <p:nvPicPr>
          <p:cNvPr id="6" name="Picture 5" descr="metrics_comparison_barplot.png"/>
          <p:cNvPicPr>
            <a:picLocks noChangeAspect="1"/>
          </p:cNvPicPr>
          <p:nvPr/>
        </p:nvPicPr>
        <p:blipFill>
          <a:blip r:embed="rId2"/>
          <a:stretch>
            <a:fillRect/>
          </a:stretch>
        </p:blipFill>
        <p:spPr>
          <a:xfrm>
            <a:off x="548640" y="1828800"/>
            <a:ext cx="8456131" cy="4572000"/>
          </a:xfrm>
          <a:prstGeom prst="rect">
            <a:avLst/>
          </a:prstGeom>
        </p:spPr>
      </p:pic>
      <p:sp>
        <p:nvSpPr>
          <p:cNvPr id="7" name="TextBox 6"/>
          <p:cNvSpPr txBox="1"/>
          <p:nvPr/>
        </p:nvSpPr>
        <p:spPr>
          <a:xfrm>
            <a:off x="548640" y="6446520"/>
            <a:ext cx="10972800" cy="274320"/>
          </a:xfrm>
          <a:prstGeom prst="rect">
            <a:avLst/>
          </a:prstGeom>
          <a:noFill/>
        </p:spPr>
        <p:txBody>
          <a:bodyPr wrap="square" lIns="0" rIns="0" anchor="t">
            <a:spAutoFit/>
          </a:bodyPr>
          <a:lstStyle/>
          <a:p>
            <a:pPr algn="ctr"/>
            <a:r>
              <a:rPr sz="1400" b="1">
                <a:solidFill>
                  <a:srgbClr val="B26835"/>
                </a:solidFill>
                <a:latin typeface="Plus Jakarta Sans"/>
              </a:rPr>
              <a:t>Modèle final retenu · XGBoost (F1 = 0.886, PR-AUC = 0.974)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48640" cy="365760"/>
          </a:xfrm>
          <a:prstGeom prst="rect">
            <a:avLst/>
          </a:prstGeom>
          <a:noFill/>
        </p:spPr>
        <p:txBody>
          <a:bodyPr wrap="square" lIns="0" rIns="0" anchor="t">
            <a:spAutoFit/>
          </a:bodyPr>
          <a:lstStyle/>
          <a:p>
            <a:pPr algn="l"/>
            <a:r>
              <a:rPr sz="1200" b="1">
                <a:solidFill>
                  <a:srgbClr val="B26835"/>
                </a:solidFill>
                <a:latin typeface="JetBrains Mono"/>
              </a:rPr>
              <a:t>04</a:t>
            </a:r>
          </a:p>
        </p:txBody>
      </p:sp>
      <p:sp>
        <p:nvSpPr>
          <p:cNvPr id="4" name="TextBox 3"/>
          <p:cNvSpPr txBox="1"/>
          <p:nvPr/>
        </p:nvSpPr>
        <p:spPr>
          <a:xfrm>
            <a:off x="1051560" y="502920"/>
            <a:ext cx="7315200" cy="365760"/>
          </a:xfrm>
          <a:prstGeom prst="rect">
            <a:avLst/>
          </a:prstGeom>
          <a:noFill/>
        </p:spPr>
        <p:txBody>
          <a:bodyPr wrap="square" lIns="0" rIns="0" anchor="t">
            <a:spAutoFit/>
          </a:bodyPr>
          <a:lstStyle/>
          <a:p>
            <a:pPr algn="l"/>
            <a:r>
              <a:rPr sz="1200" b="1">
                <a:solidFill>
                  <a:srgbClr val="37474F"/>
                </a:solidFill>
                <a:latin typeface="Plus Jakarta Sans"/>
              </a:rPr>
              <a:t>RÉSULTATS · COURBES</a:t>
            </a:r>
          </a:p>
        </p:txBody>
      </p:sp>
      <p:sp>
        <p:nvSpPr>
          <p:cNvPr id="5" name="TextBox 4"/>
          <p:cNvSpPr txBox="1"/>
          <p:nvPr/>
        </p:nvSpPr>
        <p:spPr>
          <a:xfrm>
            <a:off x="548640" y="914400"/>
            <a:ext cx="10972800" cy="914400"/>
          </a:xfrm>
          <a:prstGeom prst="rect">
            <a:avLst/>
          </a:prstGeom>
          <a:noFill/>
        </p:spPr>
        <p:txBody>
          <a:bodyPr wrap="square" lIns="0" rIns="0" anchor="t">
            <a:spAutoFit/>
          </a:bodyPr>
          <a:lstStyle/>
          <a:p>
            <a:pPr algn="l"/>
            <a:r>
              <a:rPr sz="3600" b="1">
                <a:solidFill>
                  <a:srgbClr val="1A232E"/>
                </a:solidFill>
                <a:latin typeface="Plus Jakarta Sans"/>
              </a:rPr>
              <a:t>ROC vs Precision-Recall</a:t>
            </a:r>
          </a:p>
        </p:txBody>
      </p:sp>
      <p:pic>
        <p:nvPicPr>
          <p:cNvPr id="6" name="Picture 5" descr="roc_curves_comparison.png"/>
          <p:cNvPicPr>
            <a:picLocks noChangeAspect="1"/>
          </p:cNvPicPr>
          <p:nvPr/>
        </p:nvPicPr>
        <p:blipFill>
          <a:blip r:embed="rId2"/>
          <a:stretch>
            <a:fillRect/>
          </a:stretch>
        </p:blipFill>
        <p:spPr>
          <a:xfrm>
            <a:off x="548640" y="1828800"/>
            <a:ext cx="5486400" cy="4092808"/>
          </a:xfrm>
          <a:prstGeom prst="rect">
            <a:avLst/>
          </a:prstGeom>
        </p:spPr>
      </p:pic>
      <p:pic>
        <p:nvPicPr>
          <p:cNvPr id="7" name="Picture 6" descr="pr_curves_comparison.png"/>
          <p:cNvPicPr>
            <a:picLocks noChangeAspect="1"/>
          </p:cNvPicPr>
          <p:nvPr/>
        </p:nvPicPr>
        <p:blipFill>
          <a:blip r:embed="rId3"/>
          <a:stretch>
            <a:fillRect/>
          </a:stretch>
        </p:blipFill>
        <p:spPr>
          <a:xfrm>
            <a:off x="6400800" y="1828800"/>
            <a:ext cx="5486400" cy="4083548"/>
          </a:xfrm>
          <a:prstGeom prst="rect">
            <a:avLst/>
          </a:prstGeom>
        </p:spPr>
      </p:pic>
      <p:sp>
        <p:nvSpPr>
          <p:cNvPr id="8" name="TextBox 7"/>
          <p:cNvSpPr txBox="1"/>
          <p:nvPr/>
        </p:nvSpPr>
        <p:spPr>
          <a:xfrm>
            <a:off x="548640" y="6309360"/>
            <a:ext cx="10972800" cy="365760"/>
          </a:xfrm>
          <a:prstGeom prst="rect">
            <a:avLst/>
          </a:prstGeom>
          <a:noFill/>
        </p:spPr>
        <p:txBody>
          <a:bodyPr wrap="square" lIns="0" rIns="0" anchor="t">
            <a:spAutoFit/>
          </a:bodyPr>
          <a:lstStyle/>
          <a:p>
            <a:pPr algn="ctr"/>
            <a:r>
              <a:rPr sz="1200" b="0">
                <a:solidFill>
                  <a:srgbClr val="4A4A4A"/>
                </a:solidFill>
                <a:latin typeface="Inter"/>
              </a:rPr>
              <a:t>Sur classes déséquilibrées, la PR-AUC est plus parlante que la ROC-AUC.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48640" cy="365760"/>
          </a:xfrm>
          <a:prstGeom prst="rect">
            <a:avLst/>
          </a:prstGeom>
          <a:noFill/>
        </p:spPr>
        <p:txBody>
          <a:bodyPr wrap="square" lIns="0" rIns="0" anchor="t">
            <a:spAutoFit/>
          </a:bodyPr>
          <a:lstStyle/>
          <a:p>
            <a:pPr algn="l"/>
            <a:r>
              <a:rPr sz="1200" b="1">
                <a:solidFill>
                  <a:srgbClr val="B26835"/>
                </a:solidFill>
                <a:latin typeface="JetBrains Mono"/>
              </a:rPr>
              <a:t>04</a:t>
            </a:r>
          </a:p>
        </p:txBody>
      </p:sp>
      <p:sp>
        <p:nvSpPr>
          <p:cNvPr id="4" name="TextBox 3"/>
          <p:cNvSpPr txBox="1"/>
          <p:nvPr/>
        </p:nvSpPr>
        <p:spPr>
          <a:xfrm>
            <a:off x="1051560" y="502920"/>
            <a:ext cx="7315200" cy="365760"/>
          </a:xfrm>
          <a:prstGeom prst="rect">
            <a:avLst/>
          </a:prstGeom>
          <a:noFill/>
        </p:spPr>
        <p:txBody>
          <a:bodyPr wrap="square" lIns="0" rIns="0" anchor="t">
            <a:spAutoFit/>
          </a:bodyPr>
          <a:lstStyle/>
          <a:p>
            <a:pPr algn="l"/>
            <a:r>
              <a:rPr sz="1200" b="1">
                <a:solidFill>
                  <a:srgbClr val="37474F"/>
                </a:solidFill>
                <a:latin typeface="Plus Jakarta Sans"/>
              </a:rPr>
              <a:t>RÉSULTATS · MATRICES DE CONFUSION</a:t>
            </a:r>
          </a:p>
        </p:txBody>
      </p:sp>
      <p:sp>
        <p:nvSpPr>
          <p:cNvPr id="5" name="TextBox 4"/>
          <p:cNvSpPr txBox="1"/>
          <p:nvPr/>
        </p:nvSpPr>
        <p:spPr>
          <a:xfrm>
            <a:off x="548640" y="914400"/>
            <a:ext cx="10972800" cy="914400"/>
          </a:xfrm>
          <a:prstGeom prst="rect">
            <a:avLst/>
          </a:prstGeom>
          <a:noFill/>
        </p:spPr>
        <p:txBody>
          <a:bodyPr wrap="square" lIns="0" rIns="0" anchor="t">
            <a:spAutoFit/>
          </a:bodyPr>
          <a:lstStyle/>
          <a:p>
            <a:pPr algn="l"/>
            <a:r>
              <a:rPr sz="3600" b="1">
                <a:solidFill>
                  <a:srgbClr val="1A232E"/>
                </a:solidFill>
                <a:latin typeface="Plus Jakarta Sans"/>
              </a:rPr>
              <a:t>Où le modèle se trompe</a:t>
            </a:r>
          </a:p>
        </p:txBody>
      </p:sp>
      <p:pic>
        <p:nvPicPr>
          <p:cNvPr id="6" name="Picture 5" descr="confusion_matrix_logistic_regression.png"/>
          <p:cNvPicPr>
            <a:picLocks noChangeAspect="1"/>
          </p:cNvPicPr>
          <p:nvPr/>
        </p:nvPicPr>
        <p:blipFill>
          <a:blip r:embed="rId2"/>
          <a:stretch>
            <a:fillRect/>
          </a:stretch>
        </p:blipFill>
        <p:spPr>
          <a:xfrm>
            <a:off x="548640" y="1828800"/>
            <a:ext cx="2650260" cy="2194560"/>
          </a:xfrm>
          <a:prstGeom prst="rect">
            <a:avLst/>
          </a:prstGeom>
        </p:spPr>
      </p:pic>
      <p:pic>
        <p:nvPicPr>
          <p:cNvPr id="7" name="Picture 6" descr="confusion_matrix_random_forest.png"/>
          <p:cNvPicPr>
            <a:picLocks noChangeAspect="1"/>
          </p:cNvPicPr>
          <p:nvPr/>
        </p:nvPicPr>
        <p:blipFill>
          <a:blip r:embed="rId3"/>
          <a:stretch>
            <a:fillRect/>
          </a:stretch>
        </p:blipFill>
        <p:spPr>
          <a:xfrm>
            <a:off x="6355079" y="1828800"/>
            <a:ext cx="2650260" cy="2194560"/>
          </a:xfrm>
          <a:prstGeom prst="rect">
            <a:avLst/>
          </a:prstGeom>
        </p:spPr>
      </p:pic>
      <p:pic>
        <p:nvPicPr>
          <p:cNvPr id="8" name="Picture 7" descr="confusion_matrix_xgboost.png"/>
          <p:cNvPicPr>
            <a:picLocks noChangeAspect="1"/>
          </p:cNvPicPr>
          <p:nvPr/>
        </p:nvPicPr>
        <p:blipFill>
          <a:blip r:embed="rId4"/>
          <a:stretch>
            <a:fillRect/>
          </a:stretch>
        </p:blipFill>
        <p:spPr>
          <a:xfrm>
            <a:off x="548640" y="4160520"/>
            <a:ext cx="2650260" cy="2194560"/>
          </a:xfrm>
          <a:prstGeom prst="rect">
            <a:avLst/>
          </a:prstGeom>
        </p:spPr>
      </p:pic>
      <p:pic>
        <p:nvPicPr>
          <p:cNvPr id="9" name="Picture 8" descr="confusion_matrix_mlp.png"/>
          <p:cNvPicPr>
            <a:picLocks noChangeAspect="1"/>
          </p:cNvPicPr>
          <p:nvPr/>
        </p:nvPicPr>
        <p:blipFill>
          <a:blip r:embed="rId5"/>
          <a:stretch>
            <a:fillRect/>
          </a:stretch>
        </p:blipFill>
        <p:spPr>
          <a:xfrm>
            <a:off x="6355079" y="4160520"/>
            <a:ext cx="2650260" cy="219456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48640" cy="365760"/>
          </a:xfrm>
          <a:prstGeom prst="rect">
            <a:avLst/>
          </a:prstGeom>
          <a:noFill/>
        </p:spPr>
        <p:txBody>
          <a:bodyPr wrap="square" lIns="0" rIns="0" anchor="t">
            <a:spAutoFit/>
          </a:bodyPr>
          <a:lstStyle/>
          <a:p>
            <a:pPr algn="l"/>
            <a:r>
              <a:rPr sz="1200" b="1">
                <a:solidFill>
                  <a:srgbClr val="B26835"/>
                </a:solidFill>
                <a:latin typeface="JetBrains Mono"/>
              </a:rPr>
              <a:t>04</a:t>
            </a:r>
          </a:p>
        </p:txBody>
      </p:sp>
      <p:sp>
        <p:nvSpPr>
          <p:cNvPr id="4" name="TextBox 3"/>
          <p:cNvSpPr txBox="1"/>
          <p:nvPr/>
        </p:nvSpPr>
        <p:spPr>
          <a:xfrm>
            <a:off x="1051560" y="502920"/>
            <a:ext cx="7315200" cy="365760"/>
          </a:xfrm>
          <a:prstGeom prst="rect">
            <a:avLst/>
          </a:prstGeom>
          <a:noFill/>
        </p:spPr>
        <p:txBody>
          <a:bodyPr wrap="square" lIns="0" rIns="0" anchor="t">
            <a:spAutoFit/>
          </a:bodyPr>
          <a:lstStyle/>
          <a:p>
            <a:pPr algn="l"/>
            <a:r>
              <a:rPr sz="1200" b="1">
                <a:solidFill>
                  <a:srgbClr val="37474F"/>
                </a:solidFill>
                <a:latin typeface="Plus Jakarta Sans"/>
              </a:rPr>
              <a:t>RÉSULTATS · ÉCORESPONSABILITÉ C4.3</a:t>
            </a:r>
          </a:p>
        </p:txBody>
      </p:sp>
      <p:sp>
        <p:nvSpPr>
          <p:cNvPr id="5" name="TextBox 4"/>
          <p:cNvSpPr txBox="1"/>
          <p:nvPr/>
        </p:nvSpPr>
        <p:spPr>
          <a:xfrm>
            <a:off x="548640" y="914400"/>
            <a:ext cx="10972800" cy="914400"/>
          </a:xfrm>
          <a:prstGeom prst="rect">
            <a:avLst/>
          </a:prstGeom>
          <a:noFill/>
        </p:spPr>
        <p:txBody>
          <a:bodyPr wrap="square" lIns="0" rIns="0" anchor="t">
            <a:spAutoFit/>
          </a:bodyPr>
          <a:lstStyle/>
          <a:p>
            <a:pPr algn="l"/>
            <a:r>
              <a:rPr sz="4000" b="1">
                <a:solidFill>
                  <a:srgbClr val="1A232E"/>
                </a:solidFill>
                <a:latin typeface="Plus Jakarta Sans"/>
              </a:rPr>
              <a:t>Coût computationnel</a:t>
            </a:r>
          </a:p>
        </p:txBody>
      </p:sp>
      <p:pic>
        <p:nvPicPr>
          <p:cNvPr id="6" name="Picture 5" descr="compute_cost_comparison.png"/>
          <p:cNvPicPr>
            <a:picLocks noChangeAspect="1"/>
          </p:cNvPicPr>
          <p:nvPr/>
        </p:nvPicPr>
        <p:blipFill>
          <a:blip r:embed="rId2"/>
          <a:stretch>
            <a:fillRect/>
          </a:stretch>
        </p:blipFill>
        <p:spPr>
          <a:xfrm>
            <a:off x="548640" y="1828800"/>
            <a:ext cx="10992517" cy="4572000"/>
          </a:xfrm>
          <a:prstGeom prst="rect">
            <a:avLst/>
          </a:prstGeom>
        </p:spPr>
      </p:pic>
      <p:sp>
        <p:nvSpPr>
          <p:cNvPr id="7" name="TextBox 6"/>
          <p:cNvSpPr txBox="1"/>
          <p:nvPr/>
        </p:nvSpPr>
        <p:spPr>
          <a:xfrm>
            <a:off x="548640" y="6446520"/>
            <a:ext cx="10972800" cy="274320"/>
          </a:xfrm>
          <a:prstGeom prst="rect">
            <a:avLst/>
          </a:prstGeom>
          <a:noFill/>
        </p:spPr>
        <p:txBody>
          <a:bodyPr wrap="square" lIns="0" rIns="0" anchor="t">
            <a:spAutoFit/>
          </a:bodyPr>
          <a:lstStyle/>
          <a:p>
            <a:pPr algn="ctr"/>
            <a:r>
              <a:rPr sz="1200" b="0">
                <a:solidFill>
                  <a:srgbClr val="4A4A4A"/>
                </a:solidFill>
                <a:latin typeface="Inter"/>
              </a:rPr>
              <a:t>Le modèle final équilibre F1 et coût · XGBoost ~2× plus rapide que MLP, F1 supérieur.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48640" cy="365760"/>
          </a:xfrm>
          <a:prstGeom prst="rect">
            <a:avLst/>
          </a:prstGeom>
          <a:noFill/>
        </p:spPr>
        <p:txBody>
          <a:bodyPr wrap="square" lIns="0" rIns="0" anchor="t">
            <a:spAutoFit/>
          </a:bodyPr>
          <a:lstStyle/>
          <a:p>
            <a:pPr algn="l"/>
            <a:r>
              <a:rPr sz="1200" b="1">
                <a:solidFill>
                  <a:srgbClr val="B26835"/>
                </a:solidFill>
                <a:latin typeface="JetBrains Mono"/>
              </a:rPr>
              <a:t>05</a:t>
            </a:r>
          </a:p>
        </p:txBody>
      </p:sp>
      <p:sp>
        <p:nvSpPr>
          <p:cNvPr id="4" name="TextBox 3"/>
          <p:cNvSpPr txBox="1"/>
          <p:nvPr/>
        </p:nvSpPr>
        <p:spPr>
          <a:xfrm>
            <a:off x="1051560" y="502920"/>
            <a:ext cx="7315200" cy="365760"/>
          </a:xfrm>
          <a:prstGeom prst="rect">
            <a:avLst/>
          </a:prstGeom>
          <a:noFill/>
        </p:spPr>
        <p:txBody>
          <a:bodyPr wrap="square" lIns="0" rIns="0" anchor="t">
            <a:spAutoFit/>
          </a:bodyPr>
          <a:lstStyle/>
          <a:p>
            <a:pPr algn="l"/>
            <a:r>
              <a:rPr sz="1200" b="1">
                <a:solidFill>
                  <a:srgbClr val="37474F"/>
                </a:solidFill>
                <a:latin typeface="Plus Jakarta Sans"/>
              </a:rPr>
              <a:t>INTERPRÉTABILITÉ</a:t>
            </a:r>
          </a:p>
        </p:txBody>
      </p:sp>
      <p:sp>
        <p:nvSpPr>
          <p:cNvPr id="5" name="TextBox 4"/>
          <p:cNvSpPr txBox="1"/>
          <p:nvPr/>
        </p:nvSpPr>
        <p:spPr>
          <a:xfrm>
            <a:off x="548640" y="914400"/>
            <a:ext cx="10972800" cy="914400"/>
          </a:xfrm>
          <a:prstGeom prst="rect">
            <a:avLst/>
          </a:prstGeom>
          <a:noFill/>
        </p:spPr>
        <p:txBody>
          <a:bodyPr wrap="square" lIns="0" rIns="0" anchor="t">
            <a:spAutoFit/>
          </a:bodyPr>
          <a:lstStyle/>
          <a:p>
            <a:pPr algn="l"/>
            <a:r>
              <a:rPr sz="3600" b="1">
                <a:solidFill>
                  <a:srgbClr val="1A232E"/>
                </a:solidFill>
                <a:latin typeface="Plus Jakarta Sans"/>
              </a:rPr>
              <a:t>Quelles variables comptent ?</a:t>
            </a:r>
          </a:p>
        </p:txBody>
      </p:sp>
      <p:sp>
        <p:nvSpPr>
          <p:cNvPr id="6" name="TextBox 5"/>
          <p:cNvSpPr txBox="1"/>
          <p:nvPr/>
        </p:nvSpPr>
        <p:spPr>
          <a:xfrm>
            <a:off x="548640" y="1828800"/>
            <a:ext cx="5486400" cy="274320"/>
          </a:xfrm>
          <a:prstGeom prst="rect">
            <a:avLst/>
          </a:prstGeom>
          <a:noFill/>
        </p:spPr>
        <p:txBody>
          <a:bodyPr wrap="square" lIns="0" rIns="0" anchor="t">
            <a:spAutoFit/>
          </a:bodyPr>
          <a:lstStyle/>
          <a:p>
            <a:pPr algn="l"/>
            <a:r>
              <a:rPr sz="1000" b="1">
                <a:solidFill>
                  <a:srgbClr val="B26835"/>
                </a:solidFill>
                <a:latin typeface="JetBrains Mono"/>
              </a:rPr>
              <a:t>FEATURE IMPORTANCE NATIVE</a:t>
            </a:r>
          </a:p>
        </p:txBody>
      </p:sp>
      <p:pic>
        <p:nvPicPr>
          <p:cNvPr id="7" name="Picture 6" descr="feature_importance_native_xgboost.png"/>
          <p:cNvPicPr>
            <a:picLocks noChangeAspect="1"/>
          </p:cNvPicPr>
          <p:nvPr/>
        </p:nvPicPr>
        <p:blipFill>
          <a:blip r:embed="rId2"/>
          <a:stretch>
            <a:fillRect/>
          </a:stretch>
        </p:blipFill>
        <p:spPr>
          <a:xfrm>
            <a:off x="548640" y="2194560"/>
            <a:ext cx="5486400" cy="3262283"/>
          </a:xfrm>
          <a:prstGeom prst="rect">
            <a:avLst/>
          </a:prstGeom>
        </p:spPr>
      </p:pic>
      <p:sp>
        <p:nvSpPr>
          <p:cNvPr id="8" name="TextBox 7"/>
          <p:cNvSpPr txBox="1"/>
          <p:nvPr/>
        </p:nvSpPr>
        <p:spPr>
          <a:xfrm>
            <a:off x="6400800" y="1828800"/>
            <a:ext cx="5486400" cy="274320"/>
          </a:xfrm>
          <a:prstGeom prst="rect">
            <a:avLst/>
          </a:prstGeom>
          <a:noFill/>
        </p:spPr>
        <p:txBody>
          <a:bodyPr wrap="square" lIns="0" rIns="0" anchor="t">
            <a:spAutoFit/>
          </a:bodyPr>
          <a:lstStyle/>
          <a:p>
            <a:pPr algn="l"/>
            <a:r>
              <a:rPr sz="1000" b="1">
                <a:solidFill>
                  <a:srgbClr val="B26835"/>
                </a:solidFill>
                <a:latin typeface="JetBrains Mono"/>
              </a:rPr>
              <a:t>PERMUTATION IMPORTANCE</a:t>
            </a:r>
          </a:p>
        </p:txBody>
      </p:sp>
      <p:pic>
        <p:nvPicPr>
          <p:cNvPr id="9" name="Picture 8" descr="permutation_importance_xgboost.png"/>
          <p:cNvPicPr>
            <a:picLocks noChangeAspect="1"/>
          </p:cNvPicPr>
          <p:nvPr/>
        </p:nvPicPr>
        <p:blipFill>
          <a:blip r:embed="rId3"/>
          <a:stretch>
            <a:fillRect/>
          </a:stretch>
        </p:blipFill>
        <p:spPr>
          <a:xfrm>
            <a:off x="6400800" y="2194560"/>
            <a:ext cx="5486400" cy="3262283"/>
          </a:xfrm>
          <a:prstGeom prst="rect">
            <a:avLst/>
          </a:prstGeom>
        </p:spPr>
      </p:pic>
      <p:sp>
        <p:nvSpPr>
          <p:cNvPr id="10" name="TextBox 9"/>
          <p:cNvSpPr txBox="1"/>
          <p:nvPr/>
        </p:nvSpPr>
        <p:spPr>
          <a:xfrm>
            <a:off x="548640" y="6355080"/>
            <a:ext cx="11064240" cy="365760"/>
          </a:xfrm>
          <a:prstGeom prst="rect">
            <a:avLst/>
          </a:prstGeom>
          <a:noFill/>
        </p:spPr>
        <p:txBody>
          <a:bodyPr wrap="square" lIns="0" rIns="0" anchor="t">
            <a:spAutoFit/>
          </a:bodyPr>
          <a:lstStyle/>
          <a:p>
            <a:pPr algn="ctr"/>
            <a:r>
              <a:rPr sz="1100" b="0">
                <a:solidFill>
                  <a:srgbClr val="4A4A4A"/>
                </a:solidFill>
                <a:latin typeface="Inter"/>
              </a:rPr>
              <a:t>Native · réduction d'impureté Gini. Permutation · perte de F1 si la variable est mélangée (agnostique au modèle).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48640" cy="365760"/>
          </a:xfrm>
          <a:prstGeom prst="rect">
            <a:avLst/>
          </a:prstGeom>
          <a:noFill/>
        </p:spPr>
        <p:txBody>
          <a:bodyPr wrap="square" lIns="0" rIns="0" anchor="t">
            <a:spAutoFit/>
          </a:bodyPr>
          <a:lstStyle/>
          <a:p>
            <a:pPr algn="l"/>
            <a:r>
              <a:rPr sz="1200" b="1">
                <a:solidFill>
                  <a:srgbClr val="B26835"/>
                </a:solidFill>
                <a:latin typeface="JetBrains Mono"/>
              </a:rPr>
              <a:t>05</a:t>
            </a:r>
          </a:p>
        </p:txBody>
      </p:sp>
      <p:sp>
        <p:nvSpPr>
          <p:cNvPr id="4" name="TextBox 3"/>
          <p:cNvSpPr txBox="1"/>
          <p:nvPr/>
        </p:nvSpPr>
        <p:spPr>
          <a:xfrm>
            <a:off x="1051560" y="502920"/>
            <a:ext cx="7315200" cy="365760"/>
          </a:xfrm>
          <a:prstGeom prst="rect">
            <a:avLst/>
          </a:prstGeom>
          <a:noFill/>
        </p:spPr>
        <p:txBody>
          <a:bodyPr wrap="square" lIns="0" rIns="0" anchor="t">
            <a:spAutoFit/>
          </a:bodyPr>
          <a:lstStyle/>
          <a:p>
            <a:pPr algn="l"/>
            <a:r>
              <a:rPr sz="1200" b="1">
                <a:solidFill>
                  <a:srgbClr val="37474F"/>
                </a:solidFill>
                <a:latin typeface="Plus Jakarta Sans"/>
              </a:rPr>
              <a:t>INTERPRÉTABILITÉ · SHAP</a:t>
            </a:r>
          </a:p>
        </p:txBody>
      </p:sp>
      <p:sp>
        <p:nvSpPr>
          <p:cNvPr id="5" name="TextBox 4"/>
          <p:cNvSpPr txBox="1"/>
          <p:nvPr/>
        </p:nvSpPr>
        <p:spPr>
          <a:xfrm>
            <a:off x="548640" y="914400"/>
            <a:ext cx="10972800" cy="914400"/>
          </a:xfrm>
          <a:prstGeom prst="rect">
            <a:avLst/>
          </a:prstGeom>
          <a:noFill/>
        </p:spPr>
        <p:txBody>
          <a:bodyPr wrap="square" lIns="0" rIns="0" anchor="t">
            <a:spAutoFit/>
          </a:bodyPr>
          <a:lstStyle/>
          <a:p>
            <a:pPr algn="l"/>
            <a:r>
              <a:rPr sz="3600" b="1">
                <a:solidFill>
                  <a:srgbClr val="1A232E"/>
                </a:solidFill>
                <a:latin typeface="Plus Jakarta Sans"/>
              </a:rPr>
              <a:t>Pourquoi cette prédiction ?</a:t>
            </a:r>
          </a:p>
        </p:txBody>
      </p:sp>
      <p:sp>
        <p:nvSpPr>
          <p:cNvPr id="6" name="TextBox 5"/>
          <p:cNvSpPr txBox="1"/>
          <p:nvPr/>
        </p:nvSpPr>
        <p:spPr>
          <a:xfrm>
            <a:off x="548640" y="1828800"/>
            <a:ext cx="5486400" cy="274320"/>
          </a:xfrm>
          <a:prstGeom prst="rect">
            <a:avLst/>
          </a:prstGeom>
          <a:noFill/>
        </p:spPr>
        <p:txBody>
          <a:bodyPr wrap="square" lIns="0" rIns="0" anchor="t">
            <a:spAutoFit/>
          </a:bodyPr>
          <a:lstStyle/>
          <a:p>
            <a:pPr algn="l"/>
            <a:r>
              <a:rPr sz="1000" b="1">
                <a:solidFill>
                  <a:srgbClr val="B26835"/>
                </a:solidFill>
                <a:latin typeface="JetBrains Mono"/>
              </a:rPr>
              <a:t>SHAP SUMMARY · DISPERSION</a:t>
            </a:r>
          </a:p>
        </p:txBody>
      </p:sp>
      <p:pic>
        <p:nvPicPr>
          <p:cNvPr id="7" name="Picture 6" descr="shap_summary_xgboost.png"/>
          <p:cNvPicPr>
            <a:picLocks noChangeAspect="1"/>
          </p:cNvPicPr>
          <p:nvPr/>
        </p:nvPicPr>
        <p:blipFill>
          <a:blip r:embed="rId2"/>
          <a:stretch>
            <a:fillRect/>
          </a:stretch>
        </p:blipFill>
        <p:spPr>
          <a:xfrm>
            <a:off x="548640" y="2194560"/>
            <a:ext cx="5486400" cy="4095616"/>
          </a:xfrm>
          <a:prstGeom prst="rect">
            <a:avLst/>
          </a:prstGeom>
        </p:spPr>
      </p:pic>
      <p:sp>
        <p:nvSpPr>
          <p:cNvPr id="8" name="TextBox 7"/>
          <p:cNvSpPr txBox="1"/>
          <p:nvPr/>
        </p:nvSpPr>
        <p:spPr>
          <a:xfrm>
            <a:off x="6400800" y="1828800"/>
            <a:ext cx="5486400" cy="274320"/>
          </a:xfrm>
          <a:prstGeom prst="rect">
            <a:avLst/>
          </a:prstGeom>
          <a:noFill/>
        </p:spPr>
        <p:txBody>
          <a:bodyPr wrap="square" lIns="0" rIns="0" anchor="t">
            <a:spAutoFit/>
          </a:bodyPr>
          <a:lstStyle/>
          <a:p>
            <a:pPr algn="l"/>
            <a:r>
              <a:rPr sz="1000" b="1">
                <a:solidFill>
                  <a:srgbClr val="B26835"/>
                </a:solidFill>
                <a:latin typeface="JetBrains Mono"/>
              </a:rPr>
              <a:t>SHAP BAR · IMPORTANCE GLOBALE</a:t>
            </a:r>
          </a:p>
        </p:txBody>
      </p:sp>
      <p:pic>
        <p:nvPicPr>
          <p:cNvPr id="9" name="Picture 8" descr="shap_bar_xgboost.png"/>
          <p:cNvPicPr>
            <a:picLocks noChangeAspect="1"/>
          </p:cNvPicPr>
          <p:nvPr/>
        </p:nvPicPr>
        <p:blipFill>
          <a:blip r:embed="rId3"/>
          <a:stretch>
            <a:fillRect/>
          </a:stretch>
        </p:blipFill>
        <p:spPr>
          <a:xfrm>
            <a:off x="6400800" y="2194560"/>
            <a:ext cx="5486400" cy="4078176"/>
          </a:xfrm>
          <a:prstGeom prst="rect">
            <a:avLst/>
          </a:prstGeom>
        </p:spPr>
      </p:pic>
      <p:sp>
        <p:nvSpPr>
          <p:cNvPr id="10" name="TextBox 9"/>
          <p:cNvSpPr txBox="1"/>
          <p:nvPr/>
        </p:nvSpPr>
        <p:spPr>
          <a:xfrm>
            <a:off x="548640" y="6355080"/>
            <a:ext cx="11064240" cy="365760"/>
          </a:xfrm>
          <a:prstGeom prst="rect">
            <a:avLst/>
          </a:prstGeom>
          <a:noFill/>
        </p:spPr>
        <p:txBody>
          <a:bodyPr wrap="square" lIns="0" rIns="0" anchor="t">
            <a:spAutoFit/>
          </a:bodyPr>
          <a:lstStyle/>
          <a:p>
            <a:pPr algn="ctr"/>
            <a:r>
              <a:rPr sz="1100" b="0">
                <a:solidFill>
                  <a:srgbClr val="4A4A4A"/>
                </a:solidFill>
                <a:latin typeface="Inter"/>
              </a:rPr>
              <a:t>SHAP attribue une contribution chiffrée à chaque feature · explicabilité locale ET globale.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3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B268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502920"/>
            <a:ext cx="914400" cy="365760"/>
          </a:xfrm>
          <a:prstGeom prst="rect">
            <a:avLst/>
          </a:prstGeom>
          <a:noFill/>
        </p:spPr>
        <p:txBody>
          <a:bodyPr wrap="square" lIns="0" rIns="0" anchor="t">
            <a:spAutoFit/>
          </a:bodyPr>
          <a:lstStyle/>
          <a:p>
            <a:pPr algn="l"/>
            <a:r>
              <a:rPr sz="1200" b="1">
                <a:solidFill>
                  <a:srgbClr val="B26835"/>
                </a:solidFill>
                <a:latin typeface="JetBrains Mono"/>
              </a:rPr>
              <a:t>06 ·</a:t>
            </a:r>
          </a:p>
        </p:txBody>
      </p:sp>
      <p:sp>
        <p:nvSpPr>
          <p:cNvPr id="5" name="TextBox 4"/>
          <p:cNvSpPr txBox="1"/>
          <p:nvPr/>
        </p:nvSpPr>
        <p:spPr>
          <a:xfrm>
            <a:off x="1554480" y="502920"/>
            <a:ext cx="7315200" cy="365760"/>
          </a:xfrm>
          <a:prstGeom prst="rect">
            <a:avLst/>
          </a:prstGeom>
          <a:noFill/>
        </p:spPr>
        <p:txBody>
          <a:bodyPr wrap="square" lIns="0" rIns="0" anchor="t">
            <a:spAutoFit/>
          </a:bodyPr>
          <a:lstStyle/>
          <a:p>
            <a:pPr algn="l"/>
            <a:r>
              <a:rPr sz="1200" b="1">
                <a:solidFill>
                  <a:srgbClr val="90A4AE"/>
                </a:solidFill>
                <a:latin typeface="Plus Jakarta Sans"/>
              </a:rPr>
              <a:t>MISE EN PROD</a:t>
            </a:r>
          </a:p>
        </p:txBody>
      </p:sp>
      <p:sp>
        <p:nvSpPr>
          <p:cNvPr id="6" name="TextBox 5"/>
          <p:cNvSpPr txBox="1"/>
          <p:nvPr/>
        </p:nvSpPr>
        <p:spPr>
          <a:xfrm>
            <a:off x="1097280" y="1188720"/>
            <a:ext cx="10972800" cy="914400"/>
          </a:xfrm>
          <a:prstGeom prst="rect">
            <a:avLst/>
          </a:prstGeom>
          <a:noFill/>
        </p:spPr>
        <p:txBody>
          <a:bodyPr wrap="square" lIns="0" rIns="0" anchor="t">
            <a:spAutoFit/>
          </a:bodyPr>
          <a:lstStyle/>
          <a:p>
            <a:pPr algn="l"/>
            <a:r>
              <a:rPr sz="4400" b="1">
                <a:solidFill>
                  <a:srgbClr val="FFFFFF"/>
                </a:solidFill>
                <a:latin typeface="Plus Jakarta Sans"/>
              </a:rPr>
              <a:t>Dashboard · vision métier</a:t>
            </a:r>
          </a:p>
        </p:txBody>
      </p:sp>
      <p:sp>
        <p:nvSpPr>
          <p:cNvPr id="7" name="TextBox 6"/>
          <p:cNvSpPr txBox="1"/>
          <p:nvPr/>
        </p:nvSpPr>
        <p:spPr>
          <a:xfrm>
            <a:off x="1097280" y="2103120"/>
            <a:ext cx="10972800" cy="365760"/>
          </a:xfrm>
          <a:prstGeom prst="rect">
            <a:avLst/>
          </a:prstGeom>
          <a:noFill/>
        </p:spPr>
        <p:txBody>
          <a:bodyPr wrap="square" lIns="0" rIns="0" anchor="t">
            <a:spAutoFit/>
          </a:bodyPr>
          <a:lstStyle/>
          <a:p>
            <a:pPr algn="l"/>
            <a:r>
              <a:rPr sz="1400" b="0">
                <a:solidFill>
                  <a:srgbClr val="E8C9A8"/>
                </a:solidFill>
                <a:latin typeface="Inter"/>
              </a:rPr>
              <a:t>Streamlit · 5 onglets pour le responsable maintenance</a:t>
            </a:r>
          </a:p>
        </p:txBody>
      </p:sp>
      <p:sp>
        <p:nvSpPr>
          <p:cNvPr id="8" name="Rectangle 7"/>
          <p:cNvSpPr/>
          <p:nvPr/>
        </p:nvSpPr>
        <p:spPr>
          <a:xfrm>
            <a:off x="1097280" y="3035808"/>
            <a:ext cx="137160" cy="457200"/>
          </a:xfrm>
          <a:prstGeom prst="rect">
            <a:avLst/>
          </a:prstGeom>
          <a:solidFill>
            <a:srgbClr val="B268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17320" y="2926080"/>
            <a:ext cx="4114800" cy="457200"/>
          </a:xfrm>
          <a:prstGeom prst="rect">
            <a:avLst/>
          </a:prstGeom>
          <a:noFill/>
        </p:spPr>
        <p:txBody>
          <a:bodyPr wrap="square" lIns="0" rIns="0" anchor="t">
            <a:spAutoFit/>
          </a:bodyPr>
          <a:lstStyle/>
          <a:p>
            <a:pPr algn="l"/>
            <a:r>
              <a:rPr sz="1800" b="1">
                <a:solidFill>
                  <a:srgbClr val="FFFFFF"/>
                </a:solidFill>
                <a:latin typeface="Plus Jakarta Sans"/>
              </a:rPr>
              <a:t>État du parc</a:t>
            </a:r>
          </a:p>
        </p:txBody>
      </p:sp>
      <p:sp>
        <p:nvSpPr>
          <p:cNvPr id="10" name="TextBox 9"/>
          <p:cNvSpPr txBox="1"/>
          <p:nvPr/>
        </p:nvSpPr>
        <p:spPr>
          <a:xfrm>
            <a:off x="5669280" y="2971800"/>
            <a:ext cx="5943600" cy="457200"/>
          </a:xfrm>
          <a:prstGeom prst="rect">
            <a:avLst/>
          </a:prstGeom>
          <a:noFill/>
        </p:spPr>
        <p:txBody>
          <a:bodyPr wrap="square" lIns="0" rIns="0" anchor="t">
            <a:spAutoFit/>
          </a:bodyPr>
          <a:lstStyle/>
          <a:p>
            <a:pPr algn="l"/>
            <a:r>
              <a:rPr sz="1300" b="0">
                <a:solidFill>
                  <a:srgbClr val="90A4AE"/>
                </a:solidFill>
                <a:latin typeface="Inter"/>
              </a:rPr>
              <a:t>machines critiques, coût à risque</a:t>
            </a:r>
          </a:p>
        </p:txBody>
      </p:sp>
      <p:sp>
        <p:nvSpPr>
          <p:cNvPr id="11" name="Rectangle 10"/>
          <p:cNvSpPr/>
          <p:nvPr/>
        </p:nvSpPr>
        <p:spPr>
          <a:xfrm>
            <a:off x="1097280" y="3721608"/>
            <a:ext cx="137160" cy="457200"/>
          </a:xfrm>
          <a:prstGeom prst="rect">
            <a:avLst/>
          </a:prstGeom>
          <a:solidFill>
            <a:srgbClr val="B268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17320" y="3611880"/>
            <a:ext cx="4114800" cy="457200"/>
          </a:xfrm>
          <a:prstGeom prst="rect">
            <a:avLst/>
          </a:prstGeom>
          <a:noFill/>
        </p:spPr>
        <p:txBody>
          <a:bodyPr wrap="square" lIns="0" rIns="0" anchor="t">
            <a:spAutoFit/>
          </a:bodyPr>
          <a:lstStyle/>
          <a:p>
            <a:pPr algn="l"/>
            <a:r>
              <a:rPr sz="1800" b="1">
                <a:solidFill>
                  <a:srgbClr val="FFFFFF"/>
                </a:solidFill>
                <a:latin typeface="Plus Jakarta Sans"/>
              </a:rPr>
              <a:t>Plan d'intervention</a:t>
            </a:r>
          </a:p>
        </p:txBody>
      </p:sp>
      <p:sp>
        <p:nvSpPr>
          <p:cNvPr id="13" name="TextBox 12"/>
          <p:cNvSpPr txBox="1"/>
          <p:nvPr/>
        </p:nvSpPr>
        <p:spPr>
          <a:xfrm>
            <a:off x="5669280" y="3657600"/>
            <a:ext cx="5943600" cy="457200"/>
          </a:xfrm>
          <a:prstGeom prst="rect">
            <a:avLst/>
          </a:prstGeom>
          <a:noFill/>
        </p:spPr>
        <p:txBody>
          <a:bodyPr wrap="square" lIns="0" rIns="0" anchor="t">
            <a:spAutoFit/>
          </a:bodyPr>
          <a:lstStyle/>
          <a:p>
            <a:pPr algn="l"/>
            <a:r>
              <a:rPr sz="1300" b="0">
                <a:solidFill>
                  <a:srgbClr val="90A4AE"/>
                </a:solidFill>
                <a:latin typeface="Inter"/>
              </a:rPr>
              <a:t>actions priorisées par urgence</a:t>
            </a:r>
          </a:p>
        </p:txBody>
      </p:sp>
      <p:sp>
        <p:nvSpPr>
          <p:cNvPr id="14" name="Rectangle 13"/>
          <p:cNvSpPr/>
          <p:nvPr/>
        </p:nvSpPr>
        <p:spPr>
          <a:xfrm>
            <a:off x="1097280" y="4407408"/>
            <a:ext cx="137160" cy="457200"/>
          </a:xfrm>
          <a:prstGeom prst="rect">
            <a:avLst/>
          </a:prstGeom>
          <a:solidFill>
            <a:srgbClr val="B268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417320" y="4297680"/>
            <a:ext cx="4114800" cy="457200"/>
          </a:xfrm>
          <a:prstGeom prst="rect">
            <a:avLst/>
          </a:prstGeom>
          <a:noFill/>
        </p:spPr>
        <p:txBody>
          <a:bodyPr wrap="square" lIns="0" rIns="0" anchor="t">
            <a:spAutoFit/>
          </a:bodyPr>
          <a:lstStyle/>
          <a:p>
            <a:pPr algn="l"/>
            <a:r>
              <a:rPr sz="1800" b="1">
                <a:solidFill>
                  <a:srgbClr val="FFFFFF"/>
                </a:solidFill>
                <a:latin typeface="Plus Jakarta Sans"/>
              </a:rPr>
              <a:t>Impact économique</a:t>
            </a:r>
          </a:p>
        </p:txBody>
      </p:sp>
      <p:sp>
        <p:nvSpPr>
          <p:cNvPr id="16" name="TextBox 15"/>
          <p:cNvSpPr txBox="1"/>
          <p:nvPr/>
        </p:nvSpPr>
        <p:spPr>
          <a:xfrm>
            <a:off x="5669280" y="4343400"/>
            <a:ext cx="5943600" cy="457200"/>
          </a:xfrm>
          <a:prstGeom prst="rect">
            <a:avLst/>
          </a:prstGeom>
          <a:noFill/>
        </p:spPr>
        <p:txBody>
          <a:bodyPr wrap="square" lIns="0" rIns="0" anchor="t">
            <a:spAutoFit/>
          </a:bodyPr>
          <a:lstStyle/>
          <a:p>
            <a:pPr algn="l"/>
            <a:r>
              <a:rPr sz="1300" b="0">
                <a:solidFill>
                  <a:srgbClr val="90A4AE"/>
                </a:solidFill>
                <a:latin typeface="Inter"/>
              </a:rPr>
              <a:t>ROI vs scénario réactif</a:t>
            </a:r>
          </a:p>
        </p:txBody>
      </p:sp>
      <p:sp>
        <p:nvSpPr>
          <p:cNvPr id="17" name="Rectangle 16"/>
          <p:cNvSpPr/>
          <p:nvPr/>
        </p:nvSpPr>
        <p:spPr>
          <a:xfrm>
            <a:off x="1097280" y="5093208"/>
            <a:ext cx="137160" cy="457200"/>
          </a:xfrm>
          <a:prstGeom prst="rect">
            <a:avLst/>
          </a:prstGeom>
          <a:solidFill>
            <a:srgbClr val="B268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17320" y="4983480"/>
            <a:ext cx="4114800" cy="457200"/>
          </a:xfrm>
          <a:prstGeom prst="rect">
            <a:avLst/>
          </a:prstGeom>
          <a:noFill/>
        </p:spPr>
        <p:txBody>
          <a:bodyPr wrap="square" lIns="0" rIns="0" anchor="t">
            <a:spAutoFit/>
          </a:bodyPr>
          <a:lstStyle/>
          <a:p>
            <a:pPr algn="l"/>
            <a:r>
              <a:rPr sz="1800" b="1">
                <a:solidFill>
                  <a:srgbClr val="FFFFFF"/>
                </a:solidFill>
                <a:latin typeface="Plus Jakarta Sans"/>
              </a:rPr>
              <a:t>Diagnostic machine</a:t>
            </a:r>
          </a:p>
        </p:txBody>
      </p:sp>
      <p:sp>
        <p:nvSpPr>
          <p:cNvPr id="19" name="TextBox 18"/>
          <p:cNvSpPr txBox="1"/>
          <p:nvPr/>
        </p:nvSpPr>
        <p:spPr>
          <a:xfrm>
            <a:off x="5669280" y="5029200"/>
            <a:ext cx="5943600" cy="457200"/>
          </a:xfrm>
          <a:prstGeom prst="rect">
            <a:avLst/>
          </a:prstGeom>
          <a:noFill/>
        </p:spPr>
        <p:txBody>
          <a:bodyPr wrap="square" lIns="0" rIns="0" anchor="t">
            <a:spAutoFit/>
          </a:bodyPr>
          <a:lstStyle/>
          <a:p>
            <a:pPr algn="l"/>
            <a:r>
              <a:rPr sz="1300" b="0">
                <a:solidFill>
                  <a:srgbClr val="90A4AE"/>
                </a:solidFill>
                <a:latin typeface="Inter"/>
              </a:rPr>
              <a:t>saisie capteurs → décision</a:t>
            </a:r>
          </a:p>
        </p:txBody>
      </p:sp>
      <p:sp>
        <p:nvSpPr>
          <p:cNvPr id="20" name="Rectangle 19"/>
          <p:cNvSpPr/>
          <p:nvPr/>
        </p:nvSpPr>
        <p:spPr>
          <a:xfrm>
            <a:off x="1097280" y="5779008"/>
            <a:ext cx="137160" cy="457200"/>
          </a:xfrm>
          <a:prstGeom prst="rect">
            <a:avLst/>
          </a:prstGeom>
          <a:solidFill>
            <a:srgbClr val="B268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17320" y="5669280"/>
            <a:ext cx="4114800" cy="457200"/>
          </a:xfrm>
          <a:prstGeom prst="rect">
            <a:avLst/>
          </a:prstGeom>
          <a:noFill/>
        </p:spPr>
        <p:txBody>
          <a:bodyPr wrap="square" lIns="0" rIns="0" anchor="t">
            <a:spAutoFit/>
          </a:bodyPr>
          <a:lstStyle/>
          <a:p>
            <a:pPr algn="l"/>
            <a:r>
              <a:rPr sz="1800" b="1">
                <a:solidFill>
                  <a:srgbClr val="FFFFFF"/>
                </a:solidFill>
                <a:latin typeface="Plus Jakarta Sans"/>
              </a:rPr>
              <a:t>Détails techniques</a:t>
            </a:r>
          </a:p>
        </p:txBody>
      </p:sp>
      <p:sp>
        <p:nvSpPr>
          <p:cNvPr id="22" name="TextBox 21"/>
          <p:cNvSpPr txBox="1"/>
          <p:nvPr/>
        </p:nvSpPr>
        <p:spPr>
          <a:xfrm>
            <a:off x="5669280" y="5715000"/>
            <a:ext cx="5943600" cy="457200"/>
          </a:xfrm>
          <a:prstGeom prst="rect">
            <a:avLst/>
          </a:prstGeom>
          <a:noFill/>
        </p:spPr>
        <p:txBody>
          <a:bodyPr wrap="square" lIns="0" rIns="0" anchor="t">
            <a:spAutoFit/>
          </a:bodyPr>
          <a:lstStyle/>
          <a:p>
            <a:pPr algn="l"/>
            <a:r>
              <a:rPr sz="1300" b="0">
                <a:solidFill>
                  <a:srgbClr val="90A4AE"/>
                </a:solidFill>
                <a:latin typeface="Inter"/>
              </a:rPr>
              <a:t>EDA, modèles, SHAP (DSI/jury)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48640" cy="365760"/>
          </a:xfrm>
          <a:prstGeom prst="rect">
            <a:avLst/>
          </a:prstGeom>
          <a:noFill/>
        </p:spPr>
        <p:txBody>
          <a:bodyPr wrap="square" lIns="0" rIns="0" anchor="t">
            <a:spAutoFit/>
          </a:bodyPr>
          <a:lstStyle/>
          <a:p>
            <a:pPr algn="l"/>
            <a:r>
              <a:rPr sz="1200" b="1">
                <a:solidFill>
                  <a:srgbClr val="B26835"/>
                </a:solidFill>
                <a:latin typeface="JetBrains Mono"/>
              </a:rPr>
              <a:t>06</a:t>
            </a:r>
          </a:p>
        </p:txBody>
      </p:sp>
      <p:sp>
        <p:nvSpPr>
          <p:cNvPr id="4" name="TextBox 3"/>
          <p:cNvSpPr txBox="1"/>
          <p:nvPr/>
        </p:nvSpPr>
        <p:spPr>
          <a:xfrm>
            <a:off x="1051560" y="502920"/>
            <a:ext cx="7315200" cy="365760"/>
          </a:xfrm>
          <a:prstGeom prst="rect">
            <a:avLst/>
          </a:prstGeom>
          <a:noFill/>
        </p:spPr>
        <p:txBody>
          <a:bodyPr wrap="square" lIns="0" rIns="0" anchor="t">
            <a:spAutoFit/>
          </a:bodyPr>
          <a:lstStyle/>
          <a:p>
            <a:pPr algn="l"/>
            <a:r>
              <a:rPr sz="1200" b="1">
                <a:solidFill>
                  <a:srgbClr val="37474F"/>
                </a:solidFill>
                <a:latin typeface="Plus Jakarta Sans"/>
              </a:rPr>
              <a:t>MISE EN PROD · API</a:t>
            </a:r>
          </a:p>
        </p:txBody>
      </p:sp>
      <p:sp>
        <p:nvSpPr>
          <p:cNvPr id="5" name="TextBox 4"/>
          <p:cNvSpPr txBox="1"/>
          <p:nvPr/>
        </p:nvSpPr>
        <p:spPr>
          <a:xfrm>
            <a:off x="548640" y="914400"/>
            <a:ext cx="10972800" cy="914400"/>
          </a:xfrm>
          <a:prstGeom prst="rect">
            <a:avLst/>
          </a:prstGeom>
          <a:noFill/>
        </p:spPr>
        <p:txBody>
          <a:bodyPr wrap="square" lIns="0" rIns="0" anchor="t">
            <a:spAutoFit/>
          </a:bodyPr>
          <a:lstStyle/>
          <a:p>
            <a:pPr algn="l"/>
            <a:r>
              <a:rPr sz="4000" b="1">
                <a:solidFill>
                  <a:srgbClr val="1A232E"/>
                </a:solidFill>
                <a:latin typeface="Plus Jakarta Sans"/>
              </a:rPr>
              <a:t>API REST · industrialisation</a:t>
            </a:r>
          </a:p>
        </p:txBody>
      </p:sp>
      <p:sp>
        <p:nvSpPr>
          <p:cNvPr id="6" name="Rectangle 5"/>
          <p:cNvSpPr/>
          <p:nvPr/>
        </p:nvSpPr>
        <p:spPr>
          <a:xfrm>
            <a:off x="548640" y="2194560"/>
            <a:ext cx="1106424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94560"/>
            <a:ext cx="137160" cy="1005840"/>
          </a:xfrm>
          <a:prstGeom prst="rect">
            <a:avLst/>
          </a:prstGeom>
          <a:solidFill>
            <a:srgbClr val="B268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59152"/>
            <a:ext cx="914400" cy="365760"/>
          </a:xfrm>
          <a:prstGeom prst="rect">
            <a:avLst/>
          </a:prstGeom>
          <a:noFill/>
        </p:spPr>
        <p:txBody>
          <a:bodyPr wrap="square" lIns="0" rIns="0" anchor="t">
            <a:spAutoFit/>
          </a:bodyPr>
          <a:lstStyle/>
          <a:p>
            <a:pPr algn="l"/>
            <a:r>
              <a:rPr sz="1400" b="1">
                <a:solidFill>
                  <a:srgbClr val="B26835"/>
                </a:solidFill>
                <a:latin typeface="JetBrains Mono"/>
              </a:rPr>
              <a:t>POST</a:t>
            </a:r>
          </a:p>
        </p:txBody>
      </p:sp>
      <p:sp>
        <p:nvSpPr>
          <p:cNvPr id="9" name="TextBox 8"/>
          <p:cNvSpPr txBox="1"/>
          <p:nvPr/>
        </p:nvSpPr>
        <p:spPr>
          <a:xfrm>
            <a:off x="1920240" y="2359152"/>
            <a:ext cx="3657600" cy="365760"/>
          </a:xfrm>
          <a:prstGeom prst="rect">
            <a:avLst/>
          </a:prstGeom>
          <a:noFill/>
        </p:spPr>
        <p:txBody>
          <a:bodyPr wrap="square" lIns="0" rIns="0" anchor="t">
            <a:spAutoFit/>
          </a:bodyPr>
          <a:lstStyle/>
          <a:p>
            <a:pPr algn="l"/>
            <a:r>
              <a:rPr sz="2000" b="1">
                <a:solidFill>
                  <a:srgbClr val="1A232E"/>
                </a:solidFill>
                <a:latin typeface="JetBrains Mono"/>
              </a:rPr>
              <a:t>/predict</a:t>
            </a:r>
          </a:p>
        </p:txBody>
      </p:sp>
      <p:sp>
        <p:nvSpPr>
          <p:cNvPr id="10" name="TextBox 9"/>
          <p:cNvSpPr txBox="1"/>
          <p:nvPr/>
        </p:nvSpPr>
        <p:spPr>
          <a:xfrm>
            <a:off x="868680" y="2761488"/>
            <a:ext cx="10058400" cy="365760"/>
          </a:xfrm>
          <a:prstGeom prst="rect">
            <a:avLst/>
          </a:prstGeom>
          <a:noFill/>
        </p:spPr>
        <p:txBody>
          <a:bodyPr wrap="square" lIns="0" rIns="0" anchor="t">
            <a:spAutoFit/>
          </a:bodyPr>
          <a:lstStyle/>
          <a:p>
            <a:pPr algn="l"/>
            <a:r>
              <a:rPr sz="1300" b="0">
                <a:solidFill>
                  <a:srgbClr val="4A4A4A"/>
                </a:solidFill>
                <a:latin typeface="Inter"/>
              </a:rPr>
              <a:t>JSON capteurs → proba + classe + seuil métier</a:t>
            </a:r>
          </a:p>
        </p:txBody>
      </p:sp>
      <p:sp>
        <p:nvSpPr>
          <p:cNvPr id="11" name="Rectangle 10"/>
          <p:cNvSpPr/>
          <p:nvPr/>
        </p:nvSpPr>
        <p:spPr>
          <a:xfrm>
            <a:off x="548640" y="3383280"/>
            <a:ext cx="1106424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3383280"/>
            <a:ext cx="137160"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547872"/>
            <a:ext cx="914400" cy="365760"/>
          </a:xfrm>
          <a:prstGeom prst="rect">
            <a:avLst/>
          </a:prstGeom>
          <a:noFill/>
        </p:spPr>
        <p:txBody>
          <a:bodyPr wrap="square" lIns="0" rIns="0" anchor="t">
            <a:spAutoFit/>
          </a:bodyPr>
          <a:lstStyle/>
          <a:p>
            <a:pPr algn="l"/>
            <a:r>
              <a:rPr sz="1400" b="1">
                <a:solidFill>
                  <a:srgbClr val="2E7D32"/>
                </a:solidFill>
                <a:latin typeface="JetBrains Mono"/>
              </a:rPr>
              <a:t>GET</a:t>
            </a:r>
          </a:p>
        </p:txBody>
      </p:sp>
      <p:sp>
        <p:nvSpPr>
          <p:cNvPr id="14" name="TextBox 13"/>
          <p:cNvSpPr txBox="1"/>
          <p:nvPr/>
        </p:nvSpPr>
        <p:spPr>
          <a:xfrm>
            <a:off x="1920240" y="3547872"/>
            <a:ext cx="3657600" cy="365760"/>
          </a:xfrm>
          <a:prstGeom prst="rect">
            <a:avLst/>
          </a:prstGeom>
          <a:noFill/>
        </p:spPr>
        <p:txBody>
          <a:bodyPr wrap="square" lIns="0" rIns="0" anchor="t">
            <a:spAutoFit/>
          </a:bodyPr>
          <a:lstStyle/>
          <a:p>
            <a:pPr algn="l"/>
            <a:r>
              <a:rPr sz="2000" b="1">
                <a:solidFill>
                  <a:srgbClr val="1A232E"/>
                </a:solidFill>
                <a:latin typeface="JetBrains Mono"/>
              </a:rPr>
              <a:t>/health</a:t>
            </a:r>
          </a:p>
        </p:txBody>
      </p:sp>
      <p:sp>
        <p:nvSpPr>
          <p:cNvPr id="15" name="TextBox 14"/>
          <p:cNvSpPr txBox="1"/>
          <p:nvPr/>
        </p:nvSpPr>
        <p:spPr>
          <a:xfrm>
            <a:off x="868680" y="3950208"/>
            <a:ext cx="10058400" cy="365760"/>
          </a:xfrm>
          <a:prstGeom prst="rect">
            <a:avLst/>
          </a:prstGeom>
          <a:noFill/>
        </p:spPr>
        <p:txBody>
          <a:bodyPr wrap="square" lIns="0" rIns="0" anchor="t">
            <a:spAutoFit/>
          </a:bodyPr>
          <a:lstStyle/>
          <a:p>
            <a:pPr algn="l"/>
            <a:r>
              <a:rPr sz="1300" b="0">
                <a:solidFill>
                  <a:srgbClr val="4A4A4A"/>
                </a:solidFill>
                <a:latin typeface="Inter"/>
              </a:rPr>
              <a:t>vérifie modèle chargé + version</a:t>
            </a:r>
          </a:p>
        </p:txBody>
      </p:sp>
      <p:sp>
        <p:nvSpPr>
          <p:cNvPr id="16" name="Rectangle 15"/>
          <p:cNvSpPr/>
          <p:nvPr/>
        </p:nvSpPr>
        <p:spPr>
          <a:xfrm>
            <a:off x="548640" y="4572000"/>
            <a:ext cx="1106424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572000"/>
            <a:ext cx="137160"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736592"/>
            <a:ext cx="914400" cy="365760"/>
          </a:xfrm>
          <a:prstGeom prst="rect">
            <a:avLst/>
          </a:prstGeom>
          <a:noFill/>
        </p:spPr>
        <p:txBody>
          <a:bodyPr wrap="square" lIns="0" rIns="0" anchor="t">
            <a:spAutoFit/>
          </a:bodyPr>
          <a:lstStyle/>
          <a:p>
            <a:pPr algn="l"/>
            <a:r>
              <a:rPr sz="1400" b="1">
                <a:solidFill>
                  <a:srgbClr val="2E7D32"/>
                </a:solidFill>
                <a:latin typeface="JetBrains Mono"/>
              </a:rPr>
              <a:t>GET</a:t>
            </a:r>
          </a:p>
        </p:txBody>
      </p:sp>
      <p:sp>
        <p:nvSpPr>
          <p:cNvPr id="19" name="TextBox 18"/>
          <p:cNvSpPr txBox="1"/>
          <p:nvPr/>
        </p:nvSpPr>
        <p:spPr>
          <a:xfrm>
            <a:off x="1920240" y="4736592"/>
            <a:ext cx="3657600" cy="365760"/>
          </a:xfrm>
          <a:prstGeom prst="rect">
            <a:avLst/>
          </a:prstGeom>
          <a:noFill/>
        </p:spPr>
        <p:txBody>
          <a:bodyPr wrap="square" lIns="0" rIns="0" anchor="t">
            <a:spAutoFit/>
          </a:bodyPr>
          <a:lstStyle/>
          <a:p>
            <a:pPr algn="l"/>
            <a:r>
              <a:rPr sz="2000" b="1">
                <a:solidFill>
                  <a:srgbClr val="1A232E"/>
                </a:solidFill>
                <a:latin typeface="JetBrains Mono"/>
              </a:rPr>
              <a:t>/model-info</a:t>
            </a:r>
          </a:p>
        </p:txBody>
      </p:sp>
      <p:sp>
        <p:nvSpPr>
          <p:cNvPr id="20" name="TextBox 19"/>
          <p:cNvSpPr txBox="1"/>
          <p:nvPr/>
        </p:nvSpPr>
        <p:spPr>
          <a:xfrm>
            <a:off x="868680" y="5138928"/>
            <a:ext cx="10058400" cy="365760"/>
          </a:xfrm>
          <a:prstGeom prst="rect">
            <a:avLst/>
          </a:prstGeom>
          <a:noFill/>
        </p:spPr>
        <p:txBody>
          <a:bodyPr wrap="square" lIns="0" rIns="0" anchor="t">
            <a:spAutoFit/>
          </a:bodyPr>
          <a:lstStyle/>
          <a:p>
            <a:pPr algn="l"/>
            <a:r>
              <a:rPr sz="1300" b="0">
                <a:solidFill>
                  <a:srgbClr val="4A4A4A"/>
                </a:solidFill>
                <a:latin typeface="Inter"/>
              </a:rPr>
              <a:t>métadonnées · features attendues, métriques</a:t>
            </a:r>
          </a:p>
        </p:txBody>
      </p:sp>
      <p:sp>
        <p:nvSpPr>
          <p:cNvPr id="21" name="TextBox 20"/>
          <p:cNvSpPr txBox="1"/>
          <p:nvPr/>
        </p:nvSpPr>
        <p:spPr>
          <a:xfrm>
            <a:off x="548640" y="6126480"/>
            <a:ext cx="10972800" cy="365760"/>
          </a:xfrm>
          <a:prstGeom prst="rect">
            <a:avLst/>
          </a:prstGeom>
          <a:noFill/>
        </p:spPr>
        <p:txBody>
          <a:bodyPr wrap="square" lIns="0" rIns="0" anchor="t">
            <a:spAutoFit/>
          </a:bodyPr>
          <a:lstStyle/>
          <a:p>
            <a:pPr algn="ctr"/>
            <a:r>
              <a:rPr sz="1200" b="0">
                <a:solidFill>
                  <a:srgbClr val="B26835"/>
                </a:solidFill>
                <a:latin typeface="JetBrains Mono"/>
              </a:rPr>
              <a:t>FastAPI + Pydantic · validation des entrées · Swagger auto sur /docs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48640" cy="365760"/>
          </a:xfrm>
          <a:prstGeom prst="rect">
            <a:avLst/>
          </a:prstGeom>
          <a:noFill/>
        </p:spPr>
        <p:txBody>
          <a:bodyPr wrap="square" lIns="0" rIns="0" anchor="t">
            <a:spAutoFit/>
          </a:bodyPr>
          <a:lstStyle/>
          <a:p>
            <a:pPr algn="l"/>
            <a:r>
              <a:rPr sz="1200" b="1">
                <a:solidFill>
                  <a:srgbClr val="B26835"/>
                </a:solidFill>
                <a:latin typeface="JetBrains Mono"/>
              </a:rPr>
              <a:t>07</a:t>
            </a:r>
          </a:p>
        </p:txBody>
      </p:sp>
      <p:sp>
        <p:nvSpPr>
          <p:cNvPr id="4" name="TextBox 3"/>
          <p:cNvSpPr txBox="1"/>
          <p:nvPr/>
        </p:nvSpPr>
        <p:spPr>
          <a:xfrm>
            <a:off x="1051560" y="502920"/>
            <a:ext cx="7315200" cy="365760"/>
          </a:xfrm>
          <a:prstGeom prst="rect">
            <a:avLst/>
          </a:prstGeom>
          <a:noFill/>
        </p:spPr>
        <p:txBody>
          <a:bodyPr wrap="square" lIns="0" rIns="0" anchor="t">
            <a:spAutoFit/>
          </a:bodyPr>
          <a:lstStyle/>
          <a:p>
            <a:pPr algn="l"/>
            <a:r>
              <a:rPr sz="1200" b="1">
                <a:solidFill>
                  <a:srgbClr val="37474F"/>
                </a:solidFill>
                <a:latin typeface="Plus Jakarta Sans"/>
              </a:rPr>
              <a:t>BONUS · CALIBRATION</a:t>
            </a:r>
          </a:p>
        </p:txBody>
      </p:sp>
      <p:sp>
        <p:nvSpPr>
          <p:cNvPr id="5" name="TextBox 4"/>
          <p:cNvSpPr txBox="1"/>
          <p:nvPr/>
        </p:nvSpPr>
        <p:spPr>
          <a:xfrm>
            <a:off x="548640" y="914400"/>
            <a:ext cx="10972800" cy="914400"/>
          </a:xfrm>
          <a:prstGeom prst="rect">
            <a:avLst/>
          </a:prstGeom>
          <a:noFill/>
        </p:spPr>
        <p:txBody>
          <a:bodyPr wrap="square" lIns="0" rIns="0" anchor="t">
            <a:spAutoFit/>
          </a:bodyPr>
          <a:lstStyle/>
          <a:p>
            <a:pPr algn="l"/>
            <a:r>
              <a:rPr sz="3600" b="1">
                <a:solidFill>
                  <a:srgbClr val="1A232E"/>
                </a:solidFill>
                <a:latin typeface="Plus Jakarta Sans"/>
              </a:rPr>
              <a:t>Seuil métier optimal</a:t>
            </a:r>
          </a:p>
        </p:txBody>
      </p:sp>
      <p:pic>
        <p:nvPicPr>
          <p:cNvPr id="6" name="Picture 5" descr="reliability_diagram_xgboost.png"/>
          <p:cNvPicPr>
            <a:picLocks noChangeAspect="1"/>
          </p:cNvPicPr>
          <p:nvPr/>
        </p:nvPicPr>
        <p:blipFill>
          <a:blip r:embed="rId2"/>
          <a:stretch>
            <a:fillRect/>
          </a:stretch>
        </p:blipFill>
        <p:spPr>
          <a:xfrm>
            <a:off x="548640" y="1828800"/>
            <a:ext cx="4823123" cy="4114800"/>
          </a:xfrm>
          <a:prstGeom prst="rect">
            <a:avLst/>
          </a:prstGeom>
        </p:spPr>
      </p:pic>
      <p:pic>
        <p:nvPicPr>
          <p:cNvPr id="7" name="Picture 6" descr="cost_threshold_xgboost.png"/>
          <p:cNvPicPr>
            <a:picLocks noChangeAspect="1"/>
          </p:cNvPicPr>
          <p:nvPr/>
        </p:nvPicPr>
        <p:blipFill>
          <a:blip r:embed="rId3"/>
          <a:stretch>
            <a:fillRect/>
          </a:stretch>
        </p:blipFill>
        <p:spPr>
          <a:xfrm>
            <a:off x="6400800" y="1828800"/>
            <a:ext cx="5486400" cy="3632942"/>
          </a:xfrm>
          <a:prstGeom prst="rect">
            <a:avLst/>
          </a:prstGeom>
        </p:spPr>
      </p:pic>
      <p:sp>
        <p:nvSpPr>
          <p:cNvPr id="8" name="TextBox 7"/>
          <p:cNvSpPr txBox="1"/>
          <p:nvPr/>
        </p:nvSpPr>
        <p:spPr>
          <a:xfrm>
            <a:off x="548640" y="6263640"/>
            <a:ext cx="2194560" cy="822960"/>
          </a:xfrm>
          <a:prstGeom prst="rect">
            <a:avLst/>
          </a:prstGeom>
          <a:noFill/>
        </p:spPr>
        <p:txBody>
          <a:bodyPr wrap="square" lIns="0" rIns="0" anchor="t">
            <a:spAutoFit/>
          </a:bodyPr>
          <a:lstStyle/>
          <a:p>
            <a:pPr algn="l"/>
            <a:r>
              <a:rPr sz="4400" b="1">
                <a:solidFill>
                  <a:srgbClr val="B26835"/>
                </a:solidFill>
                <a:latin typeface="JetBrains Mono"/>
              </a:rPr>
              <a:t>0.23</a:t>
            </a:r>
          </a:p>
        </p:txBody>
      </p:sp>
      <p:sp>
        <p:nvSpPr>
          <p:cNvPr id="9" name="TextBox 8"/>
          <p:cNvSpPr txBox="1"/>
          <p:nvPr/>
        </p:nvSpPr>
        <p:spPr>
          <a:xfrm>
            <a:off x="548640" y="7040879"/>
            <a:ext cx="2194560" cy="365760"/>
          </a:xfrm>
          <a:prstGeom prst="rect">
            <a:avLst/>
          </a:prstGeom>
          <a:noFill/>
        </p:spPr>
        <p:txBody>
          <a:bodyPr wrap="square" lIns="0" rIns="0" anchor="t">
            <a:spAutoFit/>
          </a:bodyPr>
          <a:lstStyle/>
          <a:p>
            <a:pPr algn="l"/>
            <a:r>
              <a:rPr sz="1100" b="0">
                <a:solidFill>
                  <a:srgbClr val="4A4A4A"/>
                </a:solidFill>
                <a:latin typeface="Inter"/>
              </a:rPr>
              <a:t>seuil optimal vs 0.5 par défaut</a:t>
            </a:r>
          </a:p>
        </p:txBody>
      </p:sp>
      <p:sp>
        <p:nvSpPr>
          <p:cNvPr id="10" name="TextBox 9"/>
          <p:cNvSpPr txBox="1"/>
          <p:nvPr/>
        </p:nvSpPr>
        <p:spPr>
          <a:xfrm>
            <a:off x="5486400" y="6263640"/>
            <a:ext cx="2194560" cy="822960"/>
          </a:xfrm>
          <a:prstGeom prst="rect">
            <a:avLst/>
          </a:prstGeom>
          <a:noFill/>
        </p:spPr>
        <p:txBody>
          <a:bodyPr wrap="square" lIns="0" rIns="0" anchor="t">
            <a:spAutoFit/>
          </a:bodyPr>
          <a:lstStyle/>
          <a:p>
            <a:pPr algn="l"/>
            <a:r>
              <a:rPr sz="4400" b="1">
                <a:solidFill>
                  <a:srgbClr val="2E7D32"/>
                </a:solidFill>
                <a:latin typeface="JetBrains Mono"/>
              </a:rPr>
              <a:t>−12 000 €</a:t>
            </a:r>
          </a:p>
        </p:txBody>
      </p:sp>
      <p:sp>
        <p:nvSpPr>
          <p:cNvPr id="11" name="TextBox 10"/>
          <p:cNvSpPr txBox="1"/>
          <p:nvPr/>
        </p:nvSpPr>
        <p:spPr>
          <a:xfrm>
            <a:off x="5486400" y="7040879"/>
            <a:ext cx="2194560" cy="365760"/>
          </a:xfrm>
          <a:prstGeom prst="rect">
            <a:avLst/>
          </a:prstGeom>
          <a:noFill/>
        </p:spPr>
        <p:txBody>
          <a:bodyPr wrap="square" lIns="0" rIns="0" anchor="t">
            <a:spAutoFit/>
          </a:bodyPr>
          <a:lstStyle/>
          <a:p>
            <a:pPr algn="l"/>
            <a:r>
              <a:rPr sz="1100" b="0">
                <a:solidFill>
                  <a:srgbClr val="4A4A4A"/>
                </a:solidFill>
                <a:latin typeface="Inter"/>
              </a:rPr>
              <a:t>économie / cycle de scoring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48640" cy="365760"/>
          </a:xfrm>
          <a:prstGeom prst="rect">
            <a:avLst/>
          </a:prstGeom>
          <a:noFill/>
        </p:spPr>
        <p:txBody>
          <a:bodyPr wrap="square" lIns="0" rIns="0" anchor="t">
            <a:spAutoFit/>
          </a:bodyPr>
          <a:lstStyle/>
          <a:p>
            <a:pPr algn="l"/>
            <a:r>
              <a:rPr sz="1200" b="1">
                <a:solidFill>
                  <a:srgbClr val="B26835"/>
                </a:solidFill>
                <a:latin typeface="JetBrains Mono"/>
              </a:rPr>
              <a:t>07</a:t>
            </a:r>
          </a:p>
        </p:txBody>
      </p:sp>
      <p:sp>
        <p:nvSpPr>
          <p:cNvPr id="4" name="TextBox 3"/>
          <p:cNvSpPr txBox="1"/>
          <p:nvPr/>
        </p:nvSpPr>
        <p:spPr>
          <a:xfrm>
            <a:off x="1051560" y="502920"/>
            <a:ext cx="7315200" cy="365760"/>
          </a:xfrm>
          <a:prstGeom prst="rect">
            <a:avLst/>
          </a:prstGeom>
          <a:noFill/>
        </p:spPr>
        <p:txBody>
          <a:bodyPr wrap="square" lIns="0" rIns="0" anchor="t">
            <a:spAutoFit/>
          </a:bodyPr>
          <a:lstStyle/>
          <a:p>
            <a:pPr algn="l"/>
            <a:r>
              <a:rPr sz="1200" b="1">
                <a:solidFill>
                  <a:srgbClr val="37474F"/>
                </a:solidFill>
                <a:latin typeface="Plus Jakarta Sans"/>
              </a:rPr>
              <a:t>BONUS · MULTI-CLASSE</a:t>
            </a:r>
          </a:p>
        </p:txBody>
      </p:sp>
      <p:sp>
        <p:nvSpPr>
          <p:cNvPr id="5" name="TextBox 4"/>
          <p:cNvSpPr txBox="1"/>
          <p:nvPr/>
        </p:nvSpPr>
        <p:spPr>
          <a:xfrm>
            <a:off x="548640" y="914400"/>
            <a:ext cx="10972800" cy="914400"/>
          </a:xfrm>
          <a:prstGeom prst="rect">
            <a:avLst/>
          </a:prstGeom>
          <a:noFill/>
        </p:spPr>
        <p:txBody>
          <a:bodyPr wrap="square" lIns="0" rIns="0" anchor="t">
            <a:spAutoFit/>
          </a:bodyPr>
          <a:lstStyle/>
          <a:p>
            <a:pPr algn="l"/>
            <a:r>
              <a:rPr sz="4000" b="1">
                <a:solidFill>
                  <a:srgbClr val="1A232E"/>
                </a:solidFill>
                <a:latin typeface="Plus Jakarta Sans"/>
              </a:rPr>
              <a:t>Quel TYPE de panne ?</a:t>
            </a:r>
          </a:p>
        </p:txBody>
      </p:sp>
      <p:pic>
        <p:nvPicPr>
          <p:cNvPr id="6" name="Picture 5" descr="multiclass_confusion_matrix.png"/>
          <p:cNvPicPr>
            <a:picLocks noChangeAspect="1"/>
          </p:cNvPicPr>
          <p:nvPr/>
        </p:nvPicPr>
        <p:blipFill>
          <a:blip r:embed="rId2"/>
          <a:stretch>
            <a:fillRect/>
          </a:stretch>
        </p:blipFill>
        <p:spPr>
          <a:xfrm>
            <a:off x="548640" y="1828800"/>
            <a:ext cx="5146380" cy="4389120"/>
          </a:xfrm>
          <a:prstGeom prst="rect">
            <a:avLst/>
          </a:prstGeom>
        </p:spPr>
      </p:pic>
      <p:sp>
        <p:nvSpPr>
          <p:cNvPr id="7" name="TextBox 6"/>
          <p:cNvSpPr txBox="1"/>
          <p:nvPr/>
        </p:nvSpPr>
        <p:spPr>
          <a:xfrm>
            <a:off x="7315200" y="2194560"/>
            <a:ext cx="2194560" cy="822960"/>
          </a:xfrm>
          <a:prstGeom prst="rect">
            <a:avLst/>
          </a:prstGeom>
          <a:noFill/>
        </p:spPr>
        <p:txBody>
          <a:bodyPr wrap="square" lIns="0" rIns="0" anchor="t">
            <a:spAutoFit/>
          </a:bodyPr>
          <a:lstStyle/>
          <a:p>
            <a:pPr algn="l"/>
            <a:r>
              <a:rPr sz="4400" b="1">
                <a:solidFill>
                  <a:srgbClr val="B26835"/>
                </a:solidFill>
                <a:latin typeface="JetBrains Mono"/>
              </a:rPr>
              <a:t>0.93</a:t>
            </a:r>
          </a:p>
        </p:txBody>
      </p:sp>
      <p:sp>
        <p:nvSpPr>
          <p:cNvPr id="8" name="TextBox 7"/>
          <p:cNvSpPr txBox="1"/>
          <p:nvPr/>
        </p:nvSpPr>
        <p:spPr>
          <a:xfrm>
            <a:off x="7315200" y="2971800"/>
            <a:ext cx="2194560" cy="365760"/>
          </a:xfrm>
          <a:prstGeom prst="rect">
            <a:avLst/>
          </a:prstGeom>
          <a:noFill/>
        </p:spPr>
        <p:txBody>
          <a:bodyPr wrap="square" lIns="0" rIns="0" anchor="t">
            <a:spAutoFit/>
          </a:bodyPr>
          <a:lstStyle/>
          <a:p>
            <a:pPr algn="l"/>
            <a:r>
              <a:rPr sz="1100" b="0">
                <a:solidFill>
                  <a:srgbClr val="4A4A4A"/>
                </a:solidFill>
                <a:latin typeface="Inter"/>
              </a:rPr>
              <a:t>macro-F1 sur 5 classes</a:t>
            </a:r>
          </a:p>
        </p:txBody>
      </p:sp>
      <p:sp>
        <p:nvSpPr>
          <p:cNvPr id="9" name="TextBox 8"/>
          <p:cNvSpPr txBox="1"/>
          <p:nvPr/>
        </p:nvSpPr>
        <p:spPr>
          <a:xfrm>
            <a:off x="7315200" y="3200400"/>
            <a:ext cx="4572000" cy="274320"/>
          </a:xfrm>
          <a:prstGeom prst="rect">
            <a:avLst/>
          </a:prstGeom>
          <a:noFill/>
        </p:spPr>
        <p:txBody>
          <a:bodyPr wrap="square" lIns="0" rIns="0" anchor="t">
            <a:spAutoFit/>
          </a:bodyPr>
          <a:lstStyle/>
          <a:p>
            <a:pPr algn="l"/>
            <a:r>
              <a:rPr sz="1000" b="1">
                <a:solidFill>
                  <a:srgbClr val="B26835"/>
                </a:solidFill>
                <a:latin typeface="JetBrains Mono"/>
              </a:rPr>
              <a:t>5 TYPES DE PANNE</a:t>
            </a:r>
          </a:p>
        </p:txBody>
      </p:sp>
      <p:sp>
        <p:nvSpPr>
          <p:cNvPr id="10" name="TextBox 9"/>
          <p:cNvSpPr txBox="1"/>
          <p:nvPr/>
        </p:nvSpPr>
        <p:spPr>
          <a:xfrm>
            <a:off x="7315200" y="3520440"/>
            <a:ext cx="4572000" cy="320040"/>
          </a:xfrm>
          <a:prstGeom prst="rect">
            <a:avLst/>
          </a:prstGeom>
          <a:noFill/>
        </p:spPr>
        <p:txBody>
          <a:bodyPr wrap="square" lIns="0" rIns="0" anchor="t">
            <a:spAutoFit/>
          </a:bodyPr>
          <a:lstStyle/>
          <a:p>
            <a:pPr algn="l"/>
            <a:r>
              <a:rPr sz="1300" b="0">
                <a:solidFill>
                  <a:srgbClr val="1A1A1A"/>
                </a:solidFill>
                <a:latin typeface="Inter"/>
              </a:rPr>
              <a:t>▸ bearing · roulement</a:t>
            </a:r>
          </a:p>
        </p:txBody>
      </p:sp>
      <p:sp>
        <p:nvSpPr>
          <p:cNvPr id="11" name="TextBox 10"/>
          <p:cNvSpPr txBox="1"/>
          <p:nvPr/>
        </p:nvSpPr>
        <p:spPr>
          <a:xfrm>
            <a:off x="7315200" y="3886200"/>
            <a:ext cx="4572000" cy="320040"/>
          </a:xfrm>
          <a:prstGeom prst="rect">
            <a:avLst/>
          </a:prstGeom>
          <a:noFill/>
        </p:spPr>
        <p:txBody>
          <a:bodyPr wrap="square" lIns="0" rIns="0" anchor="t">
            <a:spAutoFit/>
          </a:bodyPr>
          <a:lstStyle/>
          <a:p>
            <a:pPr algn="l"/>
            <a:r>
              <a:rPr sz="1300" b="0">
                <a:solidFill>
                  <a:srgbClr val="1A1A1A"/>
                </a:solidFill>
                <a:latin typeface="Inter"/>
              </a:rPr>
              <a:t>▸ motor_overheat · surchauffe</a:t>
            </a:r>
          </a:p>
        </p:txBody>
      </p:sp>
      <p:sp>
        <p:nvSpPr>
          <p:cNvPr id="12" name="TextBox 11"/>
          <p:cNvSpPr txBox="1"/>
          <p:nvPr/>
        </p:nvSpPr>
        <p:spPr>
          <a:xfrm>
            <a:off x="7315200" y="4251960"/>
            <a:ext cx="4572000" cy="320040"/>
          </a:xfrm>
          <a:prstGeom prst="rect">
            <a:avLst/>
          </a:prstGeom>
          <a:noFill/>
        </p:spPr>
        <p:txBody>
          <a:bodyPr wrap="square" lIns="0" rIns="0" anchor="t">
            <a:spAutoFit/>
          </a:bodyPr>
          <a:lstStyle/>
          <a:p>
            <a:pPr algn="l"/>
            <a:r>
              <a:rPr sz="1300" b="0">
                <a:solidFill>
                  <a:srgbClr val="1A1A1A"/>
                </a:solidFill>
                <a:latin typeface="Inter"/>
              </a:rPr>
              <a:t>▸ hydraulic · pression</a:t>
            </a:r>
          </a:p>
        </p:txBody>
      </p:sp>
      <p:sp>
        <p:nvSpPr>
          <p:cNvPr id="13" name="TextBox 12"/>
          <p:cNvSpPr txBox="1"/>
          <p:nvPr/>
        </p:nvSpPr>
        <p:spPr>
          <a:xfrm>
            <a:off x="7315200" y="4617720"/>
            <a:ext cx="4572000" cy="320040"/>
          </a:xfrm>
          <a:prstGeom prst="rect">
            <a:avLst/>
          </a:prstGeom>
          <a:noFill/>
        </p:spPr>
        <p:txBody>
          <a:bodyPr wrap="square" lIns="0" rIns="0" anchor="t">
            <a:spAutoFit/>
          </a:bodyPr>
          <a:lstStyle/>
          <a:p>
            <a:pPr algn="l"/>
            <a:r>
              <a:rPr sz="1300" b="0">
                <a:solidFill>
                  <a:srgbClr val="1A1A1A"/>
                </a:solidFill>
                <a:latin typeface="Inter"/>
              </a:rPr>
              <a:t>▸ electrical · électrique</a:t>
            </a:r>
          </a:p>
        </p:txBody>
      </p:sp>
      <p:sp>
        <p:nvSpPr>
          <p:cNvPr id="14" name="TextBox 13"/>
          <p:cNvSpPr txBox="1"/>
          <p:nvPr/>
        </p:nvSpPr>
        <p:spPr>
          <a:xfrm>
            <a:off x="548640" y="6355080"/>
            <a:ext cx="10972800" cy="365760"/>
          </a:xfrm>
          <a:prstGeom prst="rect">
            <a:avLst/>
          </a:prstGeom>
          <a:noFill/>
        </p:spPr>
        <p:txBody>
          <a:bodyPr wrap="square" lIns="0" rIns="0" anchor="t">
            <a:spAutoFit/>
          </a:bodyPr>
          <a:lstStyle/>
          <a:p>
            <a:pPr algn="ctr"/>
            <a:r>
              <a:rPr sz="1100" b="0">
                <a:solidFill>
                  <a:srgbClr val="4A4A4A"/>
                </a:solidFill>
                <a:latin typeface="Inter"/>
              </a:rPr>
              <a:t>Permet au chef d'atelier de mobiliser la BONNE équipe technique avant l'intervention.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48640" cy="365760"/>
          </a:xfrm>
          <a:prstGeom prst="rect">
            <a:avLst/>
          </a:prstGeom>
          <a:noFill/>
        </p:spPr>
        <p:txBody>
          <a:bodyPr wrap="square" lIns="0" rIns="0" anchor="t">
            <a:spAutoFit/>
          </a:bodyPr>
          <a:lstStyle/>
          <a:p>
            <a:pPr algn="l"/>
            <a:r>
              <a:rPr sz="1200" b="1">
                <a:solidFill>
                  <a:srgbClr val="B26835"/>
                </a:solidFill>
                <a:latin typeface="JetBrains Mono"/>
              </a:rPr>
              <a:t>07</a:t>
            </a:r>
          </a:p>
        </p:txBody>
      </p:sp>
      <p:sp>
        <p:nvSpPr>
          <p:cNvPr id="4" name="TextBox 3"/>
          <p:cNvSpPr txBox="1"/>
          <p:nvPr/>
        </p:nvSpPr>
        <p:spPr>
          <a:xfrm>
            <a:off x="1051560" y="502920"/>
            <a:ext cx="7315200" cy="365760"/>
          </a:xfrm>
          <a:prstGeom prst="rect">
            <a:avLst/>
          </a:prstGeom>
          <a:noFill/>
        </p:spPr>
        <p:txBody>
          <a:bodyPr wrap="square" lIns="0" rIns="0" anchor="t">
            <a:spAutoFit/>
          </a:bodyPr>
          <a:lstStyle/>
          <a:p>
            <a:pPr algn="l"/>
            <a:r>
              <a:rPr sz="1200" b="1">
                <a:solidFill>
                  <a:srgbClr val="37474F"/>
                </a:solidFill>
                <a:latin typeface="Plus Jakarta Sans"/>
              </a:rPr>
              <a:t>BONUS · RÉGRESSION RUL</a:t>
            </a:r>
          </a:p>
        </p:txBody>
      </p:sp>
      <p:sp>
        <p:nvSpPr>
          <p:cNvPr id="5" name="TextBox 4"/>
          <p:cNvSpPr txBox="1"/>
          <p:nvPr/>
        </p:nvSpPr>
        <p:spPr>
          <a:xfrm>
            <a:off x="548640" y="914400"/>
            <a:ext cx="10972800" cy="914400"/>
          </a:xfrm>
          <a:prstGeom prst="rect">
            <a:avLst/>
          </a:prstGeom>
          <a:noFill/>
        </p:spPr>
        <p:txBody>
          <a:bodyPr wrap="square" lIns="0" rIns="0" anchor="t">
            <a:spAutoFit/>
          </a:bodyPr>
          <a:lstStyle/>
          <a:p>
            <a:pPr algn="l"/>
            <a:r>
              <a:rPr sz="3600" b="1">
                <a:solidFill>
                  <a:srgbClr val="1A232E"/>
                </a:solidFill>
                <a:latin typeface="Plus Jakarta Sans"/>
              </a:rPr>
              <a:t>Combien d'heures avant la panne ?</a:t>
            </a:r>
          </a:p>
        </p:txBody>
      </p:sp>
      <p:pic>
        <p:nvPicPr>
          <p:cNvPr id="6" name="Picture 5" descr="regression_pred_vs_true.png"/>
          <p:cNvPicPr>
            <a:picLocks noChangeAspect="1"/>
          </p:cNvPicPr>
          <p:nvPr/>
        </p:nvPicPr>
        <p:blipFill>
          <a:blip r:embed="rId2"/>
          <a:stretch>
            <a:fillRect/>
          </a:stretch>
        </p:blipFill>
        <p:spPr>
          <a:xfrm>
            <a:off x="548640" y="1828800"/>
            <a:ext cx="5030084" cy="4389120"/>
          </a:xfrm>
          <a:prstGeom prst="rect">
            <a:avLst/>
          </a:prstGeom>
        </p:spPr>
      </p:pic>
      <p:sp>
        <p:nvSpPr>
          <p:cNvPr id="7" name="TextBox 6"/>
          <p:cNvSpPr txBox="1"/>
          <p:nvPr/>
        </p:nvSpPr>
        <p:spPr>
          <a:xfrm>
            <a:off x="7315200" y="2194560"/>
            <a:ext cx="2194560" cy="822960"/>
          </a:xfrm>
          <a:prstGeom prst="rect">
            <a:avLst/>
          </a:prstGeom>
          <a:noFill/>
        </p:spPr>
        <p:txBody>
          <a:bodyPr wrap="square" lIns="0" rIns="0" anchor="t">
            <a:spAutoFit/>
          </a:bodyPr>
          <a:lstStyle/>
          <a:p>
            <a:pPr algn="l"/>
            <a:r>
              <a:rPr sz="4400" b="1">
                <a:solidFill>
                  <a:srgbClr val="B26835"/>
                </a:solidFill>
                <a:latin typeface="JetBrains Mono"/>
              </a:rPr>
              <a:t>9.6 h</a:t>
            </a:r>
          </a:p>
        </p:txBody>
      </p:sp>
      <p:sp>
        <p:nvSpPr>
          <p:cNvPr id="8" name="TextBox 7"/>
          <p:cNvSpPr txBox="1"/>
          <p:nvPr/>
        </p:nvSpPr>
        <p:spPr>
          <a:xfrm>
            <a:off x="7315200" y="2971800"/>
            <a:ext cx="2194560" cy="365760"/>
          </a:xfrm>
          <a:prstGeom prst="rect">
            <a:avLst/>
          </a:prstGeom>
          <a:noFill/>
        </p:spPr>
        <p:txBody>
          <a:bodyPr wrap="square" lIns="0" rIns="0" anchor="t">
            <a:spAutoFit/>
          </a:bodyPr>
          <a:lstStyle/>
          <a:p>
            <a:pPr algn="l"/>
            <a:r>
              <a:rPr sz="1100" b="0">
                <a:solidFill>
                  <a:srgbClr val="4A4A4A"/>
                </a:solidFill>
                <a:latin typeface="Inter"/>
              </a:rPr>
              <a:t>MAE · erreur moyenne</a:t>
            </a:r>
          </a:p>
        </p:txBody>
      </p:sp>
      <p:sp>
        <p:nvSpPr>
          <p:cNvPr id="9" name="TextBox 8"/>
          <p:cNvSpPr txBox="1"/>
          <p:nvPr/>
        </p:nvSpPr>
        <p:spPr>
          <a:xfrm>
            <a:off x="7315200" y="3657600"/>
            <a:ext cx="2194560" cy="822960"/>
          </a:xfrm>
          <a:prstGeom prst="rect">
            <a:avLst/>
          </a:prstGeom>
          <a:noFill/>
        </p:spPr>
        <p:txBody>
          <a:bodyPr wrap="square" lIns="0" rIns="0" anchor="t">
            <a:spAutoFit/>
          </a:bodyPr>
          <a:lstStyle/>
          <a:p>
            <a:pPr algn="l"/>
            <a:r>
              <a:rPr sz="4400" b="1">
                <a:solidFill>
                  <a:srgbClr val="B26835"/>
                </a:solidFill>
                <a:latin typeface="JetBrains Mono"/>
              </a:rPr>
              <a:t>0.67</a:t>
            </a:r>
          </a:p>
        </p:txBody>
      </p:sp>
      <p:sp>
        <p:nvSpPr>
          <p:cNvPr id="10" name="TextBox 9"/>
          <p:cNvSpPr txBox="1"/>
          <p:nvPr/>
        </p:nvSpPr>
        <p:spPr>
          <a:xfrm>
            <a:off x="7315200" y="4434840"/>
            <a:ext cx="2194560" cy="365760"/>
          </a:xfrm>
          <a:prstGeom prst="rect">
            <a:avLst/>
          </a:prstGeom>
          <a:noFill/>
        </p:spPr>
        <p:txBody>
          <a:bodyPr wrap="square" lIns="0" rIns="0" anchor="t">
            <a:spAutoFit/>
          </a:bodyPr>
          <a:lstStyle/>
          <a:p>
            <a:pPr algn="l"/>
            <a:r>
              <a:rPr sz="1100" b="0">
                <a:solidFill>
                  <a:srgbClr val="4A4A4A"/>
                </a:solidFill>
                <a:latin typeface="Inter"/>
              </a:rPr>
              <a:t>R² · variance expliquée</a:t>
            </a:r>
          </a:p>
        </p:txBody>
      </p:sp>
      <p:sp>
        <p:nvSpPr>
          <p:cNvPr id="11" name="TextBox 10"/>
          <p:cNvSpPr txBox="1"/>
          <p:nvPr/>
        </p:nvSpPr>
        <p:spPr>
          <a:xfrm>
            <a:off x="7315200" y="5120640"/>
            <a:ext cx="4572000" cy="274320"/>
          </a:xfrm>
          <a:prstGeom prst="rect">
            <a:avLst/>
          </a:prstGeom>
          <a:noFill/>
        </p:spPr>
        <p:txBody>
          <a:bodyPr wrap="square" lIns="0" rIns="0" anchor="t">
            <a:spAutoFit/>
          </a:bodyPr>
          <a:lstStyle/>
          <a:p>
            <a:pPr algn="l"/>
            <a:r>
              <a:rPr sz="1000" b="1">
                <a:solidFill>
                  <a:srgbClr val="B26835"/>
                </a:solidFill>
                <a:latin typeface="JetBrains Mono"/>
              </a:rPr>
              <a:t>INTERPRÉTATION MÉTIER</a:t>
            </a:r>
          </a:p>
        </p:txBody>
      </p:sp>
      <p:sp>
        <p:nvSpPr>
          <p:cNvPr id="12" name="TextBox 11"/>
          <p:cNvSpPr txBox="1"/>
          <p:nvPr/>
        </p:nvSpPr>
        <p:spPr>
          <a:xfrm>
            <a:off x="7315200" y="5440680"/>
            <a:ext cx="4572000" cy="1371600"/>
          </a:xfrm>
          <a:prstGeom prst="rect">
            <a:avLst/>
          </a:prstGeom>
          <a:noFill/>
        </p:spPr>
        <p:txBody>
          <a:bodyPr wrap="square" lIns="0" rIns="0" anchor="t">
            <a:spAutoFit/>
          </a:bodyPr>
          <a:lstStyle/>
          <a:p>
            <a:pPr algn="l"/>
            <a:r>
              <a:rPr sz="1200" b="0">
                <a:solidFill>
                  <a:srgbClr val="1A1A1A"/>
                </a:solidFill>
                <a:latin typeface="Inter"/>
              </a:rPr>
              <a:t>« En moyenne, on se trompe de 9.6h sur la durée de vie restante. Suffisant pour planifier une intervention sur la semaine.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48640" cy="365760"/>
          </a:xfrm>
          <a:prstGeom prst="rect">
            <a:avLst/>
          </a:prstGeom>
          <a:noFill/>
        </p:spPr>
        <p:txBody>
          <a:bodyPr wrap="square" lIns="0" rIns="0" anchor="t">
            <a:spAutoFit/>
          </a:bodyPr>
          <a:lstStyle/>
          <a:p>
            <a:pPr algn="l"/>
            <a:r>
              <a:rPr sz="1200" b="1">
                <a:solidFill>
                  <a:srgbClr val="B26835"/>
                </a:solidFill>
                <a:latin typeface="JetBrains Mono"/>
              </a:rPr>
              <a:t>07</a:t>
            </a:r>
          </a:p>
        </p:txBody>
      </p:sp>
      <p:sp>
        <p:nvSpPr>
          <p:cNvPr id="4" name="TextBox 3"/>
          <p:cNvSpPr txBox="1"/>
          <p:nvPr/>
        </p:nvSpPr>
        <p:spPr>
          <a:xfrm>
            <a:off x="1051560" y="502920"/>
            <a:ext cx="7315200" cy="365760"/>
          </a:xfrm>
          <a:prstGeom prst="rect">
            <a:avLst/>
          </a:prstGeom>
          <a:noFill/>
        </p:spPr>
        <p:txBody>
          <a:bodyPr wrap="square" lIns="0" rIns="0" anchor="t">
            <a:spAutoFit/>
          </a:bodyPr>
          <a:lstStyle/>
          <a:p>
            <a:pPr algn="l"/>
            <a:r>
              <a:rPr sz="1200" b="1">
                <a:solidFill>
                  <a:srgbClr val="37474F"/>
                </a:solidFill>
                <a:latin typeface="Plus Jakarta Sans"/>
              </a:rPr>
              <a:t>BONUS · TUNING OPTUNA</a:t>
            </a:r>
          </a:p>
        </p:txBody>
      </p:sp>
      <p:sp>
        <p:nvSpPr>
          <p:cNvPr id="5" name="TextBox 4"/>
          <p:cNvSpPr txBox="1"/>
          <p:nvPr/>
        </p:nvSpPr>
        <p:spPr>
          <a:xfrm>
            <a:off x="548640" y="914400"/>
            <a:ext cx="10972800" cy="914400"/>
          </a:xfrm>
          <a:prstGeom prst="rect">
            <a:avLst/>
          </a:prstGeom>
          <a:noFill/>
        </p:spPr>
        <p:txBody>
          <a:bodyPr wrap="square" lIns="0" rIns="0" anchor="t">
            <a:spAutoFit/>
          </a:bodyPr>
          <a:lstStyle/>
          <a:p>
            <a:pPr algn="l"/>
            <a:r>
              <a:rPr sz="4000" b="1">
                <a:solidFill>
                  <a:srgbClr val="1A232E"/>
                </a:solidFill>
                <a:latin typeface="Plus Jakarta Sans"/>
              </a:rPr>
              <a:t>Optimisation bayésienne</a:t>
            </a:r>
          </a:p>
        </p:txBody>
      </p:sp>
      <p:sp>
        <p:nvSpPr>
          <p:cNvPr id="6" name="Rectangle 5"/>
          <p:cNvSpPr/>
          <p:nvPr/>
        </p:nvSpPr>
        <p:spPr>
          <a:xfrm>
            <a:off x="548640" y="2194560"/>
            <a:ext cx="11064240" cy="1097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331720"/>
            <a:ext cx="3657600" cy="457200"/>
          </a:xfrm>
          <a:prstGeom prst="rect">
            <a:avLst/>
          </a:prstGeom>
          <a:noFill/>
        </p:spPr>
        <p:txBody>
          <a:bodyPr wrap="square" lIns="0" rIns="0" anchor="t">
            <a:spAutoFit/>
          </a:bodyPr>
          <a:lstStyle/>
          <a:p>
            <a:pPr algn="l"/>
            <a:r>
              <a:rPr sz="1800" b="1">
                <a:solidFill>
                  <a:srgbClr val="1A232E"/>
                </a:solidFill>
                <a:latin typeface="Plus Jakarta Sans"/>
              </a:rPr>
              <a:t>RANDOM FOREST</a:t>
            </a:r>
          </a:p>
        </p:txBody>
      </p:sp>
      <p:sp>
        <p:nvSpPr>
          <p:cNvPr id="8" name="TextBox 7"/>
          <p:cNvSpPr txBox="1"/>
          <p:nvPr/>
        </p:nvSpPr>
        <p:spPr>
          <a:xfrm>
            <a:off x="777240" y="2788920"/>
            <a:ext cx="3657600" cy="365760"/>
          </a:xfrm>
          <a:prstGeom prst="rect">
            <a:avLst/>
          </a:prstGeom>
          <a:noFill/>
        </p:spPr>
        <p:txBody>
          <a:bodyPr wrap="square" lIns="0" rIns="0" anchor="t">
            <a:spAutoFit/>
          </a:bodyPr>
          <a:lstStyle/>
          <a:p>
            <a:pPr algn="l"/>
            <a:r>
              <a:rPr sz="1400" b="1">
                <a:solidFill>
                  <a:srgbClr val="B26835"/>
                </a:solidFill>
                <a:latin typeface="JetBrains Mono"/>
              </a:rPr>
              <a:t>F1 = 0.858</a:t>
            </a:r>
          </a:p>
        </p:txBody>
      </p:sp>
      <p:sp>
        <p:nvSpPr>
          <p:cNvPr id="9" name="TextBox 8"/>
          <p:cNvSpPr txBox="1"/>
          <p:nvPr/>
        </p:nvSpPr>
        <p:spPr>
          <a:xfrm>
            <a:off x="5029200" y="2560320"/>
            <a:ext cx="6400800" cy="457200"/>
          </a:xfrm>
          <a:prstGeom prst="rect">
            <a:avLst/>
          </a:prstGeom>
          <a:noFill/>
        </p:spPr>
        <p:txBody>
          <a:bodyPr wrap="square" lIns="0" rIns="0" anchor="t">
            <a:spAutoFit/>
          </a:bodyPr>
          <a:lstStyle/>
          <a:p>
            <a:pPr algn="l"/>
            <a:r>
              <a:rPr sz="1300" b="0">
                <a:solidFill>
                  <a:srgbClr val="4A4A4A"/>
                </a:solidFill>
                <a:latin typeface="JetBrains Mono"/>
              </a:rPr>
              <a:t>n_estimators=250, max_depth=25</a:t>
            </a:r>
          </a:p>
        </p:txBody>
      </p:sp>
      <p:sp>
        <p:nvSpPr>
          <p:cNvPr id="10" name="Rectangle 9"/>
          <p:cNvSpPr/>
          <p:nvPr/>
        </p:nvSpPr>
        <p:spPr>
          <a:xfrm>
            <a:off x="548640" y="3474720"/>
            <a:ext cx="11064240" cy="1097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611879"/>
            <a:ext cx="3657600" cy="457200"/>
          </a:xfrm>
          <a:prstGeom prst="rect">
            <a:avLst/>
          </a:prstGeom>
          <a:noFill/>
        </p:spPr>
        <p:txBody>
          <a:bodyPr wrap="square" lIns="0" rIns="0" anchor="t">
            <a:spAutoFit/>
          </a:bodyPr>
          <a:lstStyle/>
          <a:p>
            <a:pPr algn="l"/>
            <a:r>
              <a:rPr sz="1800" b="1">
                <a:solidFill>
                  <a:srgbClr val="1A232E"/>
                </a:solidFill>
                <a:latin typeface="Plus Jakarta Sans"/>
              </a:rPr>
              <a:t>XGBOOST</a:t>
            </a:r>
          </a:p>
        </p:txBody>
      </p:sp>
      <p:sp>
        <p:nvSpPr>
          <p:cNvPr id="12" name="TextBox 11"/>
          <p:cNvSpPr txBox="1"/>
          <p:nvPr/>
        </p:nvSpPr>
        <p:spPr>
          <a:xfrm>
            <a:off x="777240" y="4069080"/>
            <a:ext cx="3657600" cy="365760"/>
          </a:xfrm>
          <a:prstGeom prst="rect">
            <a:avLst/>
          </a:prstGeom>
          <a:noFill/>
        </p:spPr>
        <p:txBody>
          <a:bodyPr wrap="square" lIns="0" rIns="0" anchor="t">
            <a:spAutoFit/>
          </a:bodyPr>
          <a:lstStyle/>
          <a:p>
            <a:pPr algn="l"/>
            <a:r>
              <a:rPr sz="1400" b="1">
                <a:solidFill>
                  <a:srgbClr val="B26835"/>
                </a:solidFill>
                <a:latin typeface="JetBrains Mono"/>
              </a:rPr>
              <a:t>F1 = 0.884</a:t>
            </a:r>
          </a:p>
        </p:txBody>
      </p:sp>
      <p:sp>
        <p:nvSpPr>
          <p:cNvPr id="13" name="TextBox 12"/>
          <p:cNvSpPr txBox="1"/>
          <p:nvPr/>
        </p:nvSpPr>
        <p:spPr>
          <a:xfrm>
            <a:off x="5029200" y="3840480"/>
            <a:ext cx="6400800" cy="457200"/>
          </a:xfrm>
          <a:prstGeom prst="rect">
            <a:avLst/>
          </a:prstGeom>
          <a:noFill/>
        </p:spPr>
        <p:txBody>
          <a:bodyPr wrap="square" lIns="0" rIns="0" anchor="t">
            <a:spAutoFit/>
          </a:bodyPr>
          <a:lstStyle/>
          <a:p>
            <a:pPr algn="l"/>
            <a:r>
              <a:rPr sz="1300" b="0">
                <a:solidFill>
                  <a:srgbClr val="4A4A4A"/>
                </a:solidFill>
                <a:latin typeface="JetBrains Mono"/>
              </a:rPr>
              <a:t>n_estimators=500, lr=0.084, max_depth=10</a:t>
            </a:r>
          </a:p>
        </p:txBody>
      </p:sp>
      <p:sp>
        <p:nvSpPr>
          <p:cNvPr id="14" name="Rectangle 13"/>
          <p:cNvSpPr/>
          <p:nvPr/>
        </p:nvSpPr>
        <p:spPr>
          <a:xfrm>
            <a:off x="548640" y="4754879"/>
            <a:ext cx="11064240" cy="1097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892040"/>
            <a:ext cx="3657600" cy="457200"/>
          </a:xfrm>
          <a:prstGeom prst="rect">
            <a:avLst/>
          </a:prstGeom>
          <a:noFill/>
        </p:spPr>
        <p:txBody>
          <a:bodyPr wrap="square" lIns="0" rIns="0" anchor="t">
            <a:spAutoFit/>
          </a:bodyPr>
          <a:lstStyle/>
          <a:p>
            <a:pPr algn="l"/>
            <a:r>
              <a:rPr sz="1800" b="1">
                <a:solidFill>
                  <a:srgbClr val="1A232E"/>
                </a:solidFill>
                <a:latin typeface="Plus Jakarta Sans"/>
              </a:rPr>
              <a:t>MLP</a:t>
            </a:r>
          </a:p>
        </p:txBody>
      </p:sp>
      <p:sp>
        <p:nvSpPr>
          <p:cNvPr id="16" name="TextBox 15"/>
          <p:cNvSpPr txBox="1"/>
          <p:nvPr/>
        </p:nvSpPr>
        <p:spPr>
          <a:xfrm>
            <a:off x="777240" y="5349240"/>
            <a:ext cx="3657600" cy="365760"/>
          </a:xfrm>
          <a:prstGeom prst="rect">
            <a:avLst/>
          </a:prstGeom>
          <a:noFill/>
        </p:spPr>
        <p:txBody>
          <a:bodyPr wrap="square" lIns="0" rIns="0" anchor="t">
            <a:spAutoFit/>
          </a:bodyPr>
          <a:lstStyle/>
          <a:p>
            <a:pPr algn="l"/>
            <a:r>
              <a:rPr sz="1400" b="1">
                <a:solidFill>
                  <a:srgbClr val="B26835"/>
                </a:solidFill>
                <a:latin typeface="JetBrains Mono"/>
              </a:rPr>
              <a:t>F1 = 0.801</a:t>
            </a:r>
          </a:p>
        </p:txBody>
      </p:sp>
      <p:sp>
        <p:nvSpPr>
          <p:cNvPr id="17" name="TextBox 16"/>
          <p:cNvSpPr txBox="1"/>
          <p:nvPr/>
        </p:nvSpPr>
        <p:spPr>
          <a:xfrm>
            <a:off x="5029200" y="5120640"/>
            <a:ext cx="6400800" cy="457200"/>
          </a:xfrm>
          <a:prstGeom prst="rect">
            <a:avLst/>
          </a:prstGeom>
          <a:noFill/>
        </p:spPr>
        <p:txBody>
          <a:bodyPr wrap="square" lIns="0" rIns="0" anchor="t">
            <a:spAutoFit/>
          </a:bodyPr>
          <a:lstStyle/>
          <a:p>
            <a:pPr algn="l"/>
            <a:r>
              <a:rPr sz="1300" b="0">
                <a:solidFill>
                  <a:srgbClr val="4A4A4A"/>
                </a:solidFill>
                <a:latin typeface="JetBrains Mono"/>
              </a:rPr>
              <a:t>architecture=128-64-32, alpha=0.002</a:t>
            </a:r>
          </a:p>
        </p:txBody>
      </p:sp>
      <p:sp>
        <p:nvSpPr>
          <p:cNvPr id="18" name="TextBox 17"/>
          <p:cNvSpPr txBox="1"/>
          <p:nvPr/>
        </p:nvSpPr>
        <p:spPr>
          <a:xfrm>
            <a:off x="548640" y="6263640"/>
            <a:ext cx="10972800" cy="365760"/>
          </a:xfrm>
          <a:prstGeom prst="rect">
            <a:avLst/>
          </a:prstGeom>
          <a:noFill/>
        </p:spPr>
        <p:txBody>
          <a:bodyPr wrap="square" lIns="0" rIns="0" anchor="t">
            <a:spAutoFit/>
          </a:bodyPr>
          <a:lstStyle/>
          <a:p>
            <a:pPr algn="ctr"/>
            <a:r>
              <a:rPr sz="1100" b="0">
                <a:solidFill>
                  <a:srgbClr val="B26835"/>
                </a:solidFill>
                <a:latin typeface="JetBrains Mono"/>
              </a:rPr>
              <a:t>TPE (Tree-structured Parzen Estimator) · ~10× plus efficient que GridSearch.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48640" cy="365760"/>
          </a:xfrm>
          <a:prstGeom prst="rect">
            <a:avLst/>
          </a:prstGeom>
          <a:noFill/>
        </p:spPr>
        <p:txBody>
          <a:bodyPr wrap="square" lIns="0" rIns="0" anchor="t">
            <a:spAutoFit/>
          </a:bodyPr>
          <a:lstStyle/>
          <a:p>
            <a:pPr algn="l"/>
            <a:r>
              <a:rPr sz="1200" b="1">
                <a:solidFill>
                  <a:srgbClr val="B26835"/>
                </a:solidFill>
                <a:latin typeface="JetBrains Mono"/>
              </a:rPr>
              <a:t>08</a:t>
            </a:r>
          </a:p>
        </p:txBody>
      </p:sp>
      <p:sp>
        <p:nvSpPr>
          <p:cNvPr id="4" name="TextBox 3"/>
          <p:cNvSpPr txBox="1"/>
          <p:nvPr/>
        </p:nvSpPr>
        <p:spPr>
          <a:xfrm>
            <a:off x="1051560" y="502920"/>
            <a:ext cx="7315200" cy="365760"/>
          </a:xfrm>
          <a:prstGeom prst="rect">
            <a:avLst/>
          </a:prstGeom>
          <a:noFill/>
        </p:spPr>
        <p:txBody>
          <a:bodyPr wrap="square" lIns="0" rIns="0" anchor="t">
            <a:spAutoFit/>
          </a:bodyPr>
          <a:lstStyle/>
          <a:p>
            <a:pPr algn="l"/>
            <a:r>
              <a:rPr sz="1200" b="1">
                <a:solidFill>
                  <a:srgbClr val="37474F"/>
                </a:solidFill>
                <a:latin typeface="Plus Jakarta Sans"/>
              </a:rPr>
              <a:t>SYNTHÈSE</a:t>
            </a:r>
          </a:p>
        </p:txBody>
      </p:sp>
      <p:sp>
        <p:nvSpPr>
          <p:cNvPr id="5" name="TextBox 4"/>
          <p:cNvSpPr txBox="1"/>
          <p:nvPr/>
        </p:nvSpPr>
        <p:spPr>
          <a:xfrm>
            <a:off x="548640" y="914400"/>
            <a:ext cx="10972800" cy="914400"/>
          </a:xfrm>
          <a:prstGeom prst="rect">
            <a:avLst/>
          </a:prstGeom>
          <a:noFill/>
        </p:spPr>
        <p:txBody>
          <a:bodyPr wrap="square" lIns="0" rIns="0" anchor="t">
            <a:spAutoFit/>
          </a:bodyPr>
          <a:lstStyle/>
          <a:p>
            <a:pPr algn="l"/>
            <a:r>
              <a:rPr sz="4400" b="1">
                <a:solidFill>
                  <a:srgbClr val="1A232E"/>
                </a:solidFill>
                <a:latin typeface="Plus Jakarta Sans"/>
              </a:rPr>
              <a:t>Ce qu'on a livré</a:t>
            </a:r>
          </a:p>
        </p:txBody>
      </p:sp>
      <p:sp>
        <p:nvSpPr>
          <p:cNvPr id="6" name="Rectangle 5"/>
          <p:cNvSpPr/>
          <p:nvPr/>
        </p:nvSpPr>
        <p:spPr>
          <a:xfrm>
            <a:off x="548640" y="2194560"/>
            <a:ext cx="5486400" cy="1051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286000"/>
            <a:ext cx="1371600" cy="914400"/>
          </a:xfrm>
          <a:prstGeom prst="rect">
            <a:avLst/>
          </a:prstGeom>
          <a:noFill/>
        </p:spPr>
        <p:txBody>
          <a:bodyPr wrap="square" lIns="0" rIns="0" anchor="ctr">
            <a:spAutoFit/>
          </a:bodyPr>
          <a:lstStyle/>
          <a:p>
            <a:pPr algn="l"/>
            <a:r>
              <a:rPr sz="4400" b="1">
                <a:solidFill>
                  <a:srgbClr val="2E7D32"/>
                </a:solidFill>
                <a:latin typeface="JetBrains Mono"/>
              </a:rPr>
              <a:t>4</a:t>
            </a:r>
          </a:p>
        </p:txBody>
      </p:sp>
      <p:sp>
        <p:nvSpPr>
          <p:cNvPr id="8" name="TextBox 7"/>
          <p:cNvSpPr txBox="1"/>
          <p:nvPr/>
        </p:nvSpPr>
        <p:spPr>
          <a:xfrm>
            <a:off x="2103120" y="2468879"/>
            <a:ext cx="3840480" cy="548640"/>
          </a:xfrm>
          <a:prstGeom prst="rect">
            <a:avLst/>
          </a:prstGeom>
          <a:noFill/>
        </p:spPr>
        <p:txBody>
          <a:bodyPr wrap="square" lIns="0" rIns="0" anchor="ctr">
            <a:spAutoFit/>
          </a:bodyPr>
          <a:lstStyle/>
          <a:p>
            <a:pPr algn="l"/>
            <a:r>
              <a:rPr sz="1400" b="0">
                <a:solidFill>
                  <a:srgbClr val="1A1A1A"/>
                </a:solidFill>
                <a:latin typeface="Inter"/>
              </a:rPr>
              <a:t>modèles ML/DL comparés rigoureusement</a:t>
            </a:r>
          </a:p>
        </p:txBody>
      </p:sp>
      <p:sp>
        <p:nvSpPr>
          <p:cNvPr id="9" name="Rectangle 8"/>
          <p:cNvSpPr/>
          <p:nvPr/>
        </p:nvSpPr>
        <p:spPr>
          <a:xfrm>
            <a:off x="6355079" y="2194560"/>
            <a:ext cx="5486400" cy="1051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37959" y="2286000"/>
            <a:ext cx="1371600" cy="914400"/>
          </a:xfrm>
          <a:prstGeom prst="rect">
            <a:avLst/>
          </a:prstGeom>
          <a:noFill/>
        </p:spPr>
        <p:txBody>
          <a:bodyPr wrap="square" lIns="0" rIns="0" anchor="ctr">
            <a:spAutoFit/>
          </a:bodyPr>
          <a:lstStyle/>
          <a:p>
            <a:pPr algn="l"/>
            <a:r>
              <a:rPr sz="4400" b="1">
                <a:solidFill>
                  <a:srgbClr val="B26835"/>
                </a:solidFill>
                <a:latin typeface="JetBrains Mono"/>
              </a:rPr>
              <a:t>3</a:t>
            </a:r>
          </a:p>
        </p:txBody>
      </p:sp>
      <p:sp>
        <p:nvSpPr>
          <p:cNvPr id="11" name="TextBox 10"/>
          <p:cNvSpPr txBox="1"/>
          <p:nvPr/>
        </p:nvSpPr>
        <p:spPr>
          <a:xfrm>
            <a:off x="7909559" y="2468879"/>
            <a:ext cx="3840480" cy="548640"/>
          </a:xfrm>
          <a:prstGeom prst="rect">
            <a:avLst/>
          </a:prstGeom>
          <a:noFill/>
        </p:spPr>
        <p:txBody>
          <a:bodyPr wrap="square" lIns="0" rIns="0" anchor="ctr">
            <a:spAutoFit/>
          </a:bodyPr>
          <a:lstStyle/>
          <a:p>
            <a:pPr algn="l"/>
            <a:r>
              <a:rPr sz="1400" b="0">
                <a:solidFill>
                  <a:srgbClr val="1A1A1A"/>
                </a:solidFill>
                <a:latin typeface="Inter"/>
              </a:rPr>
              <a:t>tâches de prédiction (binaire + multi + régression)</a:t>
            </a:r>
          </a:p>
        </p:txBody>
      </p:sp>
      <p:sp>
        <p:nvSpPr>
          <p:cNvPr id="12" name="Rectangle 11"/>
          <p:cNvSpPr/>
          <p:nvPr/>
        </p:nvSpPr>
        <p:spPr>
          <a:xfrm>
            <a:off x="548640" y="3429000"/>
            <a:ext cx="5486400" cy="1051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520440"/>
            <a:ext cx="1371600" cy="914400"/>
          </a:xfrm>
          <a:prstGeom prst="rect">
            <a:avLst/>
          </a:prstGeom>
          <a:noFill/>
        </p:spPr>
        <p:txBody>
          <a:bodyPr wrap="square" lIns="0" rIns="0" anchor="ctr">
            <a:spAutoFit/>
          </a:bodyPr>
          <a:lstStyle/>
          <a:p>
            <a:pPr algn="l"/>
            <a:r>
              <a:rPr sz="4400" b="1">
                <a:solidFill>
                  <a:srgbClr val="37474F"/>
                </a:solidFill>
                <a:latin typeface="JetBrains Mono"/>
              </a:rPr>
              <a:t>8</a:t>
            </a:r>
          </a:p>
        </p:txBody>
      </p:sp>
      <p:sp>
        <p:nvSpPr>
          <p:cNvPr id="14" name="TextBox 13"/>
          <p:cNvSpPr txBox="1"/>
          <p:nvPr/>
        </p:nvSpPr>
        <p:spPr>
          <a:xfrm>
            <a:off x="2103120" y="3703320"/>
            <a:ext cx="3840480" cy="548640"/>
          </a:xfrm>
          <a:prstGeom prst="rect">
            <a:avLst/>
          </a:prstGeom>
          <a:noFill/>
        </p:spPr>
        <p:txBody>
          <a:bodyPr wrap="square" lIns="0" rIns="0" anchor="ctr">
            <a:spAutoFit/>
          </a:bodyPr>
          <a:lstStyle/>
          <a:p>
            <a:pPr algn="l"/>
            <a:r>
              <a:rPr sz="1400" b="0">
                <a:solidFill>
                  <a:srgbClr val="1A1A1A"/>
                </a:solidFill>
                <a:latin typeface="Inter"/>
              </a:rPr>
              <a:t>scripts numérotés · pipeline reproductible</a:t>
            </a:r>
          </a:p>
        </p:txBody>
      </p:sp>
      <p:sp>
        <p:nvSpPr>
          <p:cNvPr id="15" name="Rectangle 14"/>
          <p:cNvSpPr/>
          <p:nvPr/>
        </p:nvSpPr>
        <p:spPr>
          <a:xfrm>
            <a:off x="6355079" y="3429000"/>
            <a:ext cx="5486400" cy="1051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59" y="3520440"/>
            <a:ext cx="1371600" cy="914400"/>
          </a:xfrm>
          <a:prstGeom prst="rect">
            <a:avLst/>
          </a:prstGeom>
          <a:noFill/>
        </p:spPr>
        <p:txBody>
          <a:bodyPr wrap="square" lIns="0" rIns="0" anchor="ctr">
            <a:spAutoFit/>
          </a:bodyPr>
          <a:lstStyle/>
          <a:p>
            <a:pPr algn="l"/>
            <a:r>
              <a:rPr sz="4400" b="1">
                <a:solidFill>
                  <a:srgbClr val="B26835"/>
                </a:solidFill>
                <a:latin typeface="JetBrains Mono"/>
              </a:rPr>
              <a:t>33</a:t>
            </a:r>
          </a:p>
        </p:txBody>
      </p:sp>
      <p:sp>
        <p:nvSpPr>
          <p:cNvPr id="17" name="TextBox 16"/>
          <p:cNvSpPr txBox="1"/>
          <p:nvPr/>
        </p:nvSpPr>
        <p:spPr>
          <a:xfrm>
            <a:off x="7909559" y="3703320"/>
            <a:ext cx="3840480" cy="548640"/>
          </a:xfrm>
          <a:prstGeom prst="rect">
            <a:avLst/>
          </a:prstGeom>
          <a:noFill/>
        </p:spPr>
        <p:txBody>
          <a:bodyPr wrap="square" lIns="0" rIns="0" anchor="ctr">
            <a:spAutoFit/>
          </a:bodyPr>
          <a:lstStyle/>
          <a:p>
            <a:pPr algn="l"/>
            <a:r>
              <a:rPr sz="1400" b="0">
                <a:solidFill>
                  <a:srgbClr val="1A1A1A"/>
                </a:solidFill>
                <a:latin typeface="Inter"/>
              </a:rPr>
              <a:t>figures + 6 métriques par modèle</a:t>
            </a:r>
          </a:p>
        </p:txBody>
      </p:sp>
      <p:sp>
        <p:nvSpPr>
          <p:cNvPr id="18" name="Rectangle 17"/>
          <p:cNvSpPr/>
          <p:nvPr/>
        </p:nvSpPr>
        <p:spPr>
          <a:xfrm>
            <a:off x="548640" y="4663440"/>
            <a:ext cx="5486400" cy="1051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754879"/>
            <a:ext cx="1371600" cy="914400"/>
          </a:xfrm>
          <a:prstGeom prst="rect">
            <a:avLst/>
          </a:prstGeom>
          <a:noFill/>
        </p:spPr>
        <p:txBody>
          <a:bodyPr wrap="square" lIns="0" rIns="0" anchor="ctr">
            <a:spAutoFit/>
          </a:bodyPr>
          <a:lstStyle/>
          <a:p>
            <a:pPr algn="l"/>
            <a:r>
              <a:rPr sz="4400" b="1">
                <a:solidFill>
                  <a:srgbClr val="2E7D32"/>
                </a:solidFill>
                <a:latin typeface="JetBrains Mono"/>
              </a:rPr>
              <a:t>1</a:t>
            </a:r>
          </a:p>
        </p:txBody>
      </p:sp>
      <p:sp>
        <p:nvSpPr>
          <p:cNvPr id="20" name="TextBox 19"/>
          <p:cNvSpPr txBox="1"/>
          <p:nvPr/>
        </p:nvSpPr>
        <p:spPr>
          <a:xfrm>
            <a:off x="2103120" y="4937759"/>
            <a:ext cx="3840480" cy="548640"/>
          </a:xfrm>
          <a:prstGeom prst="rect">
            <a:avLst/>
          </a:prstGeom>
          <a:noFill/>
        </p:spPr>
        <p:txBody>
          <a:bodyPr wrap="square" lIns="0" rIns="0" anchor="ctr">
            <a:spAutoFit/>
          </a:bodyPr>
          <a:lstStyle/>
          <a:p>
            <a:pPr algn="l"/>
            <a:r>
              <a:rPr sz="1400" b="0">
                <a:solidFill>
                  <a:srgbClr val="1A1A1A"/>
                </a:solidFill>
                <a:latin typeface="Inter"/>
              </a:rPr>
              <a:t>dashboard vision métier · 5 onglets</a:t>
            </a:r>
          </a:p>
        </p:txBody>
      </p:sp>
      <p:sp>
        <p:nvSpPr>
          <p:cNvPr id="21" name="Rectangle 20"/>
          <p:cNvSpPr/>
          <p:nvPr/>
        </p:nvSpPr>
        <p:spPr>
          <a:xfrm>
            <a:off x="6355079" y="4663440"/>
            <a:ext cx="5486400" cy="1051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7959" y="4754879"/>
            <a:ext cx="1371600" cy="914400"/>
          </a:xfrm>
          <a:prstGeom prst="rect">
            <a:avLst/>
          </a:prstGeom>
          <a:noFill/>
        </p:spPr>
        <p:txBody>
          <a:bodyPr wrap="square" lIns="0" rIns="0" anchor="ctr">
            <a:spAutoFit/>
          </a:bodyPr>
          <a:lstStyle/>
          <a:p>
            <a:pPr algn="l"/>
            <a:r>
              <a:rPr sz="4400" b="1">
                <a:solidFill>
                  <a:srgbClr val="2E7D32"/>
                </a:solidFill>
                <a:latin typeface="JetBrains Mono"/>
              </a:rPr>
              <a:t>1</a:t>
            </a:r>
          </a:p>
        </p:txBody>
      </p:sp>
      <p:sp>
        <p:nvSpPr>
          <p:cNvPr id="23" name="TextBox 22"/>
          <p:cNvSpPr txBox="1"/>
          <p:nvPr/>
        </p:nvSpPr>
        <p:spPr>
          <a:xfrm>
            <a:off x="7909559" y="4937759"/>
            <a:ext cx="3840480" cy="548640"/>
          </a:xfrm>
          <a:prstGeom prst="rect">
            <a:avLst/>
          </a:prstGeom>
          <a:noFill/>
        </p:spPr>
        <p:txBody>
          <a:bodyPr wrap="square" lIns="0" rIns="0" anchor="ctr">
            <a:spAutoFit/>
          </a:bodyPr>
          <a:lstStyle/>
          <a:p>
            <a:pPr algn="l"/>
            <a:r>
              <a:rPr sz="1400" b="0">
                <a:solidFill>
                  <a:srgbClr val="1A1A1A"/>
                </a:solidFill>
                <a:latin typeface="Inter"/>
              </a:rPr>
              <a:t>API REST FastAPI · 3 endpoints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48640" cy="365760"/>
          </a:xfrm>
          <a:prstGeom prst="rect">
            <a:avLst/>
          </a:prstGeom>
          <a:noFill/>
        </p:spPr>
        <p:txBody>
          <a:bodyPr wrap="square" lIns="0" rIns="0" anchor="t">
            <a:spAutoFit/>
          </a:bodyPr>
          <a:lstStyle/>
          <a:p>
            <a:pPr algn="l"/>
            <a:r>
              <a:rPr sz="1200" b="1">
                <a:solidFill>
                  <a:srgbClr val="B26835"/>
                </a:solidFill>
                <a:latin typeface="JetBrains Mono"/>
              </a:rPr>
              <a:t>08</a:t>
            </a:r>
          </a:p>
        </p:txBody>
      </p:sp>
      <p:sp>
        <p:nvSpPr>
          <p:cNvPr id="4" name="TextBox 3"/>
          <p:cNvSpPr txBox="1"/>
          <p:nvPr/>
        </p:nvSpPr>
        <p:spPr>
          <a:xfrm>
            <a:off x="1051560" y="502920"/>
            <a:ext cx="7315200" cy="365760"/>
          </a:xfrm>
          <a:prstGeom prst="rect">
            <a:avLst/>
          </a:prstGeom>
          <a:noFill/>
        </p:spPr>
        <p:txBody>
          <a:bodyPr wrap="square" lIns="0" rIns="0" anchor="t">
            <a:spAutoFit/>
          </a:bodyPr>
          <a:lstStyle/>
          <a:p>
            <a:pPr algn="l"/>
            <a:r>
              <a:rPr sz="1200" b="1">
                <a:solidFill>
                  <a:srgbClr val="37474F"/>
                </a:solidFill>
                <a:latin typeface="Plus Jakarta Sans"/>
              </a:rPr>
              <a:t>SYNTHÈSE · LIMITES</a:t>
            </a:r>
          </a:p>
        </p:txBody>
      </p:sp>
      <p:sp>
        <p:nvSpPr>
          <p:cNvPr id="5" name="TextBox 4"/>
          <p:cNvSpPr txBox="1"/>
          <p:nvPr/>
        </p:nvSpPr>
        <p:spPr>
          <a:xfrm>
            <a:off x="548640" y="914400"/>
            <a:ext cx="10972800" cy="914400"/>
          </a:xfrm>
          <a:prstGeom prst="rect">
            <a:avLst/>
          </a:prstGeom>
          <a:noFill/>
        </p:spPr>
        <p:txBody>
          <a:bodyPr wrap="square" lIns="0" rIns="0" anchor="t">
            <a:spAutoFit/>
          </a:bodyPr>
          <a:lstStyle/>
          <a:p>
            <a:pPr algn="l"/>
            <a:r>
              <a:rPr sz="3600" b="1">
                <a:solidFill>
                  <a:srgbClr val="1A232E"/>
                </a:solidFill>
                <a:latin typeface="Plus Jakarta Sans"/>
              </a:rPr>
              <a:t>Honnêtement, ce qui reste à faire</a:t>
            </a:r>
          </a:p>
        </p:txBody>
      </p:sp>
      <p:sp>
        <p:nvSpPr>
          <p:cNvPr id="6" name="Rectangle 5"/>
          <p:cNvSpPr/>
          <p:nvPr/>
        </p:nvSpPr>
        <p:spPr>
          <a:xfrm>
            <a:off x="548640" y="2011680"/>
            <a:ext cx="110642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011680"/>
            <a:ext cx="137160" cy="914400"/>
          </a:xfrm>
          <a:prstGeom prst="rect">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03120"/>
            <a:ext cx="10515600" cy="365760"/>
          </a:xfrm>
          <a:prstGeom prst="rect">
            <a:avLst/>
          </a:prstGeom>
          <a:noFill/>
        </p:spPr>
        <p:txBody>
          <a:bodyPr wrap="square" lIns="0" rIns="0" anchor="t">
            <a:spAutoFit/>
          </a:bodyPr>
          <a:lstStyle/>
          <a:p>
            <a:pPr algn="l"/>
            <a:r>
              <a:rPr sz="1400" b="1">
                <a:solidFill>
                  <a:srgbClr val="1A232E"/>
                </a:solidFill>
                <a:latin typeface="Plus Jakarta Sans"/>
              </a:rPr>
              <a:t>DATASET SIMULÉ</a:t>
            </a:r>
          </a:p>
        </p:txBody>
      </p:sp>
      <p:sp>
        <p:nvSpPr>
          <p:cNvPr id="9" name="TextBox 8"/>
          <p:cNvSpPr txBox="1"/>
          <p:nvPr/>
        </p:nvSpPr>
        <p:spPr>
          <a:xfrm>
            <a:off x="868680" y="2468880"/>
            <a:ext cx="10515600" cy="457200"/>
          </a:xfrm>
          <a:prstGeom prst="rect">
            <a:avLst/>
          </a:prstGeom>
          <a:noFill/>
        </p:spPr>
        <p:txBody>
          <a:bodyPr wrap="square" lIns="0" rIns="0" anchor="t">
            <a:spAutoFit/>
          </a:bodyPr>
          <a:lstStyle/>
          <a:p>
            <a:pPr algn="l"/>
            <a:r>
              <a:rPr sz="1200" b="0">
                <a:solidFill>
                  <a:srgbClr val="1A1A1A"/>
                </a:solidFill>
                <a:latin typeface="Inter"/>
              </a:rPr>
              <a:t>Les données sont générées · l'EDA et les corrélations sont 'trop propres' vs un parc réel où les capteurs déraillent imprévisiblement.</a:t>
            </a:r>
          </a:p>
        </p:txBody>
      </p:sp>
      <p:sp>
        <p:nvSpPr>
          <p:cNvPr id="10" name="Rectangle 9"/>
          <p:cNvSpPr/>
          <p:nvPr/>
        </p:nvSpPr>
        <p:spPr>
          <a:xfrm>
            <a:off x="548640" y="3063240"/>
            <a:ext cx="110642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063240"/>
            <a:ext cx="137160" cy="914400"/>
          </a:xfrm>
          <a:prstGeom prst="rect">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154680"/>
            <a:ext cx="10515600" cy="365760"/>
          </a:xfrm>
          <a:prstGeom prst="rect">
            <a:avLst/>
          </a:prstGeom>
          <a:noFill/>
        </p:spPr>
        <p:txBody>
          <a:bodyPr wrap="square" lIns="0" rIns="0" anchor="t">
            <a:spAutoFit/>
          </a:bodyPr>
          <a:lstStyle/>
          <a:p>
            <a:pPr algn="l"/>
            <a:r>
              <a:rPr sz="1400" b="1">
                <a:solidFill>
                  <a:srgbClr val="1A232E"/>
                </a:solidFill>
                <a:latin typeface="Plus Jakarta Sans"/>
              </a:rPr>
              <a:t>PAS DE SÉRIE TEMPORELLE</a:t>
            </a:r>
          </a:p>
        </p:txBody>
      </p:sp>
      <p:sp>
        <p:nvSpPr>
          <p:cNvPr id="13" name="TextBox 12"/>
          <p:cNvSpPr txBox="1"/>
          <p:nvPr/>
        </p:nvSpPr>
        <p:spPr>
          <a:xfrm>
            <a:off x="868680" y="3520440"/>
            <a:ext cx="10515600" cy="457200"/>
          </a:xfrm>
          <a:prstGeom prst="rect">
            <a:avLst/>
          </a:prstGeom>
          <a:noFill/>
        </p:spPr>
        <p:txBody>
          <a:bodyPr wrap="square" lIns="0" rIns="0" anchor="t">
            <a:spAutoFit/>
          </a:bodyPr>
          <a:lstStyle/>
          <a:p>
            <a:pPr algn="l"/>
            <a:r>
              <a:rPr sz="1200" b="0">
                <a:solidFill>
                  <a:srgbClr val="1A1A1A"/>
                </a:solidFill>
                <a:latin typeface="Inter"/>
              </a:rPr>
              <a:t>Le split est aléatoire stratifié · une vraie validation devrait tenir compte de l'ordre temporel (sliding window CV).</a:t>
            </a:r>
          </a:p>
        </p:txBody>
      </p:sp>
      <p:sp>
        <p:nvSpPr>
          <p:cNvPr id="14" name="Rectangle 13"/>
          <p:cNvSpPr/>
          <p:nvPr/>
        </p:nvSpPr>
        <p:spPr>
          <a:xfrm>
            <a:off x="548640" y="4114800"/>
            <a:ext cx="110642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114800"/>
            <a:ext cx="137160" cy="914400"/>
          </a:xfrm>
          <a:prstGeom prst="rect">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206240"/>
            <a:ext cx="10515600" cy="365760"/>
          </a:xfrm>
          <a:prstGeom prst="rect">
            <a:avLst/>
          </a:prstGeom>
          <a:noFill/>
        </p:spPr>
        <p:txBody>
          <a:bodyPr wrap="square" lIns="0" rIns="0" anchor="t">
            <a:spAutoFit/>
          </a:bodyPr>
          <a:lstStyle/>
          <a:p>
            <a:pPr algn="l"/>
            <a:r>
              <a:rPr sz="1400" b="1">
                <a:solidFill>
                  <a:srgbClr val="1A232E"/>
                </a:solidFill>
                <a:latin typeface="Plus Jakarta Sans"/>
              </a:rPr>
              <a:t>SEUIL ÉCONOMIQUE FIXE</a:t>
            </a:r>
          </a:p>
        </p:txBody>
      </p:sp>
      <p:sp>
        <p:nvSpPr>
          <p:cNvPr id="17" name="TextBox 16"/>
          <p:cNvSpPr txBox="1"/>
          <p:nvPr/>
        </p:nvSpPr>
        <p:spPr>
          <a:xfrm>
            <a:off x="868680" y="4572000"/>
            <a:ext cx="10515600" cy="457200"/>
          </a:xfrm>
          <a:prstGeom prst="rect">
            <a:avLst/>
          </a:prstGeom>
          <a:noFill/>
        </p:spPr>
        <p:txBody>
          <a:bodyPr wrap="square" lIns="0" rIns="0" anchor="t">
            <a:spAutoFit/>
          </a:bodyPr>
          <a:lstStyle/>
          <a:p>
            <a:pPr algn="l"/>
            <a:r>
              <a:rPr sz="1200" b="0">
                <a:solidFill>
                  <a:srgbClr val="1A1A1A"/>
                </a:solidFill>
                <a:latin typeface="Inter"/>
              </a:rPr>
              <a:t>Coûts FN/FP supposés constants · en réalité ils varient par machine, par criticité et par saison.</a:t>
            </a:r>
          </a:p>
        </p:txBody>
      </p:sp>
      <p:sp>
        <p:nvSpPr>
          <p:cNvPr id="18" name="Rectangle 17"/>
          <p:cNvSpPr/>
          <p:nvPr/>
        </p:nvSpPr>
        <p:spPr>
          <a:xfrm>
            <a:off x="548640" y="5166360"/>
            <a:ext cx="110642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5166360"/>
            <a:ext cx="137160" cy="914400"/>
          </a:xfrm>
          <a:prstGeom prst="rect">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5257800"/>
            <a:ext cx="10515600" cy="365760"/>
          </a:xfrm>
          <a:prstGeom prst="rect">
            <a:avLst/>
          </a:prstGeom>
          <a:noFill/>
        </p:spPr>
        <p:txBody>
          <a:bodyPr wrap="square" lIns="0" rIns="0" anchor="t">
            <a:spAutoFit/>
          </a:bodyPr>
          <a:lstStyle/>
          <a:p>
            <a:pPr algn="l"/>
            <a:r>
              <a:rPr sz="1400" b="1">
                <a:solidFill>
                  <a:srgbClr val="1A232E"/>
                </a:solidFill>
                <a:latin typeface="Plus Jakarta Sans"/>
              </a:rPr>
              <a:t>PAS DE DRIFT MONITORING</a:t>
            </a:r>
          </a:p>
        </p:txBody>
      </p:sp>
      <p:sp>
        <p:nvSpPr>
          <p:cNvPr id="21" name="TextBox 20"/>
          <p:cNvSpPr txBox="1"/>
          <p:nvPr/>
        </p:nvSpPr>
        <p:spPr>
          <a:xfrm>
            <a:off x="868680" y="5623560"/>
            <a:ext cx="10515600" cy="457200"/>
          </a:xfrm>
          <a:prstGeom prst="rect">
            <a:avLst/>
          </a:prstGeom>
          <a:noFill/>
        </p:spPr>
        <p:txBody>
          <a:bodyPr wrap="square" lIns="0" rIns="0" anchor="t">
            <a:spAutoFit/>
          </a:bodyPr>
          <a:lstStyle/>
          <a:p>
            <a:pPr algn="l"/>
            <a:r>
              <a:rPr sz="1200" b="0">
                <a:solidFill>
                  <a:srgbClr val="1A1A1A"/>
                </a:solidFill>
                <a:latin typeface="Inter"/>
              </a:rPr>
              <a:t>Le modèle est entraîné une fois · pas de détection de dégradation des performances en prod (concept drift).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48640" cy="365760"/>
          </a:xfrm>
          <a:prstGeom prst="rect">
            <a:avLst/>
          </a:prstGeom>
          <a:noFill/>
        </p:spPr>
        <p:txBody>
          <a:bodyPr wrap="square" lIns="0" rIns="0" anchor="t">
            <a:spAutoFit/>
          </a:bodyPr>
          <a:lstStyle/>
          <a:p>
            <a:pPr algn="l"/>
            <a:r>
              <a:rPr sz="1200" b="1">
                <a:solidFill>
                  <a:srgbClr val="B26835"/>
                </a:solidFill>
                <a:latin typeface="JetBrains Mono"/>
              </a:rPr>
              <a:t>08</a:t>
            </a:r>
          </a:p>
        </p:txBody>
      </p:sp>
      <p:sp>
        <p:nvSpPr>
          <p:cNvPr id="4" name="TextBox 3"/>
          <p:cNvSpPr txBox="1"/>
          <p:nvPr/>
        </p:nvSpPr>
        <p:spPr>
          <a:xfrm>
            <a:off x="1051560" y="502920"/>
            <a:ext cx="7315200" cy="365760"/>
          </a:xfrm>
          <a:prstGeom prst="rect">
            <a:avLst/>
          </a:prstGeom>
          <a:noFill/>
        </p:spPr>
        <p:txBody>
          <a:bodyPr wrap="square" lIns="0" rIns="0" anchor="t">
            <a:spAutoFit/>
          </a:bodyPr>
          <a:lstStyle/>
          <a:p>
            <a:pPr algn="l"/>
            <a:r>
              <a:rPr sz="1200" b="1">
                <a:solidFill>
                  <a:srgbClr val="37474F"/>
                </a:solidFill>
                <a:latin typeface="Plus Jakarta Sans"/>
              </a:rPr>
              <a:t>SYNTHÈSE · RNCP</a:t>
            </a:r>
          </a:p>
        </p:txBody>
      </p:sp>
      <p:sp>
        <p:nvSpPr>
          <p:cNvPr id="5" name="TextBox 4"/>
          <p:cNvSpPr txBox="1"/>
          <p:nvPr/>
        </p:nvSpPr>
        <p:spPr>
          <a:xfrm>
            <a:off x="548640" y="914400"/>
            <a:ext cx="10972800" cy="914400"/>
          </a:xfrm>
          <a:prstGeom prst="rect">
            <a:avLst/>
          </a:prstGeom>
          <a:noFill/>
        </p:spPr>
        <p:txBody>
          <a:bodyPr wrap="square" lIns="0" rIns="0" anchor="t">
            <a:spAutoFit/>
          </a:bodyPr>
          <a:lstStyle/>
          <a:p>
            <a:pPr algn="l"/>
            <a:r>
              <a:rPr sz="3200" b="1">
                <a:solidFill>
                  <a:srgbClr val="1A232E"/>
                </a:solidFill>
                <a:latin typeface="Plus Jakarta Sans"/>
              </a:rPr>
              <a:t>Conformité Bloc 2 · BC2 RNCP40875</a:t>
            </a:r>
          </a:p>
        </p:txBody>
      </p:sp>
      <p:sp>
        <p:nvSpPr>
          <p:cNvPr id="6" name="TextBox 5"/>
          <p:cNvSpPr txBox="1"/>
          <p:nvPr/>
        </p:nvSpPr>
        <p:spPr>
          <a:xfrm>
            <a:off x="548640" y="1783080"/>
            <a:ext cx="1097280" cy="274320"/>
          </a:xfrm>
          <a:prstGeom prst="rect">
            <a:avLst/>
          </a:prstGeom>
          <a:noFill/>
        </p:spPr>
        <p:txBody>
          <a:bodyPr wrap="square" lIns="0" rIns="0" anchor="t">
            <a:spAutoFit/>
          </a:bodyPr>
          <a:lstStyle/>
          <a:p>
            <a:pPr algn="l"/>
            <a:r>
              <a:rPr sz="1000" b="1">
                <a:solidFill>
                  <a:srgbClr val="B26835"/>
                </a:solidFill>
                <a:latin typeface="JetBrains Mono"/>
              </a:rPr>
              <a:t>CRITÈRE</a:t>
            </a:r>
          </a:p>
        </p:txBody>
      </p:sp>
      <p:sp>
        <p:nvSpPr>
          <p:cNvPr id="7" name="TextBox 6"/>
          <p:cNvSpPr txBox="1"/>
          <p:nvPr/>
        </p:nvSpPr>
        <p:spPr>
          <a:xfrm>
            <a:off x="1737360" y="1783080"/>
            <a:ext cx="3840480" cy="274320"/>
          </a:xfrm>
          <a:prstGeom prst="rect">
            <a:avLst/>
          </a:prstGeom>
          <a:noFill/>
        </p:spPr>
        <p:txBody>
          <a:bodyPr wrap="square" lIns="0" rIns="0" anchor="t">
            <a:spAutoFit/>
          </a:bodyPr>
          <a:lstStyle/>
          <a:p>
            <a:pPr algn="l"/>
            <a:r>
              <a:rPr sz="1000" b="1">
                <a:solidFill>
                  <a:srgbClr val="B26835"/>
                </a:solidFill>
                <a:latin typeface="JetBrains Mono"/>
              </a:rPr>
              <a:t>INTITULÉ</a:t>
            </a:r>
          </a:p>
        </p:txBody>
      </p:sp>
      <p:sp>
        <p:nvSpPr>
          <p:cNvPr id="8" name="TextBox 7"/>
          <p:cNvSpPr txBox="1"/>
          <p:nvPr/>
        </p:nvSpPr>
        <p:spPr>
          <a:xfrm>
            <a:off x="5669280" y="1783080"/>
            <a:ext cx="5943600" cy="274320"/>
          </a:xfrm>
          <a:prstGeom prst="rect">
            <a:avLst/>
          </a:prstGeom>
          <a:noFill/>
        </p:spPr>
        <p:txBody>
          <a:bodyPr wrap="square" lIns="0" rIns="0" anchor="t">
            <a:spAutoFit/>
          </a:bodyPr>
          <a:lstStyle/>
          <a:p>
            <a:pPr algn="l"/>
            <a:r>
              <a:rPr sz="1000" b="1">
                <a:solidFill>
                  <a:srgbClr val="B26835"/>
                </a:solidFill>
                <a:latin typeface="JetBrains Mono"/>
              </a:rPr>
              <a:t>PREUVE DANS LE PROJET</a:t>
            </a:r>
          </a:p>
        </p:txBody>
      </p:sp>
      <p:sp>
        <p:nvSpPr>
          <p:cNvPr id="9" name="Rectangle 8"/>
          <p:cNvSpPr/>
          <p:nvPr/>
        </p:nvSpPr>
        <p:spPr>
          <a:xfrm>
            <a:off x="548640" y="2103120"/>
            <a:ext cx="11064240" cy="10972"/>
          </a:xfrm>
          <a:prstGeom prst="rect">
            <a:avLst/>
          </a:prstGeom>
          <a:solidFill>
            <a:srgbClr val="B268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240280"/>
            <a:ext cx="1097280" cy="365760"/>
          </a:xfrm>
          <a:prstGeom prst="rect">
            <a:avLst/>
          </a:prstGeom>
          <a:noFill/>
        </p:spPr>
        <p:txBody>
          <a:bodyPr wrap="square" lIns="0" rIns="0" anchor="t">
            <a:spAutoFit/>
          </a:bodyPr>
          <a:lstStyle/>
          <a:p>
            <a:pPr algn="l"/>
            <a:r>
              <a:rPr sz="1400" b="1">
                <a:solidFill>
                  <a:srgbClr val="B26835"/>
                </a:solidFill>
                <a:latin typeface="JetBrains Mono"/>
              </a:rPr>
              <a:t>C3.1</a:t>
            </a:r>
          </a:p>
        </p:txBody>
      </p:sp>
      <p:sp>
        <p:nvSpPr>
          <p:cNvPr id="11" name="TextBox 10"/>
          <p:cNvSpPr txBox="1"/>
          <p:nvPr/>
        </p:nvSpPr>
        <p:spPr>
          <a:xfrm>
            <a:off x="1737360" y="2240280"/>
            <a:ext cx="3840480" cy="365760"/>
          </a:xfrm>
          <a:prstGeom prst="rect">
            <a:avLst/>
          </a:prstGeom>
          <a:noFill/>
        </p:spPr>
        <p:txBody>
          <a:bodyPr wrap="square" lIns="0" rIns="0" anchor="t">
            <a:spAutoFit/>
          </a:bodyPr>
          <a:lstStyle/>
          <a:p>
            <a:pPr algn="l"/>
            <a:r>
              <a:rPr sz="1300" b="1">
                <a:solidFill>
                  <a:srgbClr val="1A232E"/>
                </a:solidFill>
                <a:latin typeface="Plus Jakarta Sans"/>
              </a:rPr>
              <a:t>Préparer les données</a:t>
            </a:r>
          </a:p>
        </p:txBody>
      </p:sp>
      <p:sp>
        <p:nvSpPr>
          <p:cNvPr id="12" name="TextBox 11"/>
          <p:cNvSpPr txBox="1"/>
          <p:nvPr/>
        </p:nvSpPr>
        <p:spPr>
          <a:xfrm>
            <a:off x="5669280" y="2240280"/>
            <a:ext cx="5943600" cy="548640"/>
          </a:xfrm>
          <a:prstGeom prst="rect">
            <a:avLst/>
          </a:prstGeom>
          <a:noFill/>
        </p:spPr>
        <p:txBody>
          <a:bodyPr wrap="square" lIns="0" rIns="0" anchor="t">
            <a:spAutoFit/>
          </a:bodyPr>
          <a:lstStyle/>
          <a:p>
            <a:pPr algn="l"/>
            <a:r>
              <a:rPr sz="1100" b="0">
                <a:solidFill>
                  <a:srgbClr val="1A1A1A"/>
                </a:solidFill>
                <a:latin typeface="Inter"/>
              </a:rPr>
              <a:t>ColumnTransformer · imputation + scaling + OHE</a:t>
            </a:r>
          </a:p>
        </p:txBody>
      </p:sp>
      <p:sp>
        <p:nvSpPr>
          <p:cNvPr id="13" name="Rectangle 12"/>
          <p:cNvSpPr/>
          <p:nvPr/>
        </p:nvSpPr>
        <p:spPr>
          <a:xfrm>
            <a:off x="548640" y="2743200"/>
            <a:ext cx="11064240" cy="10972"/>
          </a:xfrm>
          <a:prstGeom prst="rect">
            <a:avLst/>
          </a:prstGeom>
          <a:solidFill>
            <a:srgbClr val="D0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926080"/>
            <a:ext cx="1097280" cy="365760"/>
          </a:xfrm>
          <a:prstGeom prst="rect">
            <a:avLst/>
          </a:prstGeom>
          <a:noFill/>
        </p:spPr>
        <p:txBody>
          <a:bodyPr wrap="square" lIns="0" rIns="0" anchor="t">
            <a:spAutoFit/>
          </a:bodyPr>
          <a:lstStyle/>
          <a:p>
            <a:pPr algn="l"/>
            <a:r>
              <a:rPr sz="1400" b="1">
                <a:solidFill>
                  <a:srgbClr val="B26835"/>
                </a:solidFill>
                <a:latin typeface="JetBrains Mono"/>
              </a:rPr>
              <a:t>C3.2</a:t>
            </a:r>
          </a:p>
        </p:txBody>
      </p:sp>
      <p:sp>
        <p:nvSpPr>
          <p:cNvPr id="15" name="TextBox 14"/>
          <p:cNvSpPr txBox="1"/>
          <p:nvPr/>
        </p:nvSpPr>
        <p:spPr>
          <a:xfrm>
            <a:off x="1737360" y="2926080"/>
            <a:ext cx="3840480" cy="365760"/>
          </a:xfrm>
          <a:prstGeom prst="rect">
            <a:avLst/>
          </a:prstGeom>
          <a:noFill/>
        </p:spPr>
        <p:txBody>
          <a:bodyPr wrap="square" lIns="0" rIns="0" anchor="t">
            <a:spAutoFit/>
          </a:bodyPr>
          <a:lstStyle/>
          <a:p>
            <a:pPr algn="l"/>
            <a:r>
              <a:rPr sz="1300" b="1">
                <a:solidFill>
                  <a:srgbClr val="1A232E"/>
                </a:solidFill>
                <a:latin typeface="Plus Jakarta Sans"/>
              </a:rPr>
              <a:t>Tableau de bord interactif</a:t>
            </a:r>
          </a:p>
        </p:txBody>
      </p:sp>
      <p:sp>
        <p:nvSpPr>
          <p:cNvPr id="16" name="TextBox 15"/>
          <p:cNvSpPr txBox="1"/>
          <p:nvPr/>
        </p:nvSpPr>
        <p:spPr>
          <a:xfrm>
            <a:off x="5669280" y="2926080"/>
            <a:ext cx="5943600" cy="548640"/>
          </a:xfrm>
          <a:prstGeom prst="rect">
            <a:avLst/>
          </a:prstGeom>
          <a:noFill/>
        </p:spPr>
        <p:txBody>
          <a:bodyPr wrap="square" lIns="0" rIns="0" anchor="t">
            <a:spAutoFit/>
          </a:bodyPr>
          <a:lstStyle/>
          <a:p>
            <a:pPr algn="l"/>
            <a:r>
              <a:rPr sz="1100" b="0">
                <a:solidFill>
                  <a:srgbClr val="1A1A1A"/>
                </a:solidFill>
                <a:latin typeface="Inter"/>
              </a:rPr>
              <a:t>Streamlit · 5 onglets · Plotly interactif</a:t>
            </a:r>
          </a:p>
        </p:txBody>
      </p:sp>
      <p:sp>
        <p:nvSpPr>
          <p:cNvPr id="17" name="Rectangle 16"/>
          <p:cNvSpPr/>
          <p:nvPr/>
        </p:nvSpPr>
        <p:spPr>
          <a:xfrm>
            <a:off x="548640" y="3429000"/>
            <a:ext cx="11064240" cy="10972"/>
          </a:xfrm>
          <a:prstGeom prst="rect">
            <a:avLst/>
          </a:prstGeom>
          <a:solidFill>
            <a:srgbClr val="D0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3611880"/>
            <a:ext cx="1097280" cy="365760"/>
          </a:xfrm>
          <a:prstGeom prst="rect">
            <a:avLst/>
          </a:prstGeom>
          <a:noFill/>
        </p:spPr>
        <p:txBody>
          <a:bodyPr wrap="square" lIns="0" rIns="0" anchor="t">
            <a:spAutoFit/>
          </a:bodyPr>
          <a:lstStyle/>
          <a:p>
            <a:pPr algn="l"/>
            <a:r>
              <a:rPr sz="1400" b="1">
                <a:solidFill>
                  <a:srgbClr val="B26835"/>
                </a:solidFill>
                <a:latin typeface="JetBrains Mono"/>
              </a:rPr>
              <a:t>C3.3</a:t>
            </a:r>
          </a:p>
        </p:txBody>
      </p:sp>
      <p:sp>
        <p:nvSpPr>
          <p:cNvPr id="19" name="TextBox 18"/>
          <p:cNvSpPr txBox="1"/>
          <p:nvPr/>
        </p:nvSpPr>
        <p:spPr>
          <a:xfrm>
            <a:off x="1737360" y="3611880"/>
            <a:ext cx="3840480" cy="365760"/>
          </a:xfrm>
          <a:prstGeom prst="rect">
            <a:avLst/>
          </a:prstGeom>
          <a:noFill/>
        </p:spPr>
        <p:txBody>
          <a:bodyPr wrap="square" lIns="0" rIns="0" anchor="t">
            <a:spAutoFit/>
          </a:bodyPr>
          <a:lstStyle/>
          <a:p>
            <a:pPr algn="l"/>
            <a:r>
              <a:rPr sz="1300" b="1">
                <a:solidFill>
                  <a:srgbClr val="1A232E"/>
                </a:solidFill>
                <a:latin typeface="Plus Jakarta Sans"/>
              </a:rPr>
              <a:t>Analyse exploratoire</a:t>
            </a:r>
          </a:p>
        </p:txBody>
      </p:sp>
      <p:sp>
        <p:nvSpPr>
          <p:cNvPr id="20" name="TextBox 19"/>
          <p:cNvSpPr txBox="1"/>
          <p:nvPr/>
        </p:nvSpPr>
        <p:spPr>
          <a:xfrm>
            <a:off x="5669280" y="3611880"/>
            <a:ext cx="5943600" cy="548640"/>
          </a:xfrm>
          <a:prstGeom prst="rect">
            <a:avLst/>
          </a:prstGeom>
          <a:noFill/>
        </p:spPr>
        <p:txBody>
          <a:bodyPr wrap="square" lIns="0" rIns="0" anchor="t">
            <a:spAutoFit/>
          </a:bodyPr>
          <a:lstStyle/>
          <a:p>
            <a:pPr algn="l"/>
            <a:r>
              <a:rPr sz="1100" b="0">
                <a:solidFill>
                  <a:srgbClr val="1A1A1A"/>
                </a:solidFill>
                <a:latin typeface="Inter"/>
              </a:rPr>
              <a:t>8 figures EDA · stats descriptives · NaN</a:t>
            </a:r>
          </a:p>
        </p:txBody>
      </p:sp>
      <p:sp>
        <p:nvSpPr>
          <p:cNvPr id="21" name="Rectangle 20"/>
          <p:cNvSpPr/>
          <p:nvPr/>
        </p:nvSpPr>
        <p:spPr>
          <a:xfrm>
            <a:off x="548640" y="4114800"/>
            <a:ext cx="11064240" cy="10972"/>
          </a:xfrm>
          <a:prstGeom prst="rect">
            <a:avLst/>
          </a:prstGeom>
          <a:solidFill>
            <a:srgbClr val="D0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4297680"/>
            <a:ext cx="1097280" cy="365760"/>
          </a:xfrm>
          <a:prstGeom prst="rect">
            <a:avLst/>
          </a:prstGeom>
          <a:noFill/>
        </p:spPr>
        <p:txBody>
          <a:bodyPr wrap="square" lIns="0" rIns="0" anchor="t">
            <a:spAutoFit/>
          </a:bodyPr>
          <a:lstStyle/>
          <a:p>
            <a:pPr algn="l"/>
            <a:r>
              <a:rPr sz="1400" b="1">
                <a:solidFill>
                  <a:srgbClr val="B26835"/>
                </a:solidFill>
                <a:latin typeface="JetBrains Mono"/>
              </a:rPr>
              <a:t>C4.1</a:t>
            </a:r>
          </a:p>
        </p:txBody>
      </p:sp>
      <p:sp>
        <p:nvSpPr>
          <p:cNvPr id="23" name="TextBox 22"/>
          <p:cNvSpPr txBox="1"/>
          <p:nvPr/>
        </p:nvSpPr>
        <p:spPr>
          <a:xfrm>
            <a:off x="1737360" y="4297680"/>
            <a:ext cx="3840480" cy="365760"/>
          </a:xfrm>
          <a:prstGeom prst="rect">
            <a:avLst/>
          </a:prstGeom>
          <a:noFill/>
        </p:spPr>
        <p:txBody>
          <a:bodyPr wrap="square" lIns="0" rIns="0" anchor="t">
            <a:spAutoFit/>
          </a:bodyPr>
          <a:lstStyle/>
          <a:p>
            <a:pPr algn="l"/>
            <a:r>
              <a:rPr sz="1300" b="1">
                <a:solidFill>
                  <a:srgbClr val="1A232E"/>
                </a:solidFill>
                <a:latin typeface="Plus Jakarta Sans"/>
              </a:rPr>
              <a:t>Stratégie d'intégration IA</a:t>
            </a:r>
          </a:p>
        </p:txBody>
      </p:sp>
      <p:sp>
        <p:nvSpPr>
          <p:cNvPr id="24" name="TextBox 23"/>
          <p:cNvSpPr txBox="1"/>
          <p:nvPr/>
        </p:nvSpPr>
        <p:spPr>
          <a:xfrm>
            <a:off x="5669280" y="4297680"/>
            <a:ext cx="5943600" cy="548640"/>
          </a:xfrm>
          <a:prstGeom prst="rect">
            <a:avLst/>
          </a:prstGeom>
          <a:noFill/>
        </p:spPr>
        <p:txBody>
          <a:bodyPr wrap="square" lIns="0" rIns="0" anchor="t">
            <a:spAutoFit/>
          </a:bodyPr>
          <a:lstStyle/>
          <a:p>
            <a:pPr algn="l"/>
            <a:r>
              <a:rPr sz="1100" b="0">
                <a:solidFill>
                  <a:srgbClr val="1A1A1A"/>
                </a:solidFill>
                <a:latin typeface="Inter"/>
              </a:rPr>
              <a:t>Onglet Impact économique · ROI · ratio 10:1</a:t>
            </a:r>
          </a:p>
        </p:txBody>
      </p:sp>
      <p:sp>
        <p:nvSpPr>
          <p:cNvPr id="25" name="Rectangle 24"/>
          <p:cNvSpPr/>
          <p:nvPr/>
        </p:nvSpPr>
        <p:spPr>
          <a:xfrm>
            <a:off x="548640" y="4800600"/>
            <a:ext cx="11064240" cy="10972"/>
          </a:xfrm>
          <a:prstGeom prst="rect">
            <a:avLst/>
          </a:prstGeom>
          <a:solidFill>
            <a:srgbClr val="D0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4983480"/>
            <a:ext cx="1097280" cy="365760"/>
          </a:xfrm>
          <a:prstGeom prst="rect">
            <a:avLst/>
          </a:prstGeom>
          <a:noFill/>
        </p:spPr>
        <p:txBody>
          <a:bodyPr wrap="square" lIns="0" rIns="0" anchor="t">
            <a:spAutoFit/>
          </a:bodyPr>
          <a:lstStyle/>
          <a:p>
            <a:pPr algn="l"/>
            <a:r>
              <a:rPr sz="1400" b="1">
                <a:solidFill>
                  <a:srgbClr val="B26835"/>
                </a:solidFill>
                <a:latin typeface="JetBrains Mono"/>
              </a:rPr>
              <a:t>C4.2</a:t>
            </a:r>
          </a:p>
        </p:txBody>
      </p:sp>
      <p:sp>
        <p:nvSpPr>
          <p:cNvPr id="27" name="TextBox 26"/>
          <p:cNvSpPr txBox="1"/>
          <p:nvPr/>
        </p:nvSpPr>
        <p:spPr>
          <a:xfrm>
            <a:off x="1737360" y="4983480"/>
            <a:ext cx="3840480" cy="365760"/>
          </a:xfrm>
          <a:prstGeom prst="rect">
            <a:avLst/>
          </a:prstGeom>
          <a:noFill/>
        </p:spPr>
        <p:txBody>
          <a:bodyPr wrap="square" lIns="0" rIns="0" anchor="t">
            <a:spAutoFit/>
          </a:bodyPr>
          <a:lstStyle/>
          <a:p>
            <a:pPr algn="l"/>
            <a:r>
              <a:rPr sz="1300" b="1">
                <a:solidFill>
                  <a:srgbClr val="1A232E"/>
                </a:solidFill>
                <a:latin typeface="Plus Jakarta Sans"/>
              </a:rPr>
              <a:t>Modèles prédictifs</a:t>
            </a:r>
          </a:p>
        </p:txBody>
      </p:sp>
      <p:sp>
        <p:nvSpPr>
          <p:cNvPr id="28" name="TextBox 27"/>
          <p:cNvSpPr txBox="1"/>
          <p:nvPr/>
        </p:nvSpPr>
        <p:spPr>
          <a:xfrm>
            <a:off x="5669280" y="4983480"/>
            <a:ext cx="5943600" cy="548640"/>
          </a:xfrm>
          <a:prstGeom prst="rect">
            <a:avLst/>
          </a:prstGeom>
          <a:noFill/>
        </p:spPr>
        <p:txBody>
          <a:bodyPr wrap="square" lIns="0" rIns="0" anchor="t">
            <a:spAutoFit/>
          </a:bodyPr>
          <a:lstStyle/>
          <a:p>
            <a:pPr algn="l"/>
            <a:r>
              <a:rPr sz="1100" b="0">
                <a:solidFill>
                  <a:srgbClr val="1A1A1A"/>
                </a:solidFill>
                <a:latin typeface="Inter"/>
              </a:rPr>
              <a:t>4 modèles · F1=0.886 sur test</a:t>
            </a:r>
          </a:p>
        </p:txBody>
      </p:sp>
      <p:sp>
        <p:nvSpPr>
          <p:cNvPr id="29" name="Rectangle 28"/>
          <p:cNvSpPr/>
          <p:nvPr/>
        </p:nvSpPr>
        <p:spPr>
          <a:xfrm>
            <a:off x="548640" y="5486400"/>
            <a:ext cx="11064240" cy="10972"/>
          </a:xfrm>
          <a:prstGeom prst="rect">
            <a:avLst/>
          </a:prstGeom>
          <a:solidFill>
            <a:srgbClr val="D0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5669280"/>
            <a:ext cx="1097280" cy="365760"/>
          </a:xfrm>
          <a:prstGeom prst="rect">
            <a:avLst/>
          </a:prstGeom>
          <a:noFill/>
        </p:spPr>
        <p:txBody>
          <a:bodyPr wrap="square" lIns="0" rIns="0" anchor="t">
            <a:spAutoFit/>
          </a:bodyPr>
          <a:lstStyle/>
          <a:p>
            <a:pPr algn="l"/>
            <a:r>
              <a:rPr sz="1400" b="1">
                <a:solidFill>
                  <a:srgbClr val="B26835"/>
                </a:solidFill>
                <a:latin typeface="JetBrains Mono"/>
              </a:rPr>
              <a:t>C4.3</a:t>
            </a:r>
          </a:p>
        </p:txBody>
      </p:sp>
      <p:sp>
        <p:nvSpPr>
          <p:cNvPr id="31" name="TextBox 30"/>
          <p:cNvSpPr txBox="1"/>
          <p:nvPr/>
        </p:nvSpPr>
        <p:spPr>
          <a:xfrm>
            <a:off x="1737360" y="5669280"/>
            <a:ext cx="3840480" cy="365760"/>
          </a:xfrm>
          <a:prstGeom prst="rect">
            <a:avLst/>
          </a:prstGeom>
          <a:noFill/>
        </p:spPr>
        <p:txBody>
          <a:bodyPr wrap="square" lIns="0" rIns="0" anchor="t">
            <a:spAutoFit/>
          </a:bodyPr>
          <a:lstStyle/>
          <a:p>
            <a:pPr algn="l"/>
            <a:r>
              <a:rPr sz="1300" b="1">
                <a:solidFill>
                  <a:srgbClr val="1A232E"/>
                </a:solidFill>
                <a:latin typeface="Plus Jakarta Sans"/>
              </a:rPr>
              <a:t>Évaluation + écoresponsabilité</a:t>
            </a:r>
          </a:p>
        </p:txBody>
      </p:sp>
      <p:sp>
        <p:nvSpPr>
          <p:cNvPr id="32" name="TextBox 31"/>
          <p:cNvSpPr txBox="1"/>
          <p:nvPr/>
        </p:nvSpPr>
        <p:spPr>
          <a:xfrm>
            <a:off x="5669280" y="5669280"/>
            <a:ext cx="5943600" cy="548640"/>
          </a:xfrm>
          <a:prstGeom prst="rect">
            <a:avLst/>
          </a:prstGeom>
          <a:noFill/>
        </p:spPr>
        <p:txBody>
          <a:bodyPr wrap="square" lIns="0" rIns="0" anchor="t">
            <a:spAutoFit/>
          </a:bodyPr>
          <a:lstStyle/>
          <a:p>
            <a:pPr algn="l"/>
            <a:r>
              <a:rPr sz="1100" b="0">
                <a:solidFill>
                  <a:srgbClr val="1A1A1A"/>
                </a:solidFill>
                <a:latin typeface="Inter"/>
              </a:rPr>
              <a:t>6 métriques · CV 5-fold · fit_time + predict_time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3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B268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371600"/>
            <a:ext cx="10972800" cy="2286000"/>
          </a:xfrm>
          <a:prstGeom prst="rect">
            <a:avLst/>
          </a:prstGeom>
          <a:noFill/>
        </p:spPr>
        <p:txBody>
          <a:bodyPr wrap="square" lIns="0" rIns="0" anchor="t">
            <a:spAutoFit/>
          </a:bodyPr>
          <a:lstStyle/>
          <a:p>
            <a:pPr algn="l"/>
            <a:r>
              <a:rPr sz="13000" b="1">
                <a:solidFill>
                  <a:srgbClr val="FFFFFF"/>
                </a:solidFill>
                <a:latin typeface="Plus Jakarta Sans"/>
              </a:rPr>
              <a:t>Merci.</a:t>
            </a:r>
          </a:p>
        </p:txBody>
      </p:sp>
      <p:sp>
        <p:nvSpPr>
          <p:cNvPr id="5" name="Rectangle 4"/>
          <p:cNvSpPr/>
          <p:nvPr/>
        </p:nvSpPr>
        <p:spPr>
          <a:xfrm>
            <a:off x="1097280" y="4023360"/>
            <a:ext cx="5486400" cy="10972"/>
          </a:xfrm>
          <a:prstGeom prst="rect">
            <a:avLst/>
          </a:prstGeom>
          <a:solidFill>
            <a:srgbClr val="B268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4297680"/>
            <a:ext cx="10058400" cy="457200"/>
          </a:xfrm>
          <a:prstGeom prst="rect">
            <a:avLst/>
          </a:prstGeom>
          <a:noFill/>
        </p:spPr>
        <p:txBody>
          <a:bodyPr wrap="square" lIns="0" rIns="0" anchor="t">
            <a:spAutoFit/>
          </a:bodyPr>
          <a:lstStyle/>
          <a:p>
            <a:pPr algn="l"/>
            <a:r>
              <a:rPr sz="1800" b="1">
                <a:solidFill>
                  <a:srgbClr val="B26835"/>
                </a:solidFill>
                <a:latin typeface="JetBrains Mono"/>
              </a:rPr>
              <a:t>QUESTIONS · DÉMO LIVE DASHBOARD</a:t>
            </a:r>
          </a:p>
        </p:txBody>
      </p:sp>
      <p:sp>
        <p:nvSpPr>
          <p:cNvPr id="7" name="TextBox 6"/>
          <p:cNvSpPr txBox="1"/>
          <p:nvPr/>
        </p:nvSpPr>
        <p:spPr>
          <a:xfrm>
            <a:off x="1097280" y="4846320"/>
            <a:ext cx="10058400" cy="365760"/>
          </a:xfrm>
          <a:prstGeom prst="rect">
            <a:avLst/>
          </a:prstGeom>
          <a:noFill/>
        </p:spPr>
        <p:txBody>
          <a:bodyPr wrap="square" lIns="0" rIns="0" anchor="t">
            <a:spAutoFit/>
          </a:bodyPr>
          <a:lstStyle/>
          <a:p>
            <a:pPr algn="l"/>
            <a:r>
              <a:rPr sz="1400" b="0">
                <a:solidFill>
                  <a:srgbClr val="90A4AE"/>
                </a:solidFill>
                <a:latin typeface="JetBrains Mono"/>
              </a:rPr>
              <a:t>github.com/Adam-Blf/maintenance-predictive-industrielle</a:t>
            </a:r>
          </a:p>
        </p:txBody>
      </p:sp>
      <p:sp>
        <p:nvSpPr>
          <p:cNvPr id="8" name="TextBox 7"/>
          <p:cNvSpPr txBox="1"/>
          <p:nvPr/>
        </p:nvSpPr>
        <p:spPr>
          <a:xfrm>
            <a:off x="1097280" y="5943600"/>
            <a:ext cx="10058400" cy="274320"/>
          </a:xfrm>
          <a:prstGeom prst="rect">
            <a:avLst/>
          </a:prstGeom>
          <a:noFill/>
        </p:spPr>
        <p:txBody>
          <a:bodyPr wrap="square" lIns="0" rIns="0" anchor="t">
            <a:spAutoFit/>
          </a:bodyPr>
          <a:lstStyle/>
          <a:p>
            <a:pPr algn="l"/>
            <a:r>
              <a:rPr sz="1100" b="0">
                <a:solidFill>
                  <a:srgbClr val="90A4AE"/>
                </a:solidFill>
                <a:latin typeface="Inter"/>
              </a:rPr>
              <a:t>ADAM BELOUCIF · adam.beloucif@efrei.net</a:t>
            </a:r>
          </a:p>
        </p:txBody>
      </p:sp>
      <p:sp>
        <p:nvSpPr>
          <p:cNvPr id="9" name="TextBox 8"/>
          <p:cNvSpPr txBox="1"/>
          <p:nvPr/>
        </p:nvSpPr>
        <p:spPr>
          <a:xfrm>
            <a:off x="1097280" y="6263640"/>
            <a:ext cx="10058400" cy="274320"/>
          </a:xfrm>
          <a:prstGeom prst="rect">
            <a:avLst/>
          </a:prstGeom>
          <a:noFill/>
        </p:spPr>
        <p:txBody>
          <a:bodyPr wrap="square" lIns="0" rIns="0" anchor="t">
            <a:spAutoFit/>
          </a:bodyPr>
          <a:lstStyle/>
          <a:p>
            <a:pPr algn="l"/>
            <a:r>
              <a:rPr sz="1100" b="0">
                <a:solidFill>
                  <a:srgbClr val="90A4AE"/>
                </a:solidFill>
                <a:latin typeface="Inter"/>
              </a:rPr>
              <a:t>EMILIEN MORICE · M1 Mastère Data Engineering &amp; IA · EFREI 2025-2026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