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je suis Adam Beloucif et mon binôme est Emilien Morice. Nous allons vous présenter notre système intelligent multi-modèles de maintenance prédictive industrielle, réalisé dans le cadre du module Projet Data Science du M1 Mastère DE&amp;IA à l'EFREI. La soutenance dure environ 9-10 minutes.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arrêt machine non planifié peut coûter jusqu'à 50k EUR/heure. Nous attaquons le problème sous trois angles : détecter une panne à 24h, identifier le type de défaillance, estimer le temps de vie restant. L'enjeu métier principal est de minimiser les faux négatifs.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utilisateur cible est le responsable maintenance. Il a besoin de trois choses : une alerte avant la panne, un diagnostic précis du type de défaillance, et une estimation du temps restant pour planifier l'intervention. Le tableau de bord traduit ces besoins en indicateurs opérationnels directs.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avons travaillé en binôme avec une méthodologie Agile. Le dataset Kaggle CC0 contient 24 042 observations et 15 colonnes. Les deux capteurs les plus discriminants sont la vibration et la température moteur. Le déséquilibre des classes (~14.8% pannes) justifie notre choix de métriques F1 et PR-AUC.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L'EDA révèle deux capteurs clés : la vibration RMS et la température moteur. La matrice de corrélation montre des relations modérées, sans redondance critique. Le scatter plot confirme que les pannes se concentrent dans la zone 'haute droite' (vibration élevée ET température élevée). Le mode 'peak' est le plus à risque.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préprocesseur scikit-learn est encapsulé dans un Pipeline avec l'estimateur. Cela garantit l'absence de data leakage : le fit se fait uniquement sur le train. La branche numérique impute d'abord puis normalise. remainder=drop exclut timestamp et identifiants de machine des features.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avons comparé 4 modèles sur chaque tâche. En binaire, XGBoost remporte le meilleur compromis F1/stabilité CV. Le MLP scikit-learn suffit pour du tabulaire 24k lignes. En multiclasse, XGBoost atteint Macro-F1=0.931. Pour la régression RUL, Random Forest est meilleur avec MAE=9.57h.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courbe ROC XGBoost est quasiment parfaite (AUC=0.995). La matrice de confusion montre que le modèle gère bien le déséquilibre : peu de faux négatifs, ce qui est l'enjeu clé en maintenance. En multiclasse, chaque type de panne est détecté avec F1 &gt; 0.90.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L'interprétabilité est un critère RNCP. Nous avons trois niveaux : la feature importance native XGBoost, la permutation importance, et SHAP TreeExplainer. Les trois s'accordent : vibration et température sont dominants. Cette convergence renforce la confiance dans le modèle.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seuil de décision est abaissé à 0.23 : on préfère déclencher des fausses alertes plutôt que de manquer une vraie panne. Cela économise ~12k EUR par cycle. Le dashboard Streamlit a 5 onglets orientés métier. L'API FastAPI expose 4 endpoints avec validation Pydantic automatique.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limites sont connues et documentées dans nos ADR. La principale est que nos données sont simulées, sans vrai drift industriel. En production, il faudrait ajouter un monitoring Evidently, un retraining automatique et une gestion OAuth2 sur l'API.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conclusion, nous avons construit un système complet : 12 modèles sur 3 tâches, un dashboard métier et une API de scoring. Le seuil cost-sensitive de 0.23 économise 12k EUR par cycle. Ce projet couvre l'intégralité du Bloc 2 RNCP40875. Nous sommes prêts pour vos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efrei_white.png"/>
          <p:cNvPicPr>
            <a:picLocks noChangeAspect="1"/>
          </p:cNvPicPr>
          <p:nvPr/>
        </p:nvPicPr>
        <p:blipFill>
          <a:blip r:embed="rId2"/>
          <a:stretch>
            <a:fillRect/>
          </a:stretch>
        </p:blipFill>
        <p:spPr>
          <a:xfrm>
            <a:off x="5547207" y="365760"/>
            <a:ext cx="1097280" cy="548640"/>
          </a:xfrm>
          <a:prstGeom prst="rect">
            <a:avLst/>
          </a:prstGeom>
        </p:spPr>
      </p:pic>
      <p:sp>
        <p:nvSpPr>
          <p:cNvPr id="4" name="TextBox 3"/>
          <p:cNvSpPr txBox="1"/>
          <p:nvPr/>
        </p:nvSpPr>
        <p:spPr>
          <a:xfrm>
            <a:off x="274320" y="1005840"/>
            <a:ext cx="3200400" cy="365760"/>
          </a:xfrm>
          <a:prstGeom prst="rect">
            <a:avLst/>
          </a:prstGeom>
          <a:noFill/>
        </p:spPr>
        <p:txBody>
          <a:bodyPr wrap="square">
            <a:spAutoFit/>
          </a:bodyPr>
          <a:lstStyle/>
          <a:p>
            <a:pPr algn="l"/>
            <a:r>
              <a:rPr sz="1100" b="0" i="0">
                <a:solidFill>
                  <a:srgbClr val="90CAF9"/>
                </a:solidFill>
                <a:latin typeface="Calibri"/>
              </a:rPr>
              <a:t>RNCP40875 Bloc 2</a:t>
            </a:r>
          </a:p>
        </p:txBody>
      </p:sp>
      <p:sp>
        <p:nvSpPr>
          <p:cNvPr id="5" name="TextBox 4"/>
          <p:cNvSpPr txBox="1"/>
          <p:nvPr/>
        </p:nvSpPr>
        <p:spPr>
          <a:xfrm>
            <a:off x="457200" y="1417320"/>
            <a:ext cx="11247120" cy="777240"/>
          </a:xfrm>
          <a:prstGeom prst="rect">
            <a:avLst/>
          </a:prstGeom>
          <a:noFill/>
        </p:spPr>
        <p:txBody>
          <a:bodyPr wrap="square">
            <a:spAutoFit/>
          </a:bodyPr>
          <a:lstStyle/>
          <a:p>
            <a:pPr algn="ctr"/>
            <a:r>
              <a:rPr sz="3600" b="1" i="0">
                <a:solidFill>
                  <a:srgbClr val="FFFFFF"/>
                </a:solidFill>
                <a:latin typeface="Calibri"/>
              </a:rPr>
              <a:t>Système Intelligent Multi-Modèles</a:t>
            </a:r>
          </a:p>
        </p:txBody>
      </p:sp>
      <p:sp>
        <p:nvSpPr>
          <p:cNvPr id="6" name="TextBox 5"/>
          <p:cNvSpPr txBox="1"/>
          <p:nvPr/>
        </p:nvSpPr>
        <p:spPr>
          <a:xfrm>
            <a:off x="457200" y="2240280"/>
            <a:ext cx="11247120" cy="685800"/>
          </a:xfrm>
          <a:prstGeom prst="rect">
            <a:avLst/>
          </a:prstGeom>
          <a:noFill/>
        </p:spPr>
        <p:txBody>
          <a:bodyPr wrap="square">
            <a:spAutoFit/>
          </a:bodyPr>
          <a:lstStyle/>
          <a:p>
            <a:pPr algn="ctr"/>
            <a:r>
              <a:rPr sz="3000" b="1" i="0">
                <a:solidFill>
                  <a:srgbClr val="90CAF9"/>
                </a:solidFill>
                <a:latin typeface="Calibri"/>
              </a:rPr>
              <a:t>Maintenance Prédictive Industrielle</a:t>
            </a:r>
          </a:p>
        </p:txBody>
      </p:sp>
      <p:sp>
        <p:nvSpPr>
          <p:cNvPr id="7" name="Rectangle 6"/>
          <p:cNvSpPr/>
          <p:nvPr/>
        </p:nvSpPr>
        <p:spPr>
          <a:xfrm>
            <a:off x="2286000" y="2999232"/>
            <a:ext cx="7589520" cy="36576"/>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136392"/>
            <a:ext cx="11247120" cy="457200"/>
          </a:xfrm>
          <a:prstGeom prst="rect">
            <a:avLst/>
          </a:prstGeom>
          <a:noFill/>
        </p:spPr>
        <p:txBody>
          <a:bodyPr wrap="square">
            <a:spAutoFit/>
          </a:bodyPr>
          <a:lstStyle/>
          <a:p>
            <a:pPr algn="ctr"/>
            <a:r>
              <a:rPr sz="2000" b="0" i="0">
                <a:solidFill>
                  <a:srgbClr val="BBDEFB"/>
                </a:solidFill>
                <a:latin typeface="Calibri"/>
              </a:rPr>
              <a:t>Soutenance Projet Data Science</a:t>
            </a:r>
          </a:p>
        </p:txBody>
      </p:sp>
      <p:sp>
        <p:nvSpPr>
          <p:cNvPr id="9" name="TextBox 8"/>
          <p:cNvSpPr txBox="1"/>
          <p:nvPr/>
        </p:nvSpPr>
        <p:spPr>
          <a:xfrm>
            <a:off x="457200" y="3685032"/>
            <a:ext cx="11247120" cy="411480"/>
          </a:xfrm>
          <a:prstGeom prst="rect">
            <a:avLst/>
          </a:prstGeom>
          <a:noFill/>
        </p:spPr>
        <p:txBody>
          <a:bodyPr wrap="square">
            <a:spAutoFit/>
          </a:bodyPr>
          <a:lstStyle/>
          <a:p>
            <a:pPr algn="ctr"/>
            <a:r>
              <a:rPr sz="1800" b="1" i="0">
                <a:solidFill>
                  <a:srgbClr val="FFFFFF"/>
                </a:solidFill>
                <a:latin typeface="Calibri"/>
              </a:rPr>
              <a:t>Adam BELOUCIF  ·  Emilien MORICE</a:t>
            </a:r>
          </a:p>
        </p:txBody>
      </p:sp>
      <p:sp>
        <p:nvSpPr>
          <p:cNvPr id="10" name="TextBox 9"/>
          <p:cNvSpPr txBox="1"/>
          <p:nvPr/>
        </p:nvSpPr>
        <p:spPr>
          <a:xfrm>
            <a:off x="457200" y="4187952"/>
            <a:ext cx="11247120" cy="365760"/>
          </a:xfrm>
          <a:prstGeom prst="rect">
            <a:avLst/>
          </a:prstGeom>
          <a:noFill/>
        </p:spPr>
        <p:txBody>
          <a:bodyPr wrap="square">
            <a:spAutoFit/>
          </a:bodyPr>
          <a:lstStyle/>
          <a:p>
            <a:pPr algn="ctr"/>
            <a:r>
              <a:rPr sz="1500" b="0" i="0">
                <a:solidFill>
                  <a:srgbClr val="BBDEFB"/>
                </a:solidFill>
                <a:latin typeface="Calibri"/>
              </a:rPr>
              <a:t>M1 Mastère Data Engineering &amp; IA  ·  EFREI  ·  2025-2026</a:t>
            </a:r>
          </a:p>
        </p:txBody>
      </p:sp>
      <p:sp>
        <p:nvSpPr>
          <p:cNvPr id="11" name="TextBox 10"/>
          <p:cNvSpPr txBox="1"/>
          <p:nvPr/>
        </p:nvSpPr>
        <p:spPr>
          <a:xfrm>
            <a:off x="457200" y="4645152"/>
            <a:ext cx="11247120" cy="365760"/>
          </a:xfrm>
          <a:prstGeom prst="rect">
            <a:avLst/>
          </a:prstGeom>
          <a:noFill/>
        </p:spPr>
        <p:txBody>
          <a:bodyPr wrap="square">
            <a:spAutoFit/>
          </a:bodyPr>
          <a:lstStyle/>
          <a:p>
            <a:pPr algn="ctr"/>
            <a:r>
              <a:rPr sz="1400" b="0" i="0">
                <a:solidFill>
                  <a:srgbClr val="90CAF9"/>
                </a:solidFill>
                <a:latin typeface="Calibri"/>
              </a:rPr>
              <a:t>Tutrice : Sarah MALAEB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9436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 y="45720"/>
            <a:ext cx="9784080" cy="502920"/>
          </a:xfrm>
          <a:prstGeom prst="rect">
            <a:avLst/>
          </a:prstGeom>
          <a:noFill/>
        </p:spPr>
        <p:txBody>
          <a:bodyPr wrap="square">
            <a:spAutoFit/>
          </a:bodyPr>
          <a:lstStyle/>
          <a:p>
            <a:pPr algn="l"/>
            <a:r>
              <a:rPr sz="2400" b="1" i="0">
                <a:solidFill>
                  <a:srgbClr val="FFFFFF"/>
                </a:solidFill>
                <a:latin typeface="Calibri"/>
              </a:rPr>
              <a:t>Contexte &amp; Problématique</a:t>
            </a:r>
          </a:p>
        </p:txBody>
      </p:sp>
      <p:sp>
        <p:nvSpPr>
          <p:cNvPr id="5" name="TextBox 4"/>
          <p:cNvSpPr txBox="1"/>
          <p:nvPr/>
        </p:nvSpPr>
        <p:spPr>
          <a:xfrm>
            <a:off x="10058400" y="64008"/>
            <a:ext cx="777240" cy="457200"/>
          </a:xfrm>
          <a:prstGeom prst="rect">
            <a:avLst/>
          </a:prstGeom>
          <a:noFill/>
        </p:spPr>
        <p:txBody>
          <a:bodyPr wrap="square">
            <a:spAutoFit/>
          </a:bodyPr>
          <a:lstStyle/>
          <a:p>
            <a:pPr algn="r"/>
            <a:r>
              <a:rPr sz="1100" b="0" i="0">
                <a:solidFill>
                  <a:srgbClr val="BDC3CB"/>
                </a:solidFill>
                <a:latin typeface="Calibri"/>
              </a:rPr>
              <a:t>2 / 12</a:t>
            </a:r>
          </a:p>
        </p:txBody>
      </p:sp>
      <p:pic>
        <p:nvPicPr>
          <p:cNvPr id="6" name="Picture 5" descr="logo_efrei.png"/>
          <p:cNvPicPr>
            <a:picLocks noChangeAspect="1"/>
          </p:cNvPicPr>
          <p:nvPr/>
        </p:nvPicPr>
        <p:blipFill>
          <a:blip r:embed="rId2"/>
          <a:stretch>
            <a:fillRect/>
          </a:stretch>
        </p:blipFill>
        <p:spPr>
          <a:xfrm>
            <a:off x="10972800" y="91440"/>
            <a:ext cx="822960" cy="411480"/>
          </a:xfrm>
          <a:prstGeom prst="rect">
            <a:avLst/>
          </a:prstGeom>
        </p:spPr>
      </p:pic>
      <p:sp>
        <p:nvSpPr>
          <p:cNvPr id="7" name="TextBox 6"/>
          <p:cNvSpPr txBox="1"/>
          <p:nvPr/>
        </p:nvSpPr>
        <p:spPr>
          <a:xfrm>
            <a:off x="457200" y="6446520"/>
            <a:ext cx="11274552" cy="274320"/>
          </a:xfrm>
          <a:prstGeom prst="rect">
            <a:avLst/>
          </a:prstGeom>
          <a:noFill/>
        </p:spPr>
        <p:txBody>
          <a:bodyPr wrap="square">
            <a:spAutoFit/>
          </a:bodyPr>
          <a:lstStyle/>
          <a:p>
            <a:pPr algn="ctr"/>
            <a:r>
              <a:rPr sz="900" b="0" i="0">
                <a:solidFill>
                  <a:srgbClr val="6B7280"/>
                </a:solidFill>
                <a:latin typeface="Calibri"/>
              </a:rPr>
              <a:t>Maintenance Prédictive · EFREI 2025-26 · Adam Beloucif · Emilien Morice</a:t>
            </a:r>
          </a:p>
        </p:txBody>
      </p:sp>
      <p:sp>
        <p:nvSpPr>
          <p:cNvPr id="8" name="Rectangle 7"/>
          <p:cNvSpPr/>
          <p:nvPr/>
        </p:nvSpPr>
        <p:spPr>
          <a:xfrm>
            <a:off x="274320" y="658368"/>
            <a:ext cx="11612880" cy="914400"/>
          </a:xfrm>
          <a:prstGeom prst="rect">
            <a:avLst/>
          </a:prstGeom>
          <a:solidFill>
            <a:srgbClr val="E3F2FD"/>
          </a:solidFill>
          <a:ln>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694944"/>
            <a:ext cx="11338560" cy="841248"/>
          </a:xfrm>
          <a:prstGeom prst="rect">
            <a:avLst/>
          </a:prstGeom>
          <a:noFill/>
        </p:spPr>
        <p:txBody>
          <a:bodyPr wrap="square">
            <a:spAutoFit/>
          </a:bodyPr>
          <a:lstStyle/>
          <a:p>
            <a:pPr algn="l"/>
            <a:r>
              <a:rPr sz="1300" b="0" i="1">
                <a:solidFill>
                  <a:srgbClr val="0D47A1"/>
                </a:solidFill>
                <a:latin typeface="Calibri"/>
              </a:rPr>
              <a:t>Pitch : "Un système intelligent multi-modèles pour anticiper les pannes à 24h, qualifier le type de défaillance et estimer la durée de vie restante, afin d'aider les équipes maintenance à prioriser leurs interventions."</a:t>
            </a:r>
          </a:p>
        </p:txBody>
      </p:sp>
      <p:sp>
        <p:nvSpPr>
          <p:cNvPr id="10" name="TextBox 9"/>
          <p:cNvSpPr txBox="1"/>
          <p:nvPr/>
        </p:nvSpPr>
        <p:spPr>
          <a:xfrm>
            <a:off x="274320" y="1691640"/>
            <a:ext cx="5486400" cy="365760"/>
          </a:xfrm>
          <a:prstGeom prst="rect">
            <a:avLst/>
          </a:prstGeom>
          <a:noFill/>
        </p:spPr>
        <p:txBody>
          <a:bodyPr wrap="square">
            <a:spAutoFit/>
          </a:bodyPr>
          <a:lstStyle/>
          <a:p>
            <a:pPr algn="l"/>
            <a:r>
              <a:rPr sz="1500" b="1" i="0">
                <a:solidFill>
                  <a:srgbClr val="0D47A1"/>
                </a:solidFill>
                <a:latin typeface="Calibri"/>
              </a:rPr>
              <a:t>Enjeux industriels</a:t>
            </a:r>
          </a:p>
        </p:txBody>
      </p:sp>
      <p:sp>
        <p:nvSpPr>
          <p:cNvPr id="11" name="TextBox 10"/>
          <p:cNvSpPr txBox="1"/>
          <p:nvPr/>
        </p:nvSpPr>
        <p:spPr>
          <a:xfrm>
            <a:off x="274320" y="2103120"/>
            <a:ext cx="5577840" cy="2103120"/>
          </a:xfrm>
          <a:prstGeom prst="rect">
            <a:avLst/>
          </a:prstGeom>
          <a:noFill/>
        </p:spPr>
        <p:txBody>
          <a:bodyPr wrap="square">
            <a:spAutoFit/>
          </a:bodyPr>
          <a:lstStyle/>
          <a:p>
            <a:pPr>
              <a:spcBef>
                <a:spcPts val="300"/>
              </a:spcBef>
            </a:pPr>
            <a:r>
              <a:rPr sz="1300" b="0">
                <a:solidFill>
                  <a:srgbClr val="212121"/>
                </a:solidFill>
                <a:latin typeface="Calibri"/>
              </a:rPr>
              <a:t>· Coût d'un arrêt machine : 5 000 à 50 000 EUR/h</a:t>
            </a:r>
          </a:p>
          <a:p>
            <a:pPr>
              <a:spcBef>
                <a:spcPts val="300"/>
              </a:spcBef>
            </a:pPr>
            <a:r>
              <a:rPr sz="1300" b="0">
                <a:solidFill>
                  <a:srgbClr val="212121"/>
                </a:solidFill>
                <a:latin typeface="Calibri"/>
              </a:rPr>
              <a:t>· 3 stratégies : corrective, préventive, prédictive</a:t>
            </a:r>
          </a:p>
          <a:p>
            <a:pPr>
              <a:spcBef>
                <a:spcPts val="300"/>
              </a:spcBef>
            </a:pPr>
            <a:r>
              <a:rPr sz="1300" b="0">
                <a:solidFill>
                  <a:srgbClr val="212121"/>
                </a:solidFill>
                <a:latin typeface="Calibri"/>
              </a:rPr>
              <a:t>· Objectif business : réduire les faux négatifs (pannes non détectées)</a:t>
            </a:r>
          </a:p>
          <a:p>
            <a:pPr>
              <a:spcBef>
                <a:spcPts val="300"/>
              </a:spcBef>
            </a:pPr>
            <a:r>
              <a:rPr sz="1300" b="0">
                <a:solidFill>
                  <a:srgbClr val="212121"/>
                </a:solidFill>
                <a:latin typeface="Calibri"/>
              </a:rPr>
              <a:t>· ROI : anticiper = planifier = économiser</a:t>
            </a:r>
          </a:p>
        </p:txBody>
      </p:sp>
      <p:sp>
        <p:nvSpPr>
          <p:cNvPr id="12" name="TextBox 11"/>
          <p:cNvSpPr txBox="1"/>
          <p:nvPr/>
        </p:nvSpPr>
        <p:spPr>
          <a:xfrm>
            <a:off x="6126480" y="1691640"/>
            <a:ext cx="5760720" cy="365760"/>
          </a:xfrm>
          <a:prstGeom prst="rect">
            <a:avLst/>
          </a:prstGeom>
          <a:noFill/>
        </p:spPr>
        <p:txBody>
          <a:bodyPr wrap="square">
            <a:spAutoFit/>
          </a:bodyPr>
          <a:lstStyle/>
          <a:p>
            <a:pPr algn="l"/>
            <a:r>
              <a:rPr sz="1500" b="1" i="0">
                <a:solidFill>
                  <a:srgbClr val="0D47A1"/>
                </a:solidFill>
                <a:latin typeface="Calibri"/>
              </a:rPr>
              <a:t>3 tâches de modélisation</a:t>
            </a:r>
          </a:p>
        </p:txBody>
      </p:sp>
      <p:graphicFrame>
        <p:nvGraphicFramePr>
          <p:cNvPr id="13" name="Table 12"/>
          <p:cNvGraphicFramePr>
            <a:graphicFrameLocks noGrp="1"/>
          </p:cNvGraphicFramePr>
          <p:nvPr/>
        </p:nvGraphicFramePr>
        <p:xfrm>
          <a:off x="6126480" y="2103120"/>
          <a:ext cx="5760720" cy="1645920"/>
        </p:xfrm>
        <a:graphic>
          <a:graphicData uri="http://schemas.openxmlformats.org/drawingml/2006/table">
            <a:tbl>
              <a:tblPr firstRow="1" bandRow="1">
                <a:tableStyleId>{5C22544A-7EE6-4342-B048-85BDC9FD1C3A}</a:tableStyleId>
              </a:tblPr>
              <a:tblGrid>
                <a:gridCol w="1920240"/>
                <a:gridCol w="1920240"/>
                <a:gridCol w="1920240"/>
              </a:tblGrid>
              <a:tr h="411480">
                <a:tc>
                  <a:txBody>
                    <a:bodyPr/>
                    <a:lstStyle/>
                    <a:p>
                      <a:pPr algn="ctr"/>
                      <a:r>
                        <a:rPr b="1" sz="1200">
                          <a:solidFill>
                            <a:srgbClr val="FFFFFF"/>
                          </a:solidFill>
                          <a:latin typeface="Calibri"/>
                        </a:rPr>
                        <a:t>Tâche</a:t>
                      </a:r>
                    </a:p>
                  </a:txBody>
                  <a:tcPr>
                    <a:solidFill>
                      <a:srgbClr val="0D47A1"/>
                    </a:solidFill>
                  </a:tcPr>
                </a:tc>
                <a:tc>
                  <a:txBody>
                    <a:bodyPr/>
                    <a:lstStyle/>
                    <a:p>
                      <a:pPr algn="ctr"/>
                      <a:r>
                        <a:rPr b="1" sz="1200">
                          <a:solidFill>
                            <a:srgbClr val="FFFFFF"/>
                          </a:solidFill>
                          <a:latin typeface="Calibri"/>
                        </a:rPr>
                        <a:t>Cible</a:t>
                      </a:r>
                    </a:p>
                  </a:txBody>
                  <a:tcPr>
                    <a:solidFill>
                      <a:srgbClr val="0D47A1"/>
                    </a:solidFill>
                  </a:tcPr>
                </a:tc>
                <a:tc>
                  <a:txBody>
                    <a:bodyPr/>
                    <a:lstStyle/>
                    <a:p>
                      <a:pPr algn="ctr"/>
                      <a:r>
                        <a:rPr b="1" sz="1200">
                          <a:solidFill>
                            <a:srgbClr val="FFFFFF"/>
                          </a:solidFill>
                          <a:latin typeface="Calibri"/>
                        </a:rPr>
                        <a:t>Métrique</a:t>
                      </a:r>
                    </a:p>
                  </a:txBody>
                  <a:tcPr>
                    <a:solidFill>
                      <a:srgbClr val="0D47A1"/>
                    </a:solidFill>
                  </a:tcPr>
                </a:tc>
              </a:tr>
              <a:tr h="411480">
                <a:tc>
                  <a:txBody>
                    <a:bodyPr/>
                    <a:lstStyle/>
                    <a:p>
                      <a:pPr algn="ctr"/>
                      <a:r>
                        <a:rPr sz="1100" b="0">
                          <a:solidFill>
                            <a:srgbClr val="212121"/>
                          </a:solidFill>
                          <a:latin typeface="Calibri"/>
                        </a:rPr>
                        <a:t>Classification binaire</a:t>
                      </a:r>
                    </a:p>
                  </a:txBody>
                  <a:tcPr>
                    <a:solidFill>
                      <a:srgbClr val="FFFFFF"/>
                    </a:solidFill>
                  </a:tcPr>
                </a:tc>
                <a:tc>
                  <a:txBody>
                    <a:bodyPr/>
                    <a:lstStyle/>
                    <a:p>
                      <a:pPr algn="ctr"/>
                      <a:r>
                        <a:rPr sz="1100" b="0">
                          <a:solidFill>
                            <a:srgbClr val="212121"/>
                          </a:solidFill>
                          <a:latin typeface="Calibri"/>
                        </a:rPr>
                        <a:t>failure_within_24h</a:t>
                      </a:r>
                    </a:p>
                  </a:txBody>
                  <a:tcPr>
                    <a:solidFill>
                      <a:srgbClr val="FFFFFF"/>
                    </a:solidFill>
                  </a:tcPr>
                </a:tc>
                <a:tc>
                  <a:txBody>
                    <a:bodyPr/>
                    <a:lstStyle/>
                    <a:p>
                      <a:pPr algn="ctr"/>
                      <a:r>
                        <a:rPr sz="1100" b="0">
                          <a:solidFill>
                            <a:srgbClr val="212121"/>
                          </a:solidFill>
                          <a:latin typeface="Calibri"/>
                        </a:rPr>
                        <a:t>F1 / PR-AUC</a:t>
                      </a:r>
                    </a:p>
                  </a:txBody>
                  <a:tcPr>
                    <a:solidFill>
                      <a:srgbClr val="FFFFFF"/>
                    </a:solidFill>
                  </a:tcPr>
                </a:tc>
              </a:tr>
              <a:tr h="411480">
                <a:tc>
                  <a:txBody>
                    <a:bodyPr/>
                    <a:lstStyle/>
                    <a:p>
                      <a:pPr algn="ctr"/>
                      <a:r>
                        <a:rPr sz="1100" b="0">
                          <a:solidFill>
                            <a:srgbClr val="212121"/>
                          </a:solidFill>
                          <a:latin typeface="Calibri"/>
                        </a:rPr>
                        <a:t>Classification multiclasse</a:t>
                      </a:r>
                    </a:p>
                  </a:txBody>
                  <a:tcPr>
                    <a:solidFill>
                      <a:srgbClr val="F5F7FA"/>
                    </a:solidFill>
                  </a:tcPr>
                </a:tc>
                <a:tc>
                  <a:txBody>
                    <a:bodyPr/>
                    <a:lstStyle/>
                    <a:p>
                      <a:pPr algn="ctr"/>
                      <a:r>
                        <a:rPr sz="1100" b="0">
                          <a:solidFill>
                            <a:srgbClr val="212121"/>
                          </a:solidFill>
                          <a:latin typeface="Calibri"/>
                        </a:rPr>
                        <a:t>failure_type (5 classes)</a:t>
                      </a:r>
                    </a:p>
                  </a:txBody>
                  <a:tcPr>
                    <a:solidFill>
                      <a:srgbClr val="F5F7FA"/>
                    </a:solidFill>
                  </a:tcPr>
                </a:tc>
                <a:tc>
                  <a:txBody>
                    <a:bodyPr/>
                    <a:lstStyle/>
                    <a:p>
                      <a:pPr algn="ctr"/>
                      <a:r>
                        <a:rPr sz="1100" b="0">
                          <a:solidFill>
                            <a:srgbClr val="212121"/>
                          </a:solidFill>
                          <a:latin typeface="Calibri"/>
                        </a:rPr>
                        <a:t>Macro-F1</a:t>
                      </a:r>
                    </a:p>
                  </a:txBody>
                  <a:tcPr>
                    <a:solidFill>
                      <a:srgbClr val="F5F7FA"/>
                    </a:solidFill>
                  </a:tcPr>
                </a:tc>
              </a:tr>
              <a:tr h="411480">
                <a:tc>
                  <a:txBody>
                    <a:bodyPr/>
                    <a:lstStyle/>
                    <a:p>
                      <a:pPr algn="ctr"/>
                      <a:r>
                        <a:rPr sz="1100" b="0">
                          <a:solidFill>
                            <a:srgbClr val="212121"/>
                          </a:solidFill>
                          <a:latin typeface="Calibri"/>
                        </a:rPr>
                        <a:t>Régression RUL</a:t>
                      </a:r>
                    </a:p>
                  </a:txBody>
                  <a:tcPr>
                    <a:solidFill>
                      <a:srgbClr val="FFFFFF"/>
                    </a:solidFill>
                  </a:tcPr>
                </a:tc>
                <a:tc>
                  <a:txBody>
                    <a:bodyPr/>
                    <a:lstStyle/>
                    <a:p>
                      <a:pPr algn="ctr"/>
                      <a:r>
                        <a:rPr sz="1100" b="0">
                          <a:solidFill>
                            <a:srgbClr val="212121"/>
                          </a:solidFill>
                          <a:latin typeface="Calibri"/>
                        </a:rPr>
                        <a:t>rul_hours</a:t>
                      </a:r>
                    </a:p>
                  </a:txBody>
                  <a:tcPr>
                    <a:solidFill>
                      <a:srgbClr val="FFFFFF"/>
                    </a:solidFill>
                  </a:tcPr>
                </a:tc>
                <a:tc>
                  <a:txBody>
                    <a:bodyPr/>
                    <a:lstStyle/>
                    <a:p>
                      <a:pPr algn="ctr"/>
                      <a:r>
                        <a:rPr sz="1100" b="0">
                          <a:solidFill>
                            <a:srgbClr val="212121"/>
                          </a:solidFill>
                          <a:latin typeface="Calibri"/>
                        </a:rPr>
                        <a:t>MAE / R2</a:t>
                      </a:r>
                    </a:p>
                  </a:txBody>
                  <a:tcPr>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9436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 y="45720"/>
            <a:ext cx="9784080" cy="502920"/>
          </a:xfrm>
          <a:prstGeom prst="rect">
            <a:avLst/>
          </a:prstGeom>
          <a:noFill/>
        </p:spPr>
        <p:txBody>
          <a:bodyPr wrap="square">
            <a:spAutoFit/>
          </a:bodyPr>
          <a:lstStyle/>
          <a:p>
            <a:pPr algn="l"/>
            <a:r>
              <a:rPr sz="2400" b="1" i="0">
                <a:solidFill>
                  <a:srgbClr val="FFFFFF"/>
                </a:solidFill>
                <a:latin typeface="Calibri"/>
              </a:rPr>
              <a:t>Besoin Utilisateur · Responsable Maintenance</a:t>
            </a:r>
          </a:p>
        </p:txBody>
      </p:sp>
      <p:sp>
        <p:nvSpPr>
          <p:cNvPr id="5" name="TextBox 4"/>
          <p:cNvSpPr txBox="1"/>
          <p:nvPr/>
        </p:nvSpPr>
        <p:spPr>
          <a:xfrm>
            <a:off x="10058400" y="64008"/>
            <a:ext cx="777240" cy="457200"/>
          </a:xfrm>
          <a:prstGeom prst="rect">
            <a:avLst/>
          </a:prstGeom>
          <a:noFill/>
        </p:spPr>
        <p:txBody>
          <a:bodyPr wrap="square">
            <a:spAutoFit/>
          </a:bodyPr>
          <a:lstStyle/>
          <a:p>
            <a:pPr algn="r"/>
            <a:r>
              <a:rPr sz="1100" b="0" i="0">
                <a:solidFill>
                  <a:srgbClr val="BDC3CB"/>
                </a:solidFill>
                <a:latin typeface="Calibri"/>
              </a:rPr>
              <a:t>3 / 12</a:t>
            </a:r>
          </a:p>
        </p:txBody>
      </p:sp>
      <p:pic>
        <p:nvPicPr>
          <p:cNvPr id="6" name="Picture 5" descr="logo_efrei.png"/>
          <p:cNvPicPr>
            <a:picLocks noChangeAspect="1"/>
          </p:cNvPicPr>
          <p:nvPr/>
        </p:nvPicPr>
        <p:blipFill>
          <a:blip r:embed="rId2"/>
          <a:stretch>
            <a:fillRect/>
          </a:stretch>
        </p:blipFill>
        <p:spPr>
          <a:xfrm>
            <a:off x="10972800" y="91440"/>
            <a:ext cx="822960" cy="411480"/>
          </a:xfrm>
          <a:prstGeom prst="rect">
            <a:avLst/>
          </a:prstGeom>
        </p:spPr>
      </p:pic>
      <p:sp>
        <p:nvSpPr>
          <p:cNvPr id="7" name="TextBox 6"/>
          <p:cNvSpPr txBox="1"/>
          <p:nvPr/>
        </p:nvSpPr>
        <p:spPr>
          <a:xfrm>
            <a:off x="457200" y="6446520"/>
            <a:ext cx="11274552" cy="274320"/>
          </a:xfrm>
          <a:prstGeom prst="rect">
            <a:avLst/>
          </a:prstGeom>
          <a:noFill/>
        </p:spPr>
        <p:txBody>
          <a:bodyPr wrap="square">
            <a:spAutoFit/>
          </a:bodyPr>
          <a:lstStyle/>
          <a:p>
            <a:pPr algn="ctr"/>
            <a:r>
              <a:rPr sz="900" b="0" i="0">
                <a:solidFill>
                  <a:srgbClr val="6B7280"/>
                </a:solidFill>
                <a:latin typeface="Calibri"/>
              </a:rPr>
              <a:t>Maintenance Prédictive · EFREI 2025-26 · Adam Beloucif · Emilien Morice</a:t>
            </a:r>
          </a:p>
        </p:txBody>
      </p:sp>
      <p:sp>
        <p:nvSpPr>
          <p:cNvPr id="8" name="Rectangle 7"/>
          <p:cNvSpPr/>
          <p:nvPr/>
        </p:nvSpPr>
        <p:spPr>
          <a:xfrm>
            <a:off x="274320" y="658368"/>
            <a:ext cx="4114800" cy="77724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94944"/>
            <a:ext cx="3931920" cy="704088"/>
          </a:xfrm>
          <a:prstGeom prst="rect">
            <a:avLst/>
          </a:prstGeom>
          <a:noFill/>
        </p:spPr>
        <p:txBody>
          <a:bodyPr wrap="square">
            <a:spAutoFit/>
          </a:bodyPr>
          <a:lstStyle/>
          <a:p>
            <a:pPr algn="l"/>
            <a:r>
              <a:rPr sz="1200" b="1" i="0">
                <a:solidFill>
                  <a:srgbClr val="FFFFFF"/>
                </a:solidFill>
                <a:latin typeface="Calibri"/>
              </a:rPr>
              <a:t>Persona : Responsable de maintenance d'usine
Objectif : zéro arrêt imprévu</a:t>
            </a:r>
          </a:p>
        </p:txBody>
      </p:sp>
      <p:sp>
        <p:nvSpPr>
          <p:cNvPr id="10" name="TextBox 9"/>
          <p:cNvSpPr txBox="1"/>
          <p:nvPr/>
        </p:nvSpPr>
        <p:spPr>
          <a:xfrm>
            <a:off x="274320" y="1554480"/>
            <a:ext cx="5943600" cy="365760"/>
          </a:xfrm>
          <a:prstGeom prst="rect">
            <a:avLst/>
          </a:prstGeom>
          <a:noFill/>
        </p:spPr>
        <p:txBody>
          <a:bodyPr wrap="square">
            <a:spAutoFit/>
          </a:bodyPr>
          <a:lstStyle/>
          <a:p>
            <a:pPr algn="l"/>
            <a:r>
              <a:rPr sz="1500" b="1" i="0">
                <a:solidFill>
                  <a:srgbClr val="0D47A1"/>
                </a:solidFill>
                <a:latin typeface="Calibri"/>
              </a:rPr>
              <a:t>Décisions et indicateurs clés</a:t>
            </a:r>
          </a:p>
        </p:txBody>
      </p:sp>
      <p:graphicFrame>
        <p:nvGraphicFramePr>
          <p:cNvPr id="11" name="Table 10"/>
          <p:cNvGraphicFramePr>
            <a:graphicFrameLocks noGrp="1"/>
          </p:cNvGraphicFramePr>
          <p:nvPr/>
        </p:nvGraphicFramePr>
        <p:xfrm>
          <a:off x="274320" y="1965960"/>
          <a:ext cx="7315200" cy="2011680"/>
        </p:xfrm>
        <a:graphic>
          <a:graphicData uri="http://schemas.openxmlformats.org/drawingml/2006/table">
            <a:tbl>
              <a:tblPr firstRow="1" bandRow="1">
                <a:tableStyleId>{5C22544A-7EE6-4342-B048-85BDC9FD1C3A}</a:tableStyleId>
              </a:tblPr>
              <a:tblGrid>
                <a:gridCol w="3657600"/>
                <a:gridCol w="3657600"/>
              </a:tblGrid>
              <a:tr h="402336">
                <a:tc>
                  <a:txBody>
                    <a:bodyPr/>
                    <a:lstStyle/>
                    <a:p>
                      <a:pPr algn="ctr"/>
                      <a:r>
                        <a:rPr b="1" sz="1200">
                          <a:solidFill>
                            <a:srgbClr val="FFFFFF"/>
                          </a:solidFill>
                          <a:latin typeface="Calibri"/>
                        </a:rPr>
                        <a:t>Décision métier</a:t>
                      </a:r>
                    </a:p>
                  </a:txBody>
                  <a:tcPr>
                    <a:solidFill>
                      <a:srgbClr val="0D47A1"/>
                    </a:solidFill>
                  </a:tcPr>
                </a:tc>
                <a:tc>
                  <a:txBody>
                    <a:bodyPr/>
                    <a:lstStyle/>
                    <a:p>
                      <a:pPr algn="ctr"/>
                      <a:r>
                        <a:rPr b="1" sz="1200">
                          <a:solidFill>
                            <a:srgbClr val="FFFFFF"/>
                          </a:solidFill>
                          <a:latin typeface="Calibri"/>
                        </a:rPr>
                        <a:t>Indicateur fourni</a:t>
                      </a:r>
                    </a:p>
                  </a:txBody>
                  <a:tcPr>
                    <a:solidFill>
                      <a:srgbClr val="0D47A1"/>
                    </a:solidFill>
                  </a:tcPr>
                </a:tc>
              </a:tr>
              <a:tr h="402336">
                <a:tc>
                  <a:txBody>
                    <a:bodyPr/>
                    <a:lstStyle/>
                    <a:p>
                      <a:pPr algn="ctr"/>
                      <a:r>
                        <a:rPr sz="1100" b="0">
                          <a:solidFill>
                            <a:srgbClr val="212121"/>
                          </a:solidFill>
                          <a:latin typeface="Calibri"/>
                        </a:rPr>
                        <a:t>Alerte temps réel</a:t>
                      </a:r>
                    </a:p>
                  </a:txBody>
                  <a:tcPr>
                    <a:solidFill>
                      <a:srgbClr val="FFFFFF"/>
                    </a:solidFill>
                  </a:tcPr>
                </a:tc>
                <a:tc>
                  <a:txBody>
                    <a:bodyPr/>
                    <a:lstStyle/>
                    <a:p>
                      <a:pPr algn="ctr"/>
                      <a:r>
                        <a:rPr sz="1100" b="0">
                          <a:solidFill>
                            <a:srgbClr val="212121"/>
                          </a:solidFill>
                          <a:latin typeface="Calibri"/>
                        </a:rPr>
                        <a:t>Probabilité panne à 24h + niveau risque</a:t>
                      </a:r>
                    </a:p>
                  </a:txBody>
                  <a:tcPr>
                    <a:solidFill>
                      <a:srgbClr val="FFFFFF"/>
                    </a:solidFill>
                  </a:tcPr>
                </a:tc>
              </a:tr>
              <a:tr h="402336">
                <a:tc>
                  <a:txBody>
                    <a:bodyPr/>
                    <a:lstStyle/>
                    <a:p>
                      <a:pPr algn="ctr"/>
                      <a:r>
                        <a:rPr sz="1100" b="0">
                          <a:solidFill>
                            <a:srgbClr val="212121"/>
                          </a:solidFill>
                          <a:latin typeface="Calibri"/>
                        </a:rPr>
                        <a:t>Plan d'intervention</a:t>
                      </a:r>
                    </a:p>
                  </a:txBody>
                  <a:tcPr>
                    <a:solidFill>
                      <a:srgbClr val="F5F7FA"/>
                    </a:solidFill>
                  </a:tcPr>
                </a:tc>
                <a:tc>
                  <a:txBody>
                    <a:bodyPr/>
                    <a:lstStyle/>
                    <a:p>
                      <a:pPr algn="ctr"/>
                      <a:r>
                        <a:rPr sz="1100" b="0">
                          <a:solidFill>
                            <a:srgbClr val="212121"/>
                          </a:solidFill>
                          <a:latin typeface="Calibri"/>
                        </a:rPr>
                        <a:t>Type de défaillance prédit (5 classes)</a:t>
                      </a:r>
                    </a:p>
                  </a:txBody>
                  <a:tcPr>
                    <a:solidFill>
                      <a:srgbClr val="F5F7FA"/>
                    </a:solidFill>
                  </a:tcPr>
                </a:tc>
              </a:tr>
              <a:tr h="402336">
                <a:tc>
                  <a:txBody>
                    <a:bodyPr/>
                    <a:lstStyle/>
                    <a:p>
                      <a:pPr algn="ctr"/>
                      <a:r>
                        <a:rPr sz="1100" b="0">
                          <a:solidFill>
                            <a:srgbClr val="212121"/>
                          </a:solidFill>
                          <a:latin typeface="Calibri"/>
                        </a:rPr>
                        <a:t>Priorisation urgences</a:t>
                      </a:r>
                    </a:p>
                  </a:txBody>
                  <a:tcPr>
                    <a:solidFill>
                      <a:srgbClr val="FFFFFF"/>
                    </a:solidFill>
                  </a:tcPr>
                </a:tc>
                <a:tc>
                  <a:txBody>
                    <a:bodyPr/>
                    <a:lstStyle/>
                    <a:p>
                      <a:pPr algn="ctr"/>
                      <a:r>
                        <a:rPr sz="1100" b="0">
                          <a:solidFill>
                            <a:srgbClr val="212121"/>
                          </a:solidFill>
                          <a:latin typeface="Calibri"/>
                        </a:rPr>
                        <a:t>Durée de vie restante estimée (heures)</a:t>
                      </a:r>
                    </a:p>
                  </a:txBody>
                  <a:tcPr>
                    <a:solidFill>
                      <a:srgbClr val="FFFFFF"/>
                    </a:solidFill>
                  </a:tcPr>
                </a:tc>
              </a:tr>
              <a:tr h="402336">
                <a:tc>
                  <a:txBody>
                    <a:bodyPr/>
                    <a:lstStyle/>
                    <a:p>
                      <a:pPr algn="ctr"/>
                      <a:r>
                        <a:rPr sz="1100" b="0">
                          <a:solidFill>
                            <a:srgbClr val="212121"/>
                          </a:solidFill>
                          <a:latin typeface="Calibri"/>
                        </a:rPr>
                        <a:t>Arbitrage budgétaire</a:t>
                      </a:r>
                    </a:p>
                  </a:txBody>
                  <a:tcPr>
                    <a:solidFill>
                      <a:srgbClr val="F5F7FA"/>
                    </a:solidFill>
                  </a:tcPr>
                </a:tc>
                <a:tc>
                  <a:txBody>
                    <a:bodyPr/>
                    <a:lstStyle/>
                    <a:p>
                      <a:pPr algn="ctr"/>
                      <a:r>
                        <a:rPr sz="1100" b="0">
                          <a:solidFill>
                            <a:srgbClr val="212121"/>
                          </a:solidFill>
                          <a:latin typeface="Calibri"/>
                        </a:rPr>
                        <a:t>Coût évité : économies estimées en EUR</a:t>
                      </a:r>
                    </a:p>
                  </a:txBody>
                  <a:tcPr>
                    <a:solidFill>
                      <a:srgbClr val="F5F7FA"/>
                    </a:solidFill>
                  </a:tcPr>
                </a:tc>
              </a:tr>
            </a:tbl>
          </a:graphicData>
        </a:graphic>
      </p:graphicFrame>
      <p:sp>
        <p:nvSpPr>
          <p:cNvPr id="12" name="TextBox 11"/>
          <p:cNvSpPr txBox="1"/>
          <p:nvPr/>
        </p:nvSpPr>
        <p:spPr>
          <a:xfrm>
            <a:off x="7955279" y="1554480"/>
            <a:ext cx="4023360" cy="365760"/>
          </a:xfrm>
          <a:prstGeom prst="rect">
            <a:avLst/>
          </a:prstGeom>
          <a:noFill/>
        </p:spPr>
        <p:txBody>
          <a:bodyPr wrap="square">
            <a:spAutoFit/>
          </a:bodyPr>
          <a:lstStyle/>
          <a:p>
            <a:pPr algn="l"/>
            <a:r>
              <a:rPr sz="1500" b="1" i="0">
                <a:solidFill>
                  <a:srgbClr val="0D47A1"/>
                </a:solidFill>
                <a:latin typeface="Calibri"/>
              </a:rPr>
              <a:t>KPI tableau de bord</a:t>
            </a:r>
          </a:p>
        </p:txBody>
      </p:sp>
      <p:sp>
        <p:nvSpPr>
          <p:cNvPr id="13" name="TextBox 12"/>
          <p:cNvSpPr txBox="1"/>
          <p:nvPr/>
        </p:nvSpPr>
        <p:spPr>
          <a:xfrm>
            <a:off x="7955279" y="1965960"/>
            <a:ext cx="4023360" cy="2011680"/>
          </a:xfrm>
          <a:prstGeom prst="rect">
            <a:avLst/>
          </a:prstGeom>
          <a:noFill/>
        </p:spPr>
        <p:txBody>
          <a:bodyPr wrap="square">
            <a:spAutoFit/>
          </a:bodyPr>
          <a:lstStyle/>
          <a:p>
            <a:pPr>
              <a:spcBef>
                <a:spcPts val="300"/>
              </a:spcBef>
            </a:pPr>
            <a:r>
              <a:rPr sz="1300" b="0">
                <a:solidFill>
                  <a:srgbClr val="212121"/>
                </a:solidFill>
                <a:latin typeface="Calibri"/>
              </a:rPr>
              <a:t>· Machines critiques en temps réel</a:t>
            </a:r>
          </a:p>
          <a:p>
            <a:pPr>
              <a:spcBef>
                <a:spcPts val="300"/>
              </a:spcBef>
            </a:pPr>
            <a:r>
              <a:rPr sz="1300" b="0">
                <a:solidFill>
                  <a:srgbClr val="212121"/>
                </a:solidFill>
                <a:latin typeface="Calibri"/>
              </a:rPr>
              <a:t>· Plan d'intervention priorisé</a:t>
            </a:r>
          </a:p>
          <a:p>
            <a:pPr>
              <a:spcBef>
                <a:spcPts val="300"/>
              </a:spcBef>
            </a:pPr>
            <a:r>
              <a:rPr sz="1300" b="0">
                <a:solidFill>
                  <a:srgbClr val="212121"/>
                </a:solidFill>
                <a:latin typeface="Calibri"/>
              </a:rPr>
              <a:t>· Économies réalisées (EUR)</a:t>
            </a:r>
          </a:p>
          <a:p>
            <a:pPr>
              <a:spcBef>
                <a:spcPts val="300"/>
              </a:spcBef>
            </a:pPr>
            <a:r>
              <a:rPr sz="1300" b="0">
                <a:solidFill>
                  <a:srgbClr val="212121"/>
                </a:solidFill>
                <a:latin typeface="Calibri"/>
              </a:rPr>
              <a:t>· Diagnostic par machine</a:t>
            </a:r>
          </a:p>
          <a:p>
            <a:pPr>
              <a:spcBef>
                <a:spcPts val="300"/>
              </a:spcBef>
            </a:pPr>
            <a:r>
              <a:rPr sz="1300" b="0">
                <a:solidFill>
                  <a:srgbClr val="212121"/>
                </a:solidFill>
                <a:latin typeface="Calibri"/>
              </a:rPr>
              <a:t>· Détails techniques (jury/DSI)</a:t>
            </a:r>
          </a:p>
        </p:txBody>
      </p:sp>
      <p:sp>
        <p:nvSpPr>
          <p:cNvPr id="14" name="TextBox 13"/>
          <p:cNvSpPr txBox="1"/>
          <p:nvPr/>
        </p:nvSpPr>
        <p:spPr>
          <a:xfrm>
            <a:off x="274320" y="4114800"/>
            <a:ext cx="11612880" cy="640080"/>
          </a:xfrm>
          <a:prstGeom prst="rect">
            <a:avLst/>
          </a:prstGeom>
          <a:noFill/>
        </p:spPr>
        <p:txBody>
          <a:bodyPr wrap="square">
            <a:spAutoFit/>
          </a:bodyPr>
          <a:lstStyle/>
          <a:p>
            <a:pPr algn="l"/>
            <a:r>
              <a:rPr sz="1300" b="0" i="1">
                <a:solidFill>
                  <a:srgbClr val="0D47A1"/>
                </a:solidFill>
                <a:latin typeface="Calibri"/>
              </a:rPr>
              <a:t>Valeur ajoutée : le responsable saisit les valeurs capteurs et reçoit immédiatement une recommandation actionnelle (aucune action / contrôle 48h / intervention 12-24h).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9436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 y="45720"/>
            <a:ext cx="9784080" cy="502920"/>
          </a:xfrm>
          <a:prstGeom prst="rect">
            <a:avLst/>
          </a:prstGeom>
          <a:noFill/>
        </p:spPr>
        <p:txBody>
          <a:bodyPr wrap="square">
            <a:spAutoFit/>
          </a:bodyPr>
          <a:lstStyle/>
          <a:p>
            <a:pPr algn="l"/>
            <a:r>
              <a:rPr sz="2400" b="1" i="0">
                <a:solidFill>
                  <a:srgbClr val="FFFFFF"/>
                </a:solidFill>
                <a:latin typeface="Calibri"/>
              </a:rPr>
              <a:t>Méthodologie &amp; Dataset</a:t>
            </a:r>
          </a:p>
        </p:txBody>
      </p:sp>
      <p:sp>
        <p:nvSpPr>
          <p:cNvPr id="5" name="TextBox 4"/>
          <p:cNvSpPr txBox="1"/>
          <p:nvPr/>
        </p:nvSpPr>
        <p:spPr>
          <a:xfrm>
            <a:off x="10058400" y="64008"/>
            <a:ext cx="777240" cy="457200"/>
          </a:xfrm>
          <a:prstGeom prst="rect">
            <a:avLst/>
          </a:prstGeom>
          <a:noFill/>
        </p:spPr>
        <p:txBody>
          <a:bodyPr wrap="square">
            <a:spAutoFit/>
          </a:bodyPr>
          <a:lstStyle/>
          <a:p>
            <a:pPr algn="r"/>
            <a:r>
              <a:rPr sz="1100" b="0" i="0">
                <a:solidFill>
                  <a:srgbClr val="BDC3CB"/>
                </a:solidFill>
                <a:latin typeface="Calibri"/>
              </a:rPr>
              <a:t>4 / 12</a:t>
            </a:r>
          </a:p>
        </p:txBody>
      </p:sp>
      <p:pic>
        <p:nvPicPr>
          <p:cNvPr id="6" name="Picture 5" descr="logo_efrei.png"/>
          <p:cNvPicPr>
            <a:picLocks noChangeAspect="1"/>
          </p:cNvPicPr>
          <p:nvPr/>
        </p:nvPicPr>
        <p:blipFill>
          <a:blip r:embed="rId2"/>
          <a:stretch>
            <a:fillRect/>
          </a:stretch>
        </p:blipFill>
        <p:spPr>
          <a:xfrm>
            <a:off x="10972800" y="91440"/>
            <a:ext cx="822960" cy="411480"/>
          </a:xfrm>
          <a:prstGeom prst="rect">
            <a:avLst/>
          </a:prstGeom>
        </p:spPr>
      </p:pic>
      <p:sp>
        <p:nvSpPr>
          <p:cNvPr id="7" name="TextBox 6"/>
          <p:cNvSpPr txBox="1"/>
          <p:nvPr/>
        </p:nvSpPr>
        <p:spPr>
          <a:xfrm>
            <a:off x="457200" y="6446520"/>
            <a:ext cx="11274552" cy="274320"/>
          </a:xfrm>
          <a:prstGeom prst="rect">
            <a:avLst/>
          </a:prstGeom>
          <a:noFill/>
        </p:spPr>
        <p:txBody>
          <a:bodyPr wrap="square">
            <a:spAutoFit/>
          </a:bodyPr>
          <a:lstStyle/>
          <a:p>
            <a:pPr algn="ctr"/>
            <a:r>
              <a:rPr sz="900" b="0" i="0">
                <a:solidFill>
                  <a:srgbClr val="6B7280"/>
                </a:solidFill>
                <a:latin typeface="Calibri"/>
              </a:rPr>
              <a:t>Maintenance Prédictive · EFREI 2025-26 · Adam Beloucif · Emilien Morice</a:t>
            </a:r>
          </a:p>
        </p:txBody>
      </p:sp>
      <p:sp>
        <p:nvSpPr>
          <p:cNvPr id="8" name="TextBox 7"/>
          <p:cNvSpPr txBox="1"/>
          <p:nvPr/>
        </p:nvSpPr>
        <p:spPr>
          <a:xfrm>
            <a:off x="274320" y="685800"/>
            <a:ext cx="5029200" cy="365760"/>
          </a:xfrm>
          <a:prstGeom prst="rect">
            <a:avLst/>
          </a:prstGeom>
          <a:noFill/>
        </p:spPr>
        <p:txBody>
          <a:bodyPr wrap="square">
            <a:spAutoFit/>
          </a:bodyPr>
          <a:lstStyle/>
          <a:p>
            <a:pPr algn="l"/>
            <a:r>
              <a:rPr sz="1500" b="1" i="0">
                <a:solidFill>
                  <a:srgbClr val="0D47A1"/>
                </a:solidFill>
                <a:latin typeface="Calibri"/>
              </a:rPr>
              <a:t>Approche projet</a:t>
            </a:r>
          </a:p>
        </p:txBody>
      </p:sp>
      <p:sp>
        <p:nvSpPr>
          <p:cNvPr id="9" name="TextBox 8"/>
          <p:cNvSpPr txBox="1"/>
          <p:nvPr/>
        </p:nvSpPr>
        <p:spPr>
          <a:xfrm>
            <a:off x="274320" y="1097280"/>
            <a:ext cx="5212080" cy="2103120"/>
          </a:xfrm>
          <a:prstGeom prst="rect">
            <a:avLst/>
          </a:prstGeom>
          <a:noFill/>
        </p:spPr>
        <p:txBody>
          <a:bodyPr wrap="square">
            <a:spAutoFit/>
          </a:bodyPr>
          <a:lstStyle/>
          <a:p>
            <a:pPr>
              <a:spcBef>
                <a:spcPts val="300"/>
              </a:spcBef>
            </a:pPr>
            <a:r>
              <a:rPr sz="1200" b="0">
                <a:solidFill>
                  <a:srgbClr val="212121"/>
                </a:solidFill>
                <a:latin typeface="Calibri"/>
              </a:rPr>
              <a:t>· Méthode hybride Agile/Kanban (sprints 1 semaine)</a:t>
            </a:r>
          </a:p>
          <a:p>
            <a:pPr>
              <a:spcBef>
                <a:spcPts val="300"/>
              </a:spcBef>
            </a:pPr>
            <a:r>
              <a:rPr sz="1200" b="0">
                <a:solidFill>
                  <a:srgbClr val="212121"/>
                </a:solidFill>
                <a:latin typeface="Calibri"/>
              </a:rPr>
              <a:t>· Adam : pipeline ML binaire, API, interprétabilité</a:t>
            </a:r>
          </a:p>
          <a:p>
            <a:pPr>
              <a:spcBef>
                <a:spcPts val="300"/>
              </a:spcBef>
            </a:pPr>
            <a:r>
              <a:rPr sz="1200" b="0">
                <a:solidFill>
                  <a:srgbClr val="212121"/>
                </a:solidFill>
                <a:latin typeface="Calibri"/>
              </a:rPr>
              <a:t>· Emilien : multiclasse, régression, dashboard métier</a:t>
            </a:r>
          </a:p>
          <a:p>
            <a:pPr>
              <a:spcBef>
                <a:spcPts val="300"/>
              </a:spcBef>
            </a:pPr>
            <a:r>
              <a:rPr sz="1200" b="0">
                <a:solidFill>
                  <a:srgbClr val="212121"/>
                </a:solidFill>
                <a:latin typeface="Calibri"/>
              </a:rPr>
              <a:t>· Outils : GitHub (Adam-Blf), Notion, scripts numérotés</a:t>
            </a:r>
          </a:p>
          <a:p>
            <a:pPr>
              <a:spcBef>
                <a:spcPts val="300"/>
              </a:spcBef>
            </a:pPr>
            <a:r>
              <a:rPr sz="1200" b="0">
                <a:solidFill>
                  <a:srgbClr val="212121"/>
                </a:solidFill>
                <a:latin typeface="Calibri"/>
              </a:rPr>
              <a:t>· 10 scripts Python (02 à 11) + CI/CD GitHub Actions</a:t>
            </a:r>
          </a:p>
        </p:txBody>
      </p:sp>
      <p:sp>
        <p:nvSpPr>
          <p:cNvPr id="10" name="TextBox 9"/>
          <p:cNvSpPr txBox="1"/>
          <p:nvPr/>
        </p:nvSpPr>
        <p:spPr>
          <a:xfrm>
            <a:off x="5760720" y="685800"/>
            <a:ext cx="6126480" cy="365760"/>
          </a:xfrm>
          <a:prstGeom prst="rect">
            <a:avLst/>
          </a:prstGeom>
          <a:noFill/>
        </p:spPr>
        <p:txBody>
          <a:bodyPr wrap="square">
            <a:spAutoFit/>
          </a:bodyPr>
          <a:lstStyle/>
          <a:p>
            <a:pPr algn="l"/>
            <a:r>
              <a:rPr sz="1500" b="1" i="0">
                <a:solidFill>
                  <a:srgbClr val="0D47A1"/>
                </a:solidFill>
                <a:latin typeface="Calibri"/>
              </a:rPr>
              <a:t>Dataset · Kaggle CC0 v3.0</a:t>
            </a:r>
          </a:p>
        </p:txBody>
      </p:sp>
      <p:sp>
        <p:nvSpPr>
          <p:cNvPr id="11" name="TextBox 10"/>
          <p:cNvSpPr txBox="1"/>
          <p:nvPr/>
        </p:nvSpPr>
        <p:spPr>
          <a:xfrm>
            <a:off x="5760720" y="1097280"/>
            <a:ext cx="6035040" cy="1828800"/>
          </a:xfrm>
          <a:prstGeom prst="rect">
            <a:avLst/>
          </a:prstGeom>
          <a:noFill/>
        </p:spPr>
        <p:txBody>
          <a:bodyPr wrap="square">
            <a:spAutoFit/>
          </a:bodyPr>
          <a:lstStyle/>
          <a:p>
            <a:pPr>
              <a:spcBef>
                <a:spcPts val="300"/>
              </a:spcBef>
            </a:pPr>
            <a:r>
              <a:rPr sz="1200" b="0">
                <a:solidFill>
                  <a:srgbClr val="212121"/>
                </a:solidFill>
                <a:latin typeface="Calibri"/>
              </a:rPr>
              <a:t>· 24 042 lignes x 15 colonnes</a:t>
            </a:r>
          </a:p>
          <a:p>
            <a:pPr>
              <a:spcBef>
                <a:spcPts val="300"/>
              </a:spcBef>
            </a:pPr>
            <a:r>
              <a:rPr sz="1200" b="0">
                <a:solidFill>
                  <a:srgbClr val="212121"/>
                </a:solidFill>
                <a:latin typeface="Calibri"/>
              </a:rPr>
              <a:t>· 7 capteurs numériques + 2 catégorielles + 4 cibles</a:t>
            </a:r>
          </a:p>
          <a:p>
            <a:pPr>
              <a:spcBef>
                <a:spcPts val="300"/>
              </a:spcBef>
            </a:pPr>
            <a:r>
              <a:rPr sz="1200" b="0">
                <a:solidFill>
                  <a:srgbClr val="212121"/>
                </a:solidFill>
                <a:latin typeface="Calibri"/>
              </a:rPr>
              <a:t>· Déséquilibre : ~14.8% pannes (justifie F1 + PR-AUC)</a:t>
            </a:r>
          </a:p>
          <a:p>
            <a:pPr>
              <a:spcBef>
                <a:spcPts val="300"/>
              </a:spcBef>
            </a:pPr>
            <a:r>
              <a:rPr sz="1200" b="0">
                <a:solidFill>
                  <a:srgbClr val="212121"/>
                </a:solidFill>
                <a:latin typeface="Calibri"/>
              </a:rPr>
              <a:t>· NaN 2-4% sur 5 capteurs (imputation médiane)</a:t>
            </a:r>
          </a:p>
          <a:p>
            <a:pPr>
              <a:spcBef>
                <a:spcPts val="300"/>
              </a:spcBef>
            </a:pPr>
            <a:r>
              <a:rPr sz="1200" b="0">
                <a:solidFill>
                  <a:srgbClr val="212121"/>
                </a:solidFill>
                <a:latin typeface="Calibri"/>
              </a:rPr>
              <a:t>· source : tatheerabbas/industrial-machine-predictive-maintenance</a:t>
            </a:r>
          </a:p>
        </p:txBody>
      </p:sp>
      <p:sp>
        <p:nvSpPr>
          <p:cNvPr id="12" name="TextBox 11"/>
          <p:cNvSpPr txBox="1"/>
          <p:nvPr/>
        </p:nvSpPr>
        <p:spPr>
          <a:xfrm>
            <a:off x="612648" y="3337560"/>
            <a:ext cx="10972800" cy="365760"/>
          </a:xfrm>
          <a:prstGeom prst="rect">
            <a:avLst/>
          </a:prstGeom>
          <a:noFill/>
        </p:spPr>
        <p:txBody>
          <a:bodyPr wrap="square">
            <a:spAutoFit/>
          </a:bodyPr>
          <a:lstStyle/>
          <a:p>
            <a:pPr algn="l"/>
            <a:r>
              <a:rPr sz="1400" b="1" i="0">
                <a:solidFill>
                  <a:srgbClr val="0D47A1"/>
                </a:solidFill>
                <a:latin typeface="Calibri"/>
              </a:rPr>
              <a:t>Colonnes principales</a:t>
            </a:r>
          </a:p>
        </p:txBody>
      </p:sp>
      <p:graphicFrame>
        <p:nvGraphicFramePr>
          <p:cNvPr id="13" name="Table 12"/>
          <p:cNvGraphicFramePr>
            <a:graphicFrameLocks noGrp="1"/>
          </p:cNvGraphicFramePr>
          <p:nvPr/>
        </p:nvGraphicFramePr>
        <p:xfrm>
          <a:off x="612648" y="3794760"/>
          <a:ext cx="10972800" cy="2423160"/>
        </p:xfrm>
        <a:graphic>
          <a:graphicData uri="http://schemas.openxmlformats.org/drawingml/2006/table">
            <a:tbl>
              <a:tblPr firstRow="1" bandRow="1">
                <a:tableStyleId>{5C22544A-7EE6-4342-B048-85BDC9FD1C3A}</a:tableStyleId>
              </a:tblPr>
              <a:tblGrid>
                <a:gridCol w="2743200"/>
                <a:gridCol w="2743200"/>
                <a:gridCol w="2743200"/>
                <a:gridCol w="2743200"/>
              </a:tblGrid>
              <a:tr h="346165">
                <a:tc>
                  <a:txBody>
                    <a:bodyPr/>
                    <a:lstStyle/>
                    <a:p>
                      <a:pPr algn="ctr"/>
                      <a:r>
                        <a:rPr b="1" sz="1200">
                          <a:solidFill>
                            <a:srgbClr val="FFFFFF"/>
                          </a:solidFill>
                          <a:latin typeface="Calibri"/>
                        </a:rPr>
                        <a:t>Colonne</a:t>
                      </a:r>
                    </a:p>
                  </a:txBody>
                  <a:tcPr>
                    <a:solidFill>
                      <a:srgbClr val="0D47A1"/>
                    </a:solidFill>
                  </a:tcPr>
                </a:tc>
                <a:tc>
                  <a:txBody>
                    <a:bodyPr/>
                    <a:lstStyle/>
                    <a:p>
                      <a:pPr algn="ctr"/>
                      <a:r>
                        <a:rPr b="1" sz="1200">
                          <a:solidFill>
                            <a:srgbClr val="FFFFFF"/>
                          </a:solidFill>
                          <a:latin typeface="Calibri"/>
                        </a:rPr>
                        <a:t>Type</a:t>
                      </a:r>
                    </a:p>
                  </a:txBody>
                  <a:tcPr>
                    <a:solidFill>
                      <a:srgbClr val="0D47A1"/>
                    </a:solidFill>
                  </a:tcPr>
                </a:tc>
                <a:tc>
                  <a:txBody>
                    <a:bodyPr/>
                    <a:lstStyle/>
                    <a:p>
                      <a:pPr algn="ctr"/>
                      <a:r>
                        <a:rPr b="1" sz="1200">
                          <a:solidFill>
                            <a:srgbClr val="FFFFFF"/>
                          </a:solidFill>
                          <a:latin typeface="Calibri"/>
                        </a:rPr>
                        <a:t>Unité</a:t>
                      </a:r>
                    </a:p>
                  </a:txBody>
                  <a:tcPr>
                    <a:solidFill>
                      <a:srgbClr val="0D47A1"/>
                    </a:solidFill>
                  </a:tcPr>
                </a:tc>
                <a:tc>
                  <a:txBody>
                    <a:bodyPr/>
                    <a:lstStyle/>
                    <a:p>
                      <a:pPr algn="ctr"/>
                      <a:r>
                        <a:rPr b="1" sz="1200">
                          <a:solidFill>
                            <a:srgbClr val="FFFFFF"/>
                          </a:solidFill>
                          <a:latin typeface="Calibri"/>
                        </a:rPr>
                        <a:t>Rôle</a:t>
                      </a:r>
                    </a:p>
                  </a:txBody>
                  <a:tcPr>
                    <a:solidFill>
                      <a:srgbClr val="0D47A1"/>
                    </a:solidFill>
                  </a:tcPr>
                </a:tc>
              </a:tr>
              <a:tr h="346165">
                <a:tc>
                  <a:txBody>
                    <a:bodyPr/>
                    <a:lstStyle/>
                    <a:p>
                      <a:pPr algn="ctr"/>
                      <a:r>
                        <a:rPr sz="1100" b="0">
                          <a:solidFill>
                            <a:srgbClr val="212121"/>
                          </a:solidFill>
                          <a:latin typeface="Calibri"/>
                        </a:rPr>
                        <a:t>vibration_rms</a:t>
                      </a:r>
                    </a:p>
                  </a:txBody>
                  <a:tcPr>
                    <a:solidFill>
                      <a:srgbClr val="FFFFFF"/>
                    </a:solidFill>
                  </a:tcPr>
                </a:tc>
                <a:tc>
                  <a:txBody>
                    <a:bodyPr/>
                    <a:lstStyle/>
                    <a:p>
                      <a:pPr algn="ctr"/>
                      <a:r>
                        <a:rPr sz="1100" b="0">
                          <a:solidFill>
                            <a:srgbClr val="212121"/>
                          </a:solidFill>
                          <a:latin typeface="Calibri"/>
                        </a:rPr>
                        <a:t>float</a:t>
                      </a:r>
                    </a:p>
                  </a:txBody>
                  <a:tcPr>
                    <a:solidFill>
                      <a:srgbClr val="FFFFFF"/>
                    </a:solidFill>
                  </a:tcPr>
                </a:tc>
                <a:tc>
                  <a:txBody>
                    <a:bodyPr/>
                    <a:lstStyle/>
                    <a:p>
                      <a:pPr algn="ctr"/>
                      <a:r>
                        <a:rPr sz="1100" b="0">
                          <a:solidFill>
                            <a:srgbClr val="212121"/>
                          </a:solidFill>
                          <a:latin typeface="Calibri"/>
                        </a:rPr>
                        <a:t>mm/s</a:t>
                      </a:r>
                    </a:p>
                  </a:txBody>
                  <a:tcPr>
                    <a:solidFill>
                      <a:srgbClr val="FFFFFF"/>
                    </a:solidFill>
                  </a:tcPr>
                </a:tc>
                <a:tc>
                  <a:txBody>
                    <a:bodyPr/>
                    <a:lstStyle/>
                    <a:p>
                      <a:pPr algn="ctr"/>
                      <a:r>
                        <a:rPr sz="1100" b="0">
                          <a:solidFill>
                            <a:srgbClr val="212121"/>
                          </a:solidFill>
                          <a:latin typeface="Calibri"/>
                        </a:rPr>
                        <a:t>Feature (top discriminant)</a:t>
                      </a:r>
                    </a:p>
                  </a:txBody>
                  <a:tcPr>
                    <a:solidFill>
                      <a:srgbClr val="FFFFFF"/>
                    </a:solidFill>
                  </a:tcPr>
                </a:tc>
              </a:tr>
              <a:tr h="346165">
                <a:tc>
                  <a:txBody>
                    <a:bodyPr/>
                    <a:lstStyle/>
                    <a:p>
                      <a:pPr algn="ctr"/>
                      <a:r>
                        <a:rPr sz="1100" b="0">
                          <a:solidFill>
                            <a:srgbClr val="212121"/>
                          </a:solidFill>
                          <a:latin typeface="Calibri"/>
                        </a:rPr>
                        <a:t>temperature_motor</a:t>
                      </a:r>
                    </a:p>
                  </a:txBody>
                  <a:tcPr>
                    <a:solidFill>
                      <a:srgbClr val="F5F7FA"/>
                    </a:solidFill>
                  </a:tcPr>
                </a:tc>
                <a:tc>
                  <a:txBody>
                    <a:bodyPr/>
                    <a:lstStyle/>
                    <a:p>
                      <a:pPr algn="ctr"/>
                      <a:r>
                        <a:rPr sz="1100" b="0">
                          <a:solidFill>
                            <a:srgbClr val="212121"/>
                          </a:solidFill>
                          <a:latin typeface="Calibri"/>
                        </a:rPr>
                        <a:t>float</a:t>
                      </a:r>
                    </a:p>
                  </a:txBody>
                  <a:tcPr>
                    <a:solidFill>
                      <a:srgbClr val="F5F7FA"/>
                    </a:solidFill>
                  </a:tcPr>
                </a:tc>
                <a:tc>
                  <a:txBody>
                    <a:bodyPr/>
                    <a:lstStyle/>
                    <a:p>
                      <a:pPr algn="ctr"/>
                      <a:r>
                        <a:rPr sz="1100" b="0">
                          <a:solidFill>
                            <a:srgbClr val="212121"/>
                          </a:solidFill>
                          <a:latin typeface="Calibri"/>
                        </a:rPr>
                        <a:t>degC</a:t>
                      </a:r>
                    </a:p>
                  </a:txBody>
                  <a:tcPr>
                    <a:solidFill>
                      <a:srgbClr val="F5F7FA"/>
                    </a:solidFill>
                  </a:tcPr>
                </a:tc>
                <a:tc>
                  <a:txBody>
                    <a:bodyPr/>
                    <a:lstStyle/>
                    <a:p>
                      <a:pPr algn="ctr"/>
                      <a:r>
                        <a:rPr sz="1100" b="0">
                          <a:solidFill>
                            <a:srgbClr val="212121"/>
                          </a:solidFill>
                          <a:latin typeface="Calibri"/>
                        </a:rPr>
                        <a:t>Feature (2e discriminant)</a:t>
                      </a:r>
                    </a:p>
                  </a:txBody>
                  <a:tcPr>
                    <a:solidFill>
                      <a:srgbClr val="F5F7FA"/>
                    </a:solidFill>
                  </a:tcPr>
                </a:tc>
              </a:tr>
              <a:tr h="346165">
                <a:tc>
                  <a:txBody>
                    <a:bodyPr/>
                    <a:lstStyle/>
                    <a:p>
                      <a:pPr algn="ctr"/>
                      <a:r>
                        <a:rPr sz="1100" b="0">
                          <a:solidFill>
                            <a:srgbClr val="212121"/>
                          </a:solidFill>
                          <a:latin typeface="Calibri"/>
                        </a:rPr>
                        <a:t>hours_since_maintenance</a:t>
                      </a:r>
                    </a:p>
                  </a:txBody>
                  <a:tcPr>
                    <a:solidFill>
                      <a:srgbClr val="FFFFFF"/>
                    </a:solidFill>
                  </a:tcPr>
                </a:tc>
                <a:tc>
                  <a:txBody>
                    <a:bodyPr/>
                    <a:lstStyle/>
                    <a:p>
                      <a:pPr algn="ctr"/>
                      <a:r>
                        <a:rPr sz="1100" b="0">
                          <a:solidFill>
                            <a:srgbClr val="212121"/>
                          </a:solidFill>
                          <a:latin typeface="Calibri"/>
                        </a:rPr>
                        <a:t>float</a:t>
                      </a:r>
                    </a:p>
                  </a:txBody>
                  <a:tcPr>
                    <a:solidFill>
                      <a:srgbClr val="FFFFFF"/>
                    </a:solidFill>
                  </a:tcPr>
                </a:tc>
                <a:tc>
                  <a:txBody>
                    <a:bodyPr/>
                    <a:lstStyle/>
                    <a:p>
                      <a:pPr algn="ctr"/>
                      <a:r>
                        <a:rPr sz="1100" b="0">
                          <a:solidFill>
                            <a:srgbClr val="212121"/>
                          </a:solidFill>
                          <a:latin typeface="Calibri"/>
                        </a:rPr>
                        <a:t>h</a:t>
                      </a:r>
                    </a:p>
                  </a:txBody>
                  <a:tcPr>
                    <a:solidFill>
                      <a:srgbClr val="FFFFFF"/>
                    </a:solidFill>
                  </a:tcPr>
                </a:tc>
                <a:tc>
                  <a:txBody>
                    <a:bodyPr/>
                    <a:lstStyle/>
                    <a:p>
                      <a:pPr algn="ctr"/>
                      <a:r>
                        <a:rPr sz="1100" b="0">
                          <a:solidFill>
                            <a:srgbClr val="212121"/>
                          </a:solidFill>
                          <a:latin typeface="Calibri"/>
                        </a:rPr>
                        <a:t>Feature (proxy d'usure)</a:t>
                      </a:r>
                    </a:p>
                  </a:txBody>
                  <a:tcPr>
                    <a:solidFill>
                      <a:srgbClr val="FFFFFF"/>
                    </a:solidFill>
                  </a:tcPr>
                </a:tc>
              </a:tr>
              <a:tr h="346165">
                <a:tc>
                  <a:txBody>
                    <a:bodyPr/>
                    <a:lstStyle/>
                    <a:p>
                      <a:pPr algn="ctr"/>
                      <a:r>
                        <a:rPr sz="1100" b="0">
                          <a:solidFill>
                            <a:srgbClr val="212121"/>
                          </a:solidFill>
                          <a:latin typeface="Calibri"/>
                        </a:rPr>
                        <a:t>failure_within_24h</a:t>
                      </a:r>
                    </a:p>
                  </a:txBody>
                  <a:tcPr>
                    <a:solidFill>
                      <a:srgbClr val="F5F7FA"/>
                    </a:solidFill>
                  </a:tcPr>
                </a:tc>
                <a:tc>
                  <a:txBody>
                    <a:bodyPr/>
                    <a:lstStyle/>
                    <a:p>
                      <a:pPr algn="ctr"/>
                      <a:r>
                        <a:rPr sz="1100" b="0">
                          <a:solidFill>
                            <a:srgbClr val="212121"/>
                          </a:solidFill>
                          <a:latin typeface="Calibri"/>
                        </a:rPr>
                        <a:t>int 0/1</a:t>
                      </a:r>
                    </a:p>
                  </a:txBody>
                  <a:tcPr>
                    <a:solidFill>
                      <a:srgbClr val="F5F7FA"/>
                    </a:solidFill>
                  </a:tcPr>
                </a:tc>
                <a:tc>
                  <a:txBody>
                    <a:bodyPr/>
                    <a:lstStyle/>
                    <a:p>
                      <a:pPr algn="ctr"/>
                      <a:r>
                        <a:rPr sz="1100" b="0">
                          <a:solidFill>
                            <a:srgbClr val="212121"/>
                          </a:solidFill>
                          <a:latin typeface="Calibri"/>
                        </a:rPr>
                        <a:t>-</a:t>
                      </a:r>
                    </a:p>
                  </a:txBody>
                  <a:tcPr>
                    <a:solidFill>
                      <a:srgbClr val="F5F7FA"/>
                    </a:solidFill>
                  </a:tcPr>
                </a:tc>
                <a:tc>
                  <a:txBody>
                    <a:bodyPr/>
                    <a:lstStyle/>
                    <a:p>
                      <a:pPr algn="ctr"/>
                      <a:r>
                        <a:rPr sz="1100" b="0">
                          <a:solidFill>
                            <a:srgbClr val="212121"/>
                          </a:solidFill>
                          <a:latin typeface="Calibri"/>
                        </a:rPr>
                        <a:t>Cible binaire principale</a:t>
                      </a:r>
                    </a:p>
                  </a:txBody>
                  <a:tcPr>
                    <a:solidFill>
                      <a:srgbClr val="F5F7FA"/>
                    </a:solidFill>
                  </a:tcPr>
                </a:tc>
              </a:tr>
              <a:tr h="346165">
                <a:tc>
                  <a:txBody>
                    <a:bodyPr/>
                    <a:lstStyle/>
                    <a:p>
                      <a:pPr algn="ctr"/>
                      <a:r>
                        <a:rPr sz="1100" b="0">
                          <a:solidFill>
                            <a:srgbClr val="212121"/>
                          </a:solidFill>
                          <a:latin typeface="Calibri"/>
                        </a:rPr>
                        <a:t>failure_type</a:t>
                      </a:r>
                    </a:p>
                  </a:txBody>
                  <a:tcPr>
                    <a:solidFill>
                      <a:srgbClr val="FFFFFF"/>
                    </a:solidFill>
                  </a:tcPr>
                </a:tc>
                <a:tc>
                  <a:txBody>
                    <a:bodyPr/>
                    <a:lstStyle/>
                    <a:p>
                      <a:pPr algn="ctr"/>
                      <a:r>
                        <a:rPr sz="1100" b="0">
                          <a:solidFill>
                            <a:srgbClr val="212121"/>
                          </a:solidFill>
                          <a:latin typeface="Calibri"/>
                        </a:rPr>
                        <a:t>catégorie</a:t>
                      </a:r>
                    </a:p>
                  </a:txBody>
                  <a:tcPr>
                    <a:solidFill>
                      <a:srgbClr val="FFFFFF"/>
                    </a:solidFill>
                  </a:tcPr>
                </a:tc>
                <a:tc>
                  <a:txBody>
                    <a:bodyPr/>
                    <a:lstStyle/>
                    <a:p>
                      <a:pPr algn="ctr"/>
                      <a:r>
                        <a:rPr sz="1100" b="0">
                          <a:solidFill>
                            <a:srgbClr val="212121"/>
                          </a:solidFill>
                          <a:latin typeface="Calibri"/>
                        </a:rPr>
                        <a:t>5 classes</a:t>
                      </a:r>
                    </a:p>
                  </a:txBody>
                  <a:tcPr>
                    <a:solidFill>
                      <a:srgbClr val="FFFFFF"/>
                    </a:solidFill>
                  </a:tcPr>
                </a:tc>
                <a:tc>
                  <a:txBody>
                    <a:bodyPr/>
                    <a:lstStyle/>
                    <a:p>
                      <a:pPr algn="ctr"/>
                      <a:r>
                        <a:rPr sz="1100" b="0">
                          <a:solidFill>
                            <a:srgbClr val="212121"/>
                          </a:solidFill>
                          <a:latin typeface="Calibri"/>
                        </a:rPr>
                        <a:t>Cible multiclasse</a:t>
                      </a:r>
                    </a:p>
                  </a:txBody>
                  <a:tcPr>
                    <a:solidFill>
                      <a:srgbClr val="FFFFFF"/>
                    </a:solidFill>
                  </a:tcPr>
                </a:tc>
              </a:tr>
              <a:tr h="346170">
                <a:tc>
                  <a:txBody>
                    <a:bodyPr/>
                    <a:lstStyle/>
                    <a:p>
                      <a:pPr algn="ctr"/>
                      <a:r>
                        <a:rPr sz="1100" b="0">
                          <a:solidFill>
                            <a:srgbClr val="212121"/>
                          </a:solidFill>
                          <a:latin typeface="Calibri"/>
                        </a:rPr>
                        <a:t>rul_hours</a:t>
                      </a:r>
                    </a:p>
                  </a:txBody>
                  <a:tcPr>
                    <a:solidFill>
                      <a:srgbClr val="F5F7FA"/>
                    </a:solidFill>
                  </a:tcPr>
                </a:tc>
                <a:tc>
                  <a:txBody>
                    <a:bodyPr/>
                    <a:lstStyle/>
                    <a:p>
                      <a:pPr algn="ctr"/>
                      <a:r>
                        <a:rPr sz="1100" b="0">
                          <a:solidFill>
                            <a:srgbClr val="212121"/>
                          </a:solidFill>
                          <a:latin typeface="Calibri"/>
                        </a:rPr>
                        <a:t>float</a:t>
                      </a:r>
                    </a:p>
                  </a:txBody>
                  <a:tcPr>
                    <a:solidFill>
                      <a:srgbClr val="F5F7FA"/>
                    </a:solidFill>
                  </a:tcPr>
                </a:tc>
                <a:tc>
                  <a:txBody>
                    <a:bodyPr/>
                    <a:lstStyle/>
                    <a:p>
                      <a:pPr algn="ctr"/>
                      <a:r>
                        <a:rPr sz="1100" b="0">
                          <a:solidFill>
                            <a:srgbClr val="212121"/>
                          </a:solidFill>
                          <a:latin typeface="Calibri"/>
                        </a:rPr>
                        <a:t>h</a:t>
                      </a:r>
                    </a:p>
                  </a:txBody>
                  <a:tcPr>
                    <a:solidFill>
                      <a:srgbClr val="F5F7FA"/>
                    </a:solidFill>
                  </a:tcPr>
                </a:tc>
                <a:tc>
                  <a:txBody>
                    <a:bodyPr/>
                    <a:lstStyle/>
                    <a:p>
                      <a:pPr algn="ctr"/>
                      <a:r>
                        <a:rPr sz="1100" b="0">
                          <a:solidFill>
                            <a:srgbClr val="212121"/>
                          </a:solidFill>
                          <a:latin typeface="Calibri"/>
                        </a:rPr>
                        <a:t>Cible régression (durée vie restante)</a:t>
                      </a:r>
                    </a:p>
                  </a:txBody>
                  <a:tcPr>
                    <a:solidFill>
                      <a:srgbClr val="F5F7FA"/>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9436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 y="45720"/>
            <a:ext cx="9784080" cy="502920"/>
          </a:xfrm>
          <a:prstGeom prst="rect">
            <a:avLst/>
          </a:prstGeom>
          <a:noFill/>
        </p:spPr>
        <p:txBody>
          <a:bodyPr wrap="square">
            <a:spAutoFit/>
          </a:bodyPr>
          <a:lstStyle/>
          <a:p>
            <a:pPr algn="l"/>
            <a:r>
              <a:rPr sz="2400" b="1" i="0">
                <a:solidFill>
                  <a:srgbClr val="FFFFFF"/>
                </a:solidFill>
                <a:latin typeface="Calibri"/>
              </a:rPr>
              <a:t>Analyse Exploratoire (EDA)</a:t>
            </a:r>
          </a:p>
        </p:txBody>
      </p:sp>
      <p:sp>
        <p:nvSpPr>
          <p:cNvPr id="5" name="TextBox 4"/>
          <p:cNvSpPr txBox="1"/>
          <p:nvPr/>
        </p:nvSpPr>
        <p:spPr>
          <a:xfrm>
            <a:off x="10058400" y="64008"/>
            <a:ext cx="777240" cy="457200"/>
          </a:xfrm>
          <a:prstGeom prst="rect">
            <a:avLst/>
          </a:prstGeom>
          <a:noFill/>
        </p:spPr>
        <p:txBody>
          <a:bodyPr wrap="square">
            <a:spAutoFit/>
          </a:bodyPr>
          <a:lstStyle/>
          <a:p>
            <a:pPr algn="r"/>
            <a:r>
              <a:rPr sz="1100" b="0" i="0">
                <a:solidFill>
                  <a:srgbClr val="BDC3CB"/>
                </a:solidFill>
                <a:latin typeface="Calibri"/>
              </a:rPr>
              <a:t>5 / 12</a:t>
            </a:r>
          </a:p>
        </p:txBody>
      </p:sp>
      <p:pic>
        <p:nvPicPr>
          <p:cNvPr id="6" name="Picture 5" descr="logo_efrei.png"/>
          <p:cNvPicPr>
            <a:picLocks noChangeAspect="1"/>
          </p:cNvPicPr>
          <p:nvPr/>
        </p:nvPicPr>
        <p:blipFill>
          <a:blip r:embed="rId2"/>
          <a:stretch>
            <a:fillRect/>
          </a:stretch>
        </p:blipFill>
        <p:spPr>
          <a:xfrm>
            <a:off x="10972800" y="91440"/>
            <a:ext cx="822960" cy="411480"/>
          </a:xfrm>
          <a:prstGeom prst="rect">
            <a:avLst/>
          </a:prstGeom>
        </p:spPr>
      </p:pic>
      <p:sp>
        <p:nvSpPr>
          <p:cNvPr id="7" name="TextBox 6"/>
          <p:cNvSpPr txBox="1"/>
          <p:nvPr/>
        </p:nvSpPr>
        <p:spPr>
          <a:xfrm>
            <a:off x="457200" y="6446520"/>
            <a:ext cx="11274552" cy="274320"/>
          </a:xfrm>
          <a:prstGeom prst="rect">
            <a:avLst/>
          </a:prstGeom>
          <a:noFill/>
        </p:spPr>
        <p:txBody>
          <a:bodyPr wrap="square">
            <a:spAutoFit/>
          </a:bodyPr>
          <a:lstStyle/>
          <a:p>
            <a:pPr algn="ctr"/>
            <a:r>
              <a:rPr sz="900" b="0" i="0">
                <a:solidFill>
                  <a:srgbClr val="6B7280"/>
                </a:solidFill>
                <a:latin typeface="Calibri"/>
              </a:rPr>
              <a:t>Maintenance Prédictive · EFREI 2025-26 · Adam Beloucif · Emilien Morice</a:t>
            </a:r>
          </a:p>
        </p:txBody>
      </p:sp>
      <p:sp>
        <p:nvSpPr>
          <p:cNvPr id="8" name="TextBox 7"/>
          <p:cNvSpPr txBox="1"/>
          <p:nvPr/>
        </p:nvSpPr>
        <p:spPr>
          <a:xfrm>
            <a:off x="274320" y="685800"/>
            <a:ext cx="11612880" cy="777240"/>
          </a:xfrm>
          <a:prstGeom prst="rect">
            <a:avLst/>
          </a:prstGeom>
          <a:noFill/>
        </p:spPr>
        <p:txBody>
          <a:bodyPr wrap="square">
            <a:spAutoFit/>
          </a:bodyPr>
          <a:lstStyle/>
          <a:p>
            <a:pPr>
              <a:spcBef>
                <a:spcPts val="300"/>
              </a:spcBef>
            </a:pPr>
            <a:r>
              <a:rPr sz="1300" b="0">
                <a:solidFill>
                  <a:srgbClr val="212121"/>
                </a:solidFill>
                <a:latin typeface="Calibri"/>
              </a:rPr>
              <a:t>· Vibration RMS + température moteur : capteurs les plus discriminants</a:t>
            </a:r>
          </a:p>
          <a:p>
            <a:pPr>
              <a:spcBef>
                <a:spcPts val="300"/>
              </a:spcBef>
            </a:pPr>
            <a:r>
              <a:rPr sz="1300" b="0">
                <a:solidFill>
                  <a:srgbClr val="212121"/>
                </a:solidFill>
                <a:latin typeface="Calibri"/>
              </a:rPr>
              <a:t>· Mode opératoire 'peak' : taux de panne le plus élevé</a:t>
            </a:r>
          </a:p>
          <a:p>
            <a:pPr>
              <a:spcBef>
                <a:spcPts val="300"/>
              </a:spcBef>
            </a:pPr>
            <a:r>
              <a:rPr sz="1300" b="0">
                <a:solidFill>
                  <a:srgbClr val="212121"/>
                </a:solidFill>
                <a:latin typeface="Calibri"/>
              </a:rPr>
              <a:t>· 5 capteurs avec 2-4% de NaN (imputation médiane robuste aux outliers)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9436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 y="45720"/>
            <a:ext cx="9784080" cy="502920"/>
          </a:xfrm>
          <a:prstGeom prst="rect">
            <a:avLst/>
          </a:prstGeom>
          <a:noFill/>
        </p:spPr>
        <p:txBody>
          <a:bodyPr wrap="square">
            <a:spAutoFit/>
          </a:bodyPr>
          <a:lstStyle/>
          <a:p>
            <a:pPr algn="l"/>
            <a:r>
              <a:rPr sz="2400" b="1" i="0">
                <a:solidFill>
                  <a:srgbClr val="FFFFFF"/>
                </a:solidFill>
                <a:latin typeface="Calibri"/>
              </a:rPr>
              <a:t>Pipeline IA &amp; Preprocessing</a:t>
            </a:r>
          </a:p>
        </p:txBody>
      </p:sp>
      <p:sp>
        <p:nvSpPr>
          <p:cNvPr id="5" name="TextBox 4"/>
          <p:cNvSpPr txBox="1"/>
          <p:nvPr/>
        </p:nvSpPr>
        <p:spPr>
          <a:xfrm>
            <a:off x="10058400" y="64008"/>
            <a:ext cx="777240" cy="457200"/>
          </a:xfrm>
          <a:prstGeom prst="rect">
            <a:avLst/>
          </a:prstGeom>
          <a:noFill/>
        </p:spPr>
        <p:txBody>
          <a:bodyPr wrap="square">
            <a:spAutoFit/>
          </a:bodyPr>
          <a:lstStyle/>
          <a:p>
            <a:pPr algn="r"/>
            <a:r>
              <a:rPr sz="1100" b="0" i="0">
                <a:solidFill>
                  <a:srgbClr val="BDC3CB"/>
                </a:solidFill>
                <a:latin typeface="Calibri"/>
              </a:rPr>
              <a:t>6 / 12</a:t>
            </a:r>
          </a:p>
        </p:txBody>
      </p:sp>
      <p:pic>
        <p:nvPicPr>
          <p:cNvPr id="6" name="Picture 5" descr="logo_efrei.png"/>
          <p:cNvPicPr>
            <a:picLocks noChangeAspect="1"/>
          </p:cNvPicPr>
          <p:nvPr/>
        </p:nvPicPr>
        <p:blipFill>
          <a:blip r:embed="rId2"/>
          <a:stretch>
            <a:fillRect/>
          </a:stretch>
        </p:blipFill>
        <p:spPr>
          <a:xfrm>
            <a:off x="10972800" y="91440"/>
            <a:ext cx="822960" cy="411480"/>
          </a:xfrm>
          <a:prstGeom prst="rect">
            <a:avLst/>
          </a:prstGeom>
        </p:spPr>
      </p:pic>
      <p:sp>
        <p:nvSpPr>
          <p:cNvPr id="7" name="TextBox 6"/>
          <p:cNvSpPr txBox="1"/>
          <p:nvPr/>
        </p:nvSpPr>
        <p:spPr>
          <a:xfrm>
            <a:off x="457200" y="6446520"/>
            <a:ext cx="11274552" cy="274320"/>
          </a:xfrm>
          <a:prstGeom prst="rect">
            <a:avLst/>
          </a:prstGeom>
          <a:noFill/>
        </p:spPr>
        <p:txBody>
          <a:bodyPr wrap="square">
            <a:spAutoFit/>
          </a:bodyPr>
          <a:lstStyle/>
          <a:p>
            <a:pPr algn="ctr"/>
            <a:r>
              <a:rPr sz="900" b="0" i="0">
                <a:solidFill>
                  <a:srgbClr val="6B7280"/>
                </a:solidFill>
                <a:latin typeface="Calibri"/>
              </a:rPr>
              <a:t>Maintenance Prédictive · EFREI 2025-26 · Adam Beloucif · Emilien Morice</a:t>
            </a:r>
          </a:p>
        </p:txBody>
      </p:sp>
      <p:sp>
        <p:nvSpPr>
          <p:cNvPr id="8" name="TextBox 7"/>
          <p:cNvSpPr txBox="1"/>
          <p:nvPr/>
        </p:nvSpPr>
        <p:spPr>
          <a:xfrm>
            <a:off x="274320" y="685800"/>
            <a:ext cx="5029200" cy="1920240"/>
          </a:xfrm>
          <a:prstGeom prst="rect">
            <a:avLst/>
          </a:prstGeom>
          <a:noFill/>
        </p:spPr>
        <p:txBody>
          <a:bodyPr wrap="square">
            <a:spAutoFit/>
          </a:bodyPr>
          <a:lstStyle/>
          <a:p>
            <a:pPr>
              <a:spcBef>
                <a:spcPts val="300"/>
              </a:spcBef>
            </a:pPr>
            <a:r>
              <a:rPr sz="1300" b="0">
                <a:solidFill>
                  <a:srgbClr val="212121"/>
                </a:solidFill>
                <a:latin typeface="Calibri"/>
              </a:rPr>
              <a:t>· ColumnTransformer sklearn : anti-leakage garanti (fit train seulement)</a:t>
            </a:r>
          </a:p>
          <a:p>
            <a:pPr>
              <a:spcBef>
                <a:spcPts val="300"/>
              </a:spcBef>
            </a:pPr>
            <a:r>
              <a:rPr sz="1300" b="0">
                <a:solidFill>
                  <a:srgbClr val="212121"/>
                </a:solidFill>
                <a:latin typeface="Calibri"/>
              </a:rPr>
              <a:t>· Split stratifié 80/20 (stratify=y, random_state=42)</a:t>
            </a:r>
          </a:p>
          <a:p>
            <a:pPr>
              <a:spcBef>
                <a:spcPts val="300"/>
              </a:spcBef>
            </a:pPr>
            <a:r>
              <a:rPr sz="1300" b="0">
                <a:solidFill>
                  <a:srgbClr val="212121"/>
                </a:solidFill>
                <a:latin typeface="Calibri"/>
              </a:rPr>
              <a:t>· Cross-validation StratifiedKFold 5-fold sur pipeline complet</a:t>
            </a:r>
          </a:p>
          <a:p>
            <a:pPr>
              <a:spcBef>
                <a:spcPts val="300"/>
              </a:spcBef>
            </a:pPr>
            <a:r>
              <a:rPr sz="1300" b="0">
                <a:solidFill>
                  <a:srgbClr val="212121"/>
                </a:solidFill>
                <a:latin typeface="Calibri"/>
              </a:rPr>
              <a:t>· Déséquilibre : class_weight=balanced (LR/RF) + scale_pos_weight (XGBoost)</a:t>
            </a:r>
          </a:p>
        </p:txBody>
      </p:sp>
      <p:sp>
        <p:nvSpPr>
          <p:cNvPr id="9" name="TextBox 8"/>
          <p:cNvSpPr txBox="1"/>
          <p:nvPr/>
        </p:nvSpPr>
        <p:spPr>
          <a:xfrm>
            <a:off x="274320" y="2743200"/>
            <a:ext cx="5029200" cy="365760"/>
          </a:xfrm>
          <a:prstGeom prst="rect">
            <a:avLst/>
          </a:prstGeom>
          <a:noFill/>
        </p:spPr>
        <p:txBody>
          <a:bodyPr wrap="square">
            <a:spAutoFit/>
          </a:bodyPr>
          <a:lstStyle/>
          <a:p>
            <a:pPr algn="l"/>
            <a:r>
              <a:rPr sz="1400" b="1" i="0">
                <a:solidFill>
                  <a:srgbClr val="0D47A1"/>
                </a:solidFill>
                <a:latin typeface="Calibri"/>
              </a:rPr>
              <a:t>Détail preprocessing</a:t>
            </a:r>
          </a:p>
        </p:txBody>
      </p:sp>
      <p:graphicFrame>
        <p:nvGraphicFramePr>
          <p:cNvPr id="10" name="Table 9"/>
          <p:cNvGraphicFramePr>
            <a:graphicFrameLocks noGrp="1"/>
          </p:cNvGraphicFramePr>
          <p:nvPr/>
        </p:nvGraphicFramePr>
        <p:xfrm>
          <a:off x="274320" y="3154680"/>
          <a:ext cx="5029200" cy="1691640"/>
        </p:xfrm>
        <a:graphic>
          <a:graphicData uri="http://schemas.openxmlformats.org/drawingml/2006/table">
            <a:tbl>
              <a:tblPr firstRow="1" bandRow="1">
                <a:tableStyleId>{5C22544A-7EE6-4342-B048-85BDC9FD1C3A}</a:tableStyleId>
              </a:tblPr>
              <a:tblGrid>
                <a:gridCol w="1676400"/>
                <a:gridCol w="1676400"/>
                <a:gridCol w="1676400"/>
              </a:tblGrid>
              <a:tr h="422910">
                <a:tc>
                  <a:txBody>
                    <a:bodyPr/>
                    <a:lstStyle/>
                    <a:p>
                      <a:pPr algn="ctr"/>
                      <a:r>
                        <a:rPr b="1" sz="1200">
                          <a:solidFill>
                            <a:srgbClr val="FFFFFF"/>
                          </a:solidFill>
                          <a:latin typeface="Calibri"/>
                        </a:rPr>
                        <a:t>Branche</a:t>
                      </a:r>
                    </a:p>
                  </a:txBody>
                  <a:tcPr>
                    <a:solidFill>
                      <a:srgbClr val="0D47A1"/>
                    </a:solidFill>
                  </a:tcPr>
                </a:tc>
                <a:tc>
                  <a:txBody>
                    <a:bodyPr/>
                    <a:lstStyle/>
                    <a:p>
                      <a:pPr algn="ctr"/>
                      <a:r>
                        <a:rPr b="1" sz="1200">
                          <a:solidFill>
                            <a:srgbClr val="FFFFFF"/>
                          </a:solidFill>
                          <a:latin typeface="Calibri"/>
                        </a:rPr>
                        <a:t>Étape 1</a:t>
                      </a:r>
                    </a:p>
                  </a:txBody>
                  <a:tcPr>
                    <a:solidFill>
                      <a:srgbClr val="0D47A1"/>
                    </a:solidFill>
                  </a:tcPr>
                </a:tc>
                <a:tc>
                  <a:txBody>
                    <a:bodyPr/>
                    <a:lstStyle/>
                    <a:p>
                      <a:pPr algn="ctr"/>
                      <a:r>
                        <a:rPr b="1" sz="1200">
                          <a:solidFill>
                            <a:srgbClr val="FFFFFF"/>
                          </a:solidFill>
                          <a:latin typeface="Calibri"/>
                        </a:rPr>
                        <a:t>Étape 2</a:t>
                      </a:r>
                    </a:p>
                  </a:txBody>
                  <a:tcPr>
                    <a:solidFill>
                      <a:srgbClr val="0D47A1"/>
                    </a:solidFill>
                  </a:tcPr>
                </a:tc>
              </a:tr>
              <a:tr h="422910">
                <a:tc>
                  <a:txBody>
                    <a:bodyPr/>
                    <a:lstStyle/>
                    <a:p>
                      <a:pPr algn="ctr"/>
                      <a:r>
                        <a:rPr sz="1100" b="0">
                          <a:solidFill>
                            <a:srgbClr val="212121"/>
                          </a:solidFill>
                          <a:latin typeface="Calibri"/>
                        </a:rPr>
                        <a:t>Numérique (7)</a:t>
                      </a:r>
                    </a:p>
                  </a:txBody>
                  <a:tcPr>
                    <a:solidFill>
                      <a:srgbClr val="FFFFFF"/>
                    </a:solidFill>
                  </a:tcPr>
                </a:tc>
                <a:tc>
                  <a:txBody>
                    <a:bodyPr/>
                    <a:lstStyle/>
                    <a:p>
                      <a:pPr algn="ctr"/>
                      <a:r>
                        <a:rPr sz="1100" b="0">
                          <a:solidFill>
                            <a:srgbClr val="212121"/>
                          </a:solidFill>
                          <a:latin typeface="Calibri"/>
                        </a:rPr>
                        <a:t>SimpleImputer(median)</a:t>
                      </a:r>
                    </a:p>
                  </a:txBody>
                  <a:tcPr>
                    <a:solidFill>
                      <a:srgbClr val="FFFFFF"/>
                    </a:solidFill>
                  </a:tcPr>
                </a:tc>
                <a:tc>
                  <a:txBody>
                    <a:bodyPr/>
                    <a:lstStyle/>
                    <a:p>
                      <a:pPr algn="ctr"/>
                      <a:r>
                        <a:rPr sz="1100" b="0">
                          <a:solidFill>
                            <a:srgbClr val="212121"/>
                          </a:solidFill>
                          <a:latin typeface="Calibri"/>
                        </a:rPr>
                        <a:t>StandardScaler</a:t>
                      </a:r>
                    </a:p>
                  </a:txBody>
                  <a:tcPr>
                    <a:solidFill>
                      <a:srgbClr val="FFFFFF"/>
                    </a:solidFill>
                  </a:tcPr>
                </a:tc>
              </a:tr>
              <a:tr h="422910">
                <a:tc>
                  <a:txBody>
                    <a:bodyPr/>
                    <a:lstStyle/>
                    <a:p>
                      <a:pPr algn="ctr"/>
                      <a:r>
                        <a:rPr sz="1100" b="0">
                          <a:solidFill>
                            <a:srgbClr val="212121"/>
                          </a:solidFill>
                          <a:latin typeface="Calibri"/>
                        </a:rPr>
                        <a:t>Catégorielle (2)</a:t>
                      </a:r>
                    </a:p>
                  </a:txBody>
                  <a:tcPr>
                    <a:solidFill>
                      <a:srgbClr val="F5F7FA"/>
                    </a:solidFill>
                  </a:tcPr>
                </a:tc>
                <a:tc>
                  <a:txBody>
                    <a:bodyPr/>
                    <a:lstStyle/>
                    <a:p>
                      <a:pPr algn="ctr"/>
                      <a:r>
                        <a:rPr sz="1100" b="0">
                          <a:solidFill>
                            <a:srgbClr val="212121"/>
                          </a:solidFill>
                          <a:latin typeface="Calibri"/>
                        </a:rPr>
                        <a:t>SimpleImputer(mode)</a:t>
                      </a:r>
                    </a:p>
                  </a:txBody>
                  <a:tcPr>
                    <a:solidFill>
                      <a:srgbClr val="F5F7FA"/>
                    </a:solidFill>
                  </a:tcPr>
                </a:tc>
                <a:tc>
                  <a:txBody>
                    <a:bodyPr/>
                    <a:lstStyle/>
                    <a:p>
                      <a:pPr algn="ctr"/>
                      <a:r>
                        <a:rPr sz="1100" b="0">
                          <a:solidFill>
                            <a:srgbClr val="212121"/>
                          </a:solidFill>
                          <a:latin typeface="Calibri"/>
                        </a:rPr>
                        <a:t>OneHotEncoder</a:t>
                      </a:r>
                    </a:p>
                  </a:txBody>
                  <a:tcPr>
                    <a:solidFill>
                      <a:srgbClr val="F5F7FA"/>
                    </a:solidFill>
                  </a:tcPr>
                </a:tc>
              </a:tr>
              <a:tr h="422910">
                <a:tc>
                  <a:txBody>
                    <a:bodyPr/>
                    <a:lstStyle/>
                    <a:p>
                      <a:pPr algn="ctr"/>
                      <a:r>
                        <a:rPr sz="1100" b="0">
                          <a:solidFill>
                            <a:srgbClr val="212121"/>
                          </a:solidFill>
                          <a:latin typeface="Calibri"/>
                        </a:rPr>
                        <a:t>Cibles/ID</a:t>
                      </a:r>
                    </a:p>
                  </a:txBody>
                  <a:tcPr>
                    <a:solidFill>
                      <a:srgbClr val="FFFFFF"/>
                    </a:solidFill>
                  </a:tcPr>
                </a:tc>
                <a:tc>
                  <a:txBody>
                    <a:bodyPr/>
                    <a:lstStyle/>
                    <a:p>
                      <a:pPr algn="ctr"/>
                      <a:r>
                        <a:rPr sz="1100" b="0">
                          <a:solidFill>
                            <a:srgbClr val="212121"/>
                          </a:solidFill>
                          <a:latin typeface="Calibri"/>
                        </a:rPr>
                        <a:t>remainder=drop</a:t>
                      </a:r>
                    </a:p>
                  </a:txBody>
                  <a:tcPr>
                    <a:solidFill>
                      <a:srgbClr val="FFFFFF"/>
                    </a:solidFill>
                  </a:tcPr>
                </a:tc>
                <a:tc>
                  <a:txBody>
                    <a:bodyPr/>
                    <a:lstStyle/>
                    <a:p>
                      <a:pPr algn="ctr"/>
                      <a:r>
                        <a:rPr sz="1100" b="0">
                          <a:solidFill>
                            <a:srgbClr val="212121"/>
                          </a:solidFill>
                          <a:latin typeface="Calibri"/>
                        </a:rPr>
                        <a:t>(anti-leakage)</a:t>
                      </a:r>
                    </a:p>
                  </a:txBody>
                  <a:tcP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9436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 y="45720"/>
            <a:ext cx="9784080" cy="502920"/>
          </a:xfrm>
          <a:prstGeom prst="rect">
            <a:avLst/>
          </a:prstGeom>
          <a:noFill/>
        </p:spPr>
        <p:txBody>
          <a:bodyPr wrap="square">
            <a:spAutoFit/>
          </a:bodyPr>
          <a:lstStyle/>
          <a:p>
            <a:pPr algn="l"/>
            <a:r>
              <a:rPr sz="2400" b="1" i="0">
                <a:solidFill>
                  <a:srgbClr val="FFFFFF"/>
                </a:solidFill>
                <a:latin typeface="Calibri"/>
              </a:rPr>
              <a:t>Modèles Entraînés · Comparaison</a:t>
            </a:r>
          </a:p>
        </p:txBody>
      </p:sp>
      <p:sp>
        <p:nvSpPr>
          <p:cNvPr id="5" name="TextBox 4"/>
          <p:cNvSpPr txBox="1"/>
          <p:nvPr/>
        </p:nvSpPr>
        <p:spPr>
          <a:xfrm>
            <a:off x="10058400" y="64008"/>
            <a:ext cx="777240" cy="457200"/>
          </a:xfrm>
          <a:prstGeom prst="rect">
            <a:avLst/>
          </a:prstGeom>
          <a:noFill/>
        </p:spPr>
        <p:txBody>
          <a:bodyPr wrap="square">
            <a:spAutoFit/>
          </a:bodyPr>
          <a:lstStyle/>
          <a:p>
            <a:pPr algn="r"/>
            <a:r>
              <a:rPr sz="1100" b="0" i="0">
                <a:solidFill>
                  <a:srgbClr val="BDC3CB"/>
                </a:solidFill>
                <a:latin typeface="Calibri"/>
              </a:rPr>
              <a:t>7 / 12</a:t>
            </a:r>
          </a:p>
        </p:txBody>
      </p:sp>
      <p:pic>
        <p:nvPicPr>
          <p:cNvPr id="6" name="Picture 5" descr="logo_efrei.png"/>
          <p:cNvPicPr>
            <a:picLocks noChangeAspect="1"/>
          </p:cNvPicPr>
          <p:nvPr/>
        </p:nvPicPr>
        <p:blipFill>
          <a:blip r:embed="rId2"/>
          <a:stretch>
            <a:fillRect/>
          </a:stretch>
        </p:blipFill>
        <p:spPr>
          <a:xfrm>
            <a:off x="10972800" y="91440"/>
            <a:ext cx="822960" cy="411480"/>
          </a:xfrm>
          <a:prstGeom prst="rect">
            <a:avLst/>
          </a:prstGeom>
        </p:spPr>
      </p:pic>
      <p:sp>
        <p:nvSpPr>
          <p:cNvPr id="7" name="TextBox 6"/>
          <p:cNvSpPr txBox="1"/>
          <p:nvPr/>
        </p:nvSpPr>
        <p:spPr>
          <a:xfrm>
            <a:off x="457200" y="6446520"/>
            <a:ext cx="11274552" cy="274320"/>
          </a:xfrm>
          <a:prstGeom prst="rect">
            <a:avLst/>
          </a:prstGeom>
          <a:noFill/>
        </p:spPr>
        <p:txBody>
          <a:bodyPr wrap="square">
            <a:spAutoFit/>
          </a:bodyPr>
          <a:lstStyle/>
          <a:p>
            <a:pPr algn="ctr"/>
            <a:r>
              <a:rPr sz="900" b="0" i="0">
                <a:solidFill>
                  <a:srgbClr val="6B7280"/>
                </a:solidFill>
                <a:latin typeface="Calibri"/>
              </a:rPr>
              <a:t>Maintenance Prédictive · EFREI 2025-26 · Adam Beloucif · Emilien Morice</a:t>
            </a:r>
          </a:p>
        </p:txBody>
      </p:sp>
      <p:sp>
        <p:nvSpPr>
          <p:cNvPr id="8" name="TextBox 7"/>
          <p:cNvSpPr txBox="1"/>
          <p:nvPr/>
        </p:nvSpPr>
        <p:spPr>
          <a:xfrm>
            <a:off x="274320" y="685800"/>
            <a:ext cx="11612880" cy="365760"/>
          </a:xfrm>
          <a:prstGeom prst="rect">
            <a:avLst/>
          </a:prstGeom>
          <a:noFill/>
        </p:spPr>
        <p:txBody>
          <a:bodyPr wrap="square">
            <a:spAutoFit/>
          </a:bodyPr>
          <a:lstStyle/>
          <a:p>
            <a:pPr algn="l"/>
            <a:r>
              <a:rPr sz="1400" b="1" i="0">
                <a:solidFill>
                  <a:srgbClr val="0D47A1"/>
                </a:solidFill>
                <a:latin typeface="Calibri"/>
              </a:rPr>
              <a:t>Classification binaire (failure_within_24h)</a:t>
            </a:r>
          </a:p>
        </p:txBody>
      </p:sp>
      <p:graphicFrame>
        <p:nvGraphicFramePr>
          <p:cNvPr id="9" name="Table 8"/>
          <p:cNvGraphicFramePr>
            <a:graphicFrameLocks noGrp="1"/>
          </p:cNvGraphicFramePr>
          <p:nvPr/>
        </p:nvGraphicFramePr>
        <p:xfrm>
          <a:off x="274320" y="1097280"/>
          <a:ext cx="11612880" cy="1920240"/>
        </p:xfrm>
        <a:graphic>
          <a:graphicData uri="http://schemas.openxmlformats.org/drawingml/2006/table">
            <a:tbl>
              <a:tblPr firstRow="1" bandRow="1">
                <a:tableStyleId>{5C22544A-7EE6-4342-B048-85BDC9FD1C3A}</a:tableStyleId>
              </a:tblPr>
              <a:tblGrid>
                <a:gridCol w="2322576"/>
                <a:gridCol w="2322576"/>
                <a:gridCol w="2322576"/>
                <a:gridCol w="2322576"/>
                <a:gridCol w="2322576"/>
              </a:tblGrid>
              <a:tr h="384048">
                <a:tc>
                  <a:txBody>
                    <a:bodyPr/>
                    <a:lstStyle/>
                    <a:p>
                      <a:pPr algn="ctr"/>
                      <a:r>
                        <a:rPr b="1" sz="1200">
                          <a:solidFill>
                            <a:srgbClr val="FFFFFF"/>
                          </a:solidFill>
                          <a:latin typeface="Calibri"/>
                        </a:rPr>
                        <a:t>Modèle</a:t>
                      </a:r>
                    </a:p>
                  </a:txBody>
                  <a:tcPr>
                    <a:solidFill>
                      <a:srgbClr val="0D47A1"/>
                    </a:solidFill>
                  </a:tcPr>
                </a:tc>
                <a:tc>
                  <a:txBody>
                    <a:bodyPr/>
                    <a:lstStyle/>
                    <a:p>
                      <a:pPr algn="ctr"/>
                      <a:r>
                        <a:rPr b="1" sz="1200">
                          <a:solidFill>
                            <a:srgbClr val="FFFFFF"/>
                          </a:solidFill>
                          <a:latin typeface="Calibri"/>
                        </a:rPr>
                        <a:t>F1</a:t>
                      </a:r>
                    </a:p>
                  </a:txBody>
                  <a:tcPr>
                    <a:solidFill>
                      <a:srgbClr val="0D47A1"/>
                    </a:solidFill>
                  </a:tcPr>
                </a:tc>
                <a:tc>
                  <a:txBody>
                    <a:bodyPr/>
                    <a:lstStyle/>
                    <a:p>
                      <a:pPr algn="ctr"/>
                      <a:r>
                        <a:rPr b="1" sz="1200">
                          <a:solidFill>
                            <a:srgbClr val="FFFFFF"/>
                          </a:solidFill>
                          <a:latin typeface="Calibri"/>
                        </a:rPr>
                        <a:t>ROC-AUC</a:t>
                      </a:r>
                    </a:p>
                  </a:txBody>
                  <a:tcPr>
                    <a:solidFill>
                      <a:srgbClr val="0D47A1"/>
                    </a:solidFill>
                  </a:tcPr>
                </a:tc>
                <a:tc>
                  <a:txBody>
                    <a:bodyPr/>
                    <a:lstStyle/>
                    <a:p>
                      <a:pPr algn="ctr"/>
                      <a:r>
                        <a:rPr b="1" sz="1200">
                          <a:solidFill>
                            <a:srgbClr val="FFFFFF"/>
                          </a:solidFill>
                          <a:latin typeface="Calibri"/>
                        </a:rPr>
                        <a:t>PR-AUC</a:t>
                      </a:r>
                    </a:p>
                  </a:txBody>
                  <a:tcPr>
                    <a:solidFill>
                      <a:srgbClr val="0D47A1"/>
                    </a:solidFill>
                  </a:tcPr>
                </a:tc>
                <a:tc>
                  <a:txBody>
                    <a:bodyPr/>
                    <a:lstStyle/>
                    <a:p>
                      <a:pPr algn="ctr"/>
                      <a:r>
                        <a:rPr b="1" sz="1200">
                          <a:solidFill>
                            <a:srgbClr val="FFFFFF"/>
                          </a:solidFill>
                          <a:latin typeface="Calibri"/>
                        </a:rPr>
                        <a:t>Latence (ms/sample)</a:t>
                      </a:r>
                    </a:p>
                  </a:txBody>
                  <a:tcPr>
                    <a:solidFill>
                      <a:srgbClr val="0D47A1"/>
                    </a:solidFill>
                  </a:tcPr>
                </a:tc>
              </a:tr>
              <a:tr h="384048">
                <a:tc>
                  <a:txBody>
                    <a:bodyPr/>
                    <a:lstStyle/>
                    <a:p>
                      <a:pPr algn="ctr"/>
                      <a:r>
                        <a:rPr sz="1100" b="0">
                          <a:solidFill>
                            <a:srgbClr val="212121"/>
                          </a:solidFill>
                          <a:latin typeface="Calibri"/>
                        </a:rPr>
                        <a:t>Logistic Regression</a:t>
                      </a:r>
                    </a:p>
                  </a:txBody>
                  <a:tcPr>
                    <a:solidFill>
                      <a:srgbClr val="FFFFFF"/>
                    </a:solidFill>
                  </a:tcPr>
                </a:tc>
                <a:tc>
                  <a:txBody>
                    <a:bodyPr/>
                    <a:lstStyle/>
                    <a:p>
                      <a:pPr algn="ctr"/>
                      <a:r>
                        <a:rPr sz="1100" b="0">
                          <a:solidFill>
                            <a:srgbClr val="212121"/>
                          </a:solidFill>
                          <a:latin typeface="Calibri"/>
                        </a:rPr>
                        <a:t>0.747</a:t>
                      </a:r>
                    </a:p>
                  </a:txBody>
                  <a:tcPr>
                    <a:solidFill>
                      <a:srgbClr val="FFFFFF"/>
                    </a:solidFill>
                  </a:tcPr>
                </a:tc>
                <a:tc>
                  <a:txBody>
                    <a:bodyPr/>
                    <a:lstStyle/>
                    <a:p>
                      <a:pPr algn="ctr"/>
                      <a:r>
                        <a:rPr sz="1100" b="0">
                          <a:solidFill>
                            <a:srgbClr val="212121"/>
                          </a:solidFill>
                          <a:latin typeface="Calibri"/>
                        </a:rPr>
                        <a:t>0.959</a:t>
                      </a:r>
                    </a:p>
                  </a:txBody>
                  <a:tcPr>
                    <a:solidFill>
                      <a:srgbClr val="FFFFFF"/>
                    </a:solidFill>
                  </a:tcPr>
                </a:tc>
                <a:tc>
                  <a:txBody>
                    <a:bodyPr/>
                    <a:lstStyle/>
                    <a:p>
                      <a:pPr algn="ctr"/>
                      <a:r>
                        <a:rPr sz="1100" b="0">
                          <a:solidFill>
                            <a:srgbClr val="212121"/>
                          </a:solidFill>
                          <a:latin typeface="Calibri"/>
                        </a:rPr>
                        <a:t>0.838</a:t>
                      </a:r>
                    </a:p>
                  </a:txBody>
                  <a:tcPr>
                    <a:solidFill>
                      <a:srgbClr val="FFFFFF"/>
                    </a:solidFill>
                  </a:tcPr>
                </a:tc>
                <a:tc>
                  <a:txBody>
                    <a:bodyPr/>
                    <a:lstStyle/>
                    <a:p>
                      <a:pPr algn="ctr"/>
                      <a:r>
                        <a:rPr sz="1100" b="0">
                          <a:solidFill>
                            <a:srgbClr val="212121"/>
                          </a:solidFill>
                          <a:latin typeface="Calibri"/>
                        </a:rPr>
                        <a:t>0.003</a:t>
                      </a:r>
                    </a:p>
                  </a:txBody>
                  <a:tcPr>
                    <a:solidFill>
                      <a:srgbClr val="FFFFFF"/>
                    </a:solidFill>
                  </a:tcPr>
                </a:tc>
              </a:tr>
              <a:tr h="384048">
                <a:tc>
                  <a:txBody>
                    <a:bodyPr/>
                    <a:lstStyle/>
                    <a:p>
                      <a:pPr algn="ctr"/>
                      <a:r>
                        <a:rPr sz="1100" b="0">
                          <a:solidFill>
                            <a:srgbClr val="212121"/>
                          </a:solidFill>
                          <a:latin typeface="Calibri"/>
                        </a:rPr>
                        <a:t>Random Forest</a:t>
                      </a:r>
                    </a:p>
                  </a:txBody>
                  <a:tcPr>
                    <a:solidFill>
                      <a:srgbClr val="F5F7FA"/>
                    </a:solidFill>
                  </a:tcPr>
                </a:tc>
                <a:tc>
                  <a:txBody>
                    <a:bodyPr/>
                    <a:lstStyle/>
                    <a:p>
                      <a:pPr algn="ctr"/>
                      <a:r>
                        <a:rPr sz="1100" b="0">
                          <a:solidFill>
                            <a:srgbClr val="212121"/>
                          </a:solidFill>
                          <a:latin typeface="Calibri"/>
                        </a:rPr>
                        <a:t>0.863</a:t>
                      </a:r>
                    </a:p>
                  </a:txBody>
                  <a:tcPr>
                    <a:solidFill>
                      <a:srgbClr val="F5F7FA"/>
                    </a:solidFill>
                  </a:tcPr>
                </a:tc>
                <a:tc>
                  <a:txBody>
                    <a:bodyPr/>
                    <a:lstStyle/>
                    <a:p>
                      <a:pPr algn="ctr"/>
                      <a:r>
                        <a:rPr sz="1100" b="0">
                          <a:solidFill>
                            <a:srgbClr val="212121"/>
                          </a:solidFill>
                          <a:latin typeface="Calibri"/>
                        </a:rPr>
                        <a:t>0.992</a:t>
                      </a:r>
                    </a:p>
                  </a:txBody>
                  <a:tcPr>
                    <a:solidFill>
                      <a:srgbClr val="F5F7FA"/>
                    </a:solidFill>
                  </a:tcPr>
                </a:tc>
                <a:tc>
                  <a:txBody>
                    <a:bodyPr/>
                    <a:lstStyle/>
                    <a:p>
                      <a:pPr algn="ctr"/>
                      <a:r>
                        <a:rPr sz="1100" b="0">
                          <a:solidFill>
                            <a:srgbClr val="212121"/>
                          </a:solidFill>
                          <a:latin typeface="Calibri"/>
                        </a:rPr>
                        <a:t>0.954</a:t>
                      </a:r>
                    </a:p>
                  </a:txBody>
                  <a:tcPr>
                    <a:solidFill>
                      <a:srgbClr val="F5F7FA"/>
                    </a:solidFill>
                  </a:tcPr>
                </a:tc>
                <a:tc>
                  <a:txBody>
                    <a:bodyPr/>
                    <a:lstStyle/>
                    <a:p>
                      <a:pPr algn="ctr"/>
                      <a:r>
                        <a:rPr sz="1100" b="0">
                          <a:solidFill>
                            <a:srgbClr val="212121"/>
                          </a:solidFill>
                          <a:latin typeface="Calibri"/>
                        </a:rPr>
                        <a:t>0.021</a:t>
                      </a:r>
                    </a:p>
                  </a:txBody>
                  <a:tcPr>
                    <a:solidFill>
                      <a:srgbClr val="F5F7FA"/>
                    </a:solidFill>
                  </a:tcPr>
                </a:tc>
              </a:tr>
              <a:tr h="384048">
                <a:tc>
                  <a:txBody>
                    <a:bodyPr/>
                    <a:lstStyle/>
                    <a:p>
                      <a:pPr algn="ctr"/>
                      <a:r>
                        <a:rPr sz="1100" b="1">
                          <a:solidFill>
                            <a:srgbClr val="212121"/>
                          </a:solidFill>
                          <a:latin typeface="Calibri"/>
                        </a:rPr>
                        <a:t>XGBoost (FINAL)</a:t>
                      </a:r>
                    </a:p>
                  </a:txBody>
                  <a:tcPr>
                    <a:solidFill>
                      <a:srgbClr val="D1FAE5"/>
                    </a:solidFill>
                  </a:tcPr>
                </a:tc>
                <a:tc>
                  <a:txBody>
                    <a:bodyPr/>
                    <a:lstStyle/>
                    <a:p>
                      <a:pPr algn="ctr"/>
                      <a:r>
                        <a:rPr sz="1100" b="1">
                          <a:solidFill>
                            <a:srgbClr val="212121"/>
                          </a:solidFill>
                          <a:latin typeface="Calibri"/>
                        </a:rPr>
                        <a:t>0.886</a:t>
                      </a:r>
                    </a:p>
                  </a:txBody>
                  <a:tcPr>
                    <a:solidFill>
                      <a:srgbClr val="D1FAE5"/>
                    </a:solidFill>
                  </a:tcPr>
                </a:tc>
                <a:tc>
                  <a:txBody>
                    <a:bodyPr/>
                    <a:lstStyle/>
                    <a:p>
                      <a:pPr algn="ctr"/>
                      <a:r>
                        <a:rPr sz="1100" b="1">
                          <a:solidFill>
                            <a:srgbClr val="212121"/>
                          </a:solidFill>
                          <a:latin typeface="Calibri"/>
                        </a:rPr>
                        <a:t>0.995</a:t>
                      </a:r>
                    </a:p>
                  </a:txBody>
                  <a:tcPr>
                    <a:solidFill>
                      <a:srgbClr val="D1FAE5"/>
                    </a:solidFill>
                  </a:tcPr>
                </a:tc>
                <a:tc>
                  <a:txBody>
                    <a:bodyPr/>
                    <a:lstStyle/>
                    <a:p>
                      <a:pPr algn="ctr"/>
                      <a:r>
                        <a:rPr sz="1100" b="1">
                          <a:solidFill>
                            <a:srgbClr val="212121"/>
                          </a:solidFill>
                          <a:latin typeface="Calibri"/>
                        </a:rPr>
                        <a:t>0.974</a:t>
                      </a:r>
                    </a:p>
                  </a:txBody>
                  <a:tcPr>
                    <a:solidFill>
                      <a:srgbClr val="D1FAE5"/>
                    </a:solidFill>
                  </a:tcPr>
                </a:tc>
                <a:tc>
                  <a:txBody>
                    <a:bodyPr/>
                    <a:lstStyle/>
                    <a:p>
                      <a:pPr algn="ctr"/>
                      <a:r>
                        <a:rPr sz="1100" b="1">
                          <a:solidFill>
                            <a:srgbClr val="212121"/>
                          </a:solidFill>
                          <a:latin typeface="Calibri"/>
                        </a:rPr>
                        <a:t>0.006</a:t>
                      </a:r>
                    </a:p>
                  </a:txBody>
                  <a:tcPr>
                    <a:solidFill>
                      <a:srgbClr val="D1FAE5"/>
                    </a:solidFill>
                  </a:tcPr>
                </a:tc>
              </a:tr>
              <a:tr h="384048">
                <a:tc>
                  <a:txBody>
                    <a:bodyPr/>
                    <a:lstStyle/>
                    <a:p>
                      <a:pPr algn="ctr"/>
                      <a:r>
                        <a:rPr sz="1100" b="0">
                          <a:solidFill>
                            <a:srgbClr val="212121"/>
                          </a:solidFill>
                          <a:latin typeface="Calibri"/>
                        </a:rPr>
                        <a:t>MLP (scikit-learn)</a:t>
                      </a:r>
                    </a:p>
                  </a:txBody>
                  <a:tcPr>
                    <a:solidFill>
                      <a:srgbClr val="F5F7FA"/>
                    </a:solidFill>
                  </a:tcPr>
                </a:tc>
                <a:tc>
                  <a:txBody>
                    <a:bodyPr/>
                    <a:lstStyle/>
                    <a:p>
                      <a:pPr algn="ctr"/>
                      <a:r>
                        <a:rPr sz="1100" b="0">
                          <a:solidFill>
                            <a:srgbClr val="212121"/>
                          </a:solidFill>
                          <a:latin typeface="Calibri"/>
                        </a:rPr>
                        <a:t>0.836</a:t>
                      </a:r>
                    </a:p>
                  </a:txBody>
                  <a:tcPr>
                    <a:solidFill>
                      <a:srgbClr val="F5F7FA"/>
                    </a:solidFill>
                  </a:tcPr>
                </a:tc>
                <a:tc>
                  <a:txBody>
                    <a:bodyPr/>
                    <a:lstStyle/>
                    <a:p>
                      <a:pPr algn="ctr"/>
                      <a:r>
                        <a:rPr sz="1100" b="0">
                          <a:solidFill>
                            <a:srgbClr val="212121"/>
                          </a:solidFill>
                          <a:latin typeface="Calibri"/>
                        </a:rPr>
                        <a:t>0.984</a:t>
                      </a:r>
                    </a:p>
                  </a:txBody>
                  <a:tcPr>
                    <a:solidFill>
                      <a:srgbClr val="F5F7FA"/>
                    </a:solidFill>
                  </a:tcPr>
                </a:tc>
                <a:tc>
                  <a:txBody>
                    <a:bodyPr/>
                    <a:lstStyle/>
                    <a:p>
                      <a:pPr algn="ctr"/>
                      <a:r>
                        <a:rPr sz="1100" b="0">
                          <a:solidFill>
                            <a:srgbClr val="212121"/>
                          </a:solidFill>
                          <a:latin typeface="Calibri"/>
                        </a:rPr>
                        <a:t>0.909</a:t>
                      </a:r>
                    </a:p>
                  </a:txBody>
                  <a:tcPr>
                    <a:solidFill>
                      <a:srgbClr val="F5F7FA"/>
                    </a:solidFill>
                  </a:tcPr>
                </a:tc>
                <a:tc>
                  <a:txBody>
                    <a:bodyPr/>
                    <a:lstStyle/>
                    <a:p>
                      <a:pPr algn="ctr"/>
                      <a:r>
                        <a:rPr sz="1100" b="0">
                          <a:solidFill>
                            <a:srgbClr val="212121"/>
                          </a:solidFill>
                          <a:latin typeface="Calibri"/>
                        </a:rPr>
                        <a:t>0.004</a:t>
                      </a:r>
                    </a:p>
                  </a:txBody>
                  <a:tcPr>
                    <a:solidFill>
                      <a:srgbClr val="F5F7FA"/>
                    </a:solidFill>
                  </a:tcPr>
                </a:tc>
              </a:tr>
            </a:tbl>
          </a:graphicData>
        </a:graphic>
      </p:graphicFrame>
      <p:sp>
        <p:nvSpPr>
          <p:cNvPr id="10" name="Rectangle 9"/>
          <p:cNvSpPr/>
          <p:nvPr/>
        </p:nvSpPr>
        <p:spPr>
          <a:xfrm>
            <a:off x="274320" y="3154680"/>
            <a:ext cx="11612880" cy="502920"/>
          </a:xfrm>
          <a:prstGeom prst="rect">
            <a:avLst/>
          </a:prstGeom>
          <a:solidFill>
            <a:srgbClr val="E3F2FD"/>
          </a:solidFill>
          <a:ln>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3182112"/>
            <a:ext cx="11430000" cy="457200"/>
          </a:xfrm>
          <a:prstGeom prst="rect">
            <a:avLst/>
          </a:prstGeom>
          <a:noFill/>
        </p:spPr>
        <p:txBody>
          <a:bodyPr wrap="square">
            <a:spAutoFit/>
          </a:bodyPr>
          <a:lstStyle/>
          <a:p>
            <a:pPr algn="l"/>
            <a:r>
              <a:rPr sz="1200" b="0" i="1">
                <a:solidFill>
                  <a:srgbClr val="0D47A1"/>
                </a:solidFill>
                <a:latin typeface="Calibri"/>
              </a:rPr>
              <a:t>MLP : MLPClassifier scikit-learn (64-32-16, relu, adam, early_stopping). Choix justifié vs TensorFlow/PyTorch : sur-dimensionné pour 24k lignes tabulaires (ADR 0001).</a:t>
            </a:r>
          </a:p>
        </p:txBody>
      </p:sp>
      <p:sp>
        <p:nvSpPr>
          <p:cNvPr id="12" name="TextBox 11"/>
          <p:cNvSpPr txBox="1"/>
          <p:nvPr/>
        </p:nvSpPr>
        <p:spPr>
          <a:xfrm>
            <a:off x="274320" y="3794760"/>
            <a:ext cx="5486400" cy="365760"/>
          </a:xfrm>
          <a:prstGeom prst="rect">
            <a:avLst/>
          </a:prstGeom>
          <a:noFill/>
        </p:spPr>
        <p:txBody>
          <a:bodyPr wrap="square">
            <a:spAutoFit/>
          </a:bodyPr>
          <a:lstStyle/>
          <a:p>
            <a:pPr algn="l"/>
            <a:r>
              <a:rPr sz="1300" b="1" i="0">
                <a:solidFill>
                  <a:srgbClr val="0D47A1"/>
                </a:solidFill>
                <a:latin typeface="Calibri"/>
              </a:rPr>
              <a:t>Multiclasse (failure_type · 5 classes)</a:t>
            </a:r>
          </a:p>
        </p:txBody>
      </p:sp>
      <p:sp>
        <p:nvSpPr>
          <p:cNvPr id="13" name="TextBox 12"/>
          <p:cNvSpPr txBox="1"/>
          <p:nvPr/>
        </p:nvSpPr>
        <p:spPr>
          <a:xfrm>
            <a:off x="274320" y="4206240"/>
            <a:ext cx="5577840" cy="1005840"/>
          </a:xfrm>
          <a:prstGeom prst="rect">
            <a:avLst/>
          </a:prstGeom>
          <a:noFill/>
        </p:spPr>
        <p:txBody>
          <a:bodyPr wrap="square">
            <a:spAutoFit/>
          </a:bodyPr>
          <a:lstStyle/>
          <a:p>
            <a:pPr>
              <a:spcBef>
                <a:spcPts val="300"/>
              </a:spcBef>
            </a:pPr>
            <a:r>
              <a:rPr sz="1200" b="0">
                <a:solidFill>
                  <a:srgbClr val="212121"/>
                </a:solidFill>
                <a:latin typeface="Calibri"/>
              </a:rPr>
              <a:t>· XGBoost final : Macro-F1 = 0.931, Weighted-F1 = 0.977</a:t>
            </a:r>
          </a:p>
          <a:p>
            <a:pPr>
              <a:spcBef>
                <a:spcPts val="300"/>
              </a:spcBef>
            </a:pPr>
            <a:r>
              <a:rPr sz="1200" b="0">
                <a:solidFill>
                  <a:srgbClr val="212121"/>
                </a:solidFill>
                <a:latin typeface="Calibri"/>
              </a:rPr>
              <a:t>· Random Forest : Macro-F1 = 0.899</a:t>
            </a:r>
          </a:p>
          <a:p>
            <a:pPr>
              <a:spcBef>
                <a:spcPts val="300"/>
              </a:spcBef>
            </a:pPr>
            <a:r>
              <a:rPr sz="1200" b="0">
                <a:solidFill>
                  <a:srgbClr val="212121"/>
                </a:solidFill>
                <a:latin typeface="Calibri"/>
              </a:rPr>
              <a:t>· Logistic Regression : Macro-F1 = 0.675</a:t>
            </a:r>
          </a:p>
        </p:txBody>
      </p:sp>
      <p:sp>
        <p:nvSpPr>
          <p:cNvPr id="14" name="TextBox 13"/>
          <p:cNvSpPr txBox="1"/>
          <p:nvPr/>
        </p:nvSpPr>
        <p:spPr>
          <a:xfrm>
            <a:off x="6217920" y="3794760"/>
            <a:ext cx="5486400" cy="365760"/>
          </a:xfrm>
          <a:prstGeom prst="rect">
            <a:avLst/>
          </a:prstGeom>
          <a:noFill/>
        </p:spPr>
        <p:txBody>
          <a:bodyPr wrap="square">
            <a:spAutoFit/>
          </a:bodyPr>
          <a:lstStyle/>
          <a:p>
            <a:pPr algn="l"/>
            <a:r>
              <a:rPr sz="1300" b="1" i="0">
                <a:solidFill>
                  <a:srgbClr val="0D47A1"/>
                </a:solidFill>
                <a:latin typeface="Calibri"/>
              </a:rPr>
              <a:t>Régression RUL (rul_hours)</a:t>
            </a:r>
          </a:p>
        </p:txBody>
      </p:sp>
      <p:sp>
        <p:nvSpPr>
          <p:cNvPr id="15" name="TextBox 14"/>
          <p:cNvSpPr txBox="1"/>
          <p:nvPr/>
        </p:nvSpPr>
        <p:spPr>
          <a:xfrm>
            <a:off x="6217920" y="4206240"/>
            <a:ext cx="5577840" cy="1005840"/>
          </a:xfrm>
          <a:prstGeom prst="rect">
            <a:avLst/>
          </a:prstGeom>
          <a:noFill/>
        </p:spPr>
        <p:txBody>
          <a:bodyPr wrap="square">
            <a:spAutoFit/>
          </a:bodyPr>
          <a:lstStyle/>
          <a:p>
            <a:pPr>
              <a:spcBef>
                <a:spcPts val="300"/>
              </a:spcBef>
            </a:pPr>
            <a:r>
              <a:rPr sz="1200" b="0">
                <a:solidFill>
                  <a:srgbClr val="212121"/>
                </a:solidFill>
                <a:latin typeface="Calibri"/>
              </a:rPr>
              <a:t>· Random Forest final : MAE = 9.57h, R2 = 0.673</a:t>
            </a:r>
          </a:p>
          <a:p>
            <a:pPr>
              <a:spcBef>
                <a:spcPts val="300"/>
              </a:spcBef>
            </a:pPr>
            <a:r>
              <a:rPr sz="1200" b="0">
                <a:solidFill>
                  <a:srgbClr val="212121"/>
                </a:solidFill>
                <a:latin typeface="Calibri"/>
              </a:rPr>
              <a:t>· XGBoost : MAE = 10.72h, R2 = 0.656</a:t>
            </a:r>
          </a:p>
          <a:p>
            <a:pPr>
              <a:spcBef>
                <a:spcPts val="300"/>
              </a:spcBef>
            </a:pPr>
            <a:r>
              <a:rPr sz="1200" b="0">
                <a:solidFill>
                  <a:srgbClr val="212121"/>
                </a:solidFill>
                <a:latin typeface="Calibri"/>
              </a:rPr>
              <a:t>· Ridge (baseline) : MAE = 20.47h, R2 = 0.140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9436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 y="45720"/>
            <a:ext cx="9784080" cy="502920"/>
          </a:xfrm>
          <a:prstGeom prst="rect">
            <a:avLst/>
          </a:prstGeom>
          <a:noFill/>
        </p:spPr>
        <p:txBody>
          <a:bodyPr wrap="square">
            <a:spAutoFit/>
          </a:bodyPr>
          <a:lstStyle/>
          <a:p>
            <a:pPr algn="l"/>
            <a:r>
              <a:rPr sz="2400" b="1" i="0">
                <a:solidFill>
                  <a:srgbClr val="FFFFFF"/>
                </a:solidFill>
                <a:latin typeface="Calibri"/>
              </a:rPr>
              <a:t>Évaluation Comparative · Résultats</a:t>
            </a:r>
          </a:p>
        </p:txBody>
      </p:sp>
      <p:sp>
        <p:nvSpPr>
          <p:cNvPr id="5" name="TextBox 4"/>
          <p:cNvSpPr txBox="1"/>
          <p:nvPr/>
        </p:nvSpPr>
        <p:spPr>
          <a:xfrm>
            <a:off x="10058400" y="64008"/>
            <a:ext cx="777240" cy="457200"/>
          </a:xfrm>
          <a:prstGeom prst="rect">
            <a:avLst/>
          </a:prstGeom>
          <a:noFill/>
        </p:spPr>
        <p:txBody>
          <a:bodyPr wrap="square">
            <a:spAutoFit/>
          </a:bodyPr>
          <a:lstStyle/>
          <a:p>
            <a:pPr algn="r"/>
            <a:r>
              <a:rPr sz="1100" b="0" i="0">
                <a:solidFill>
                  <a:srgbClr val="BDC3CB"/>
                </a:solidFill>
                <a:latin typeface="Calibri"/>
              </a:rPr>
              <a:t>8 / 12</a:t>
            </a:r>
          </a:p>
        </p:txBody>
      </p:sp>
      <p:pic>
        <p:nvPicPr>
          <p:cNvPr id="6" name="Picture 5" descr="logo_efrei.png"/>
          <p:cNvPicPr>
            <a:picLocks noChangeAspect="1"/>
          </p:cNvPicPr>
          <p:nvPr/>
        </p:nvPicPr>
        <p:blipFill>
          <a:blip r:embed="rId2"/>
          <a:stretch>
            <a:fillRect/>
          </a:stretch>
        </p:blipFill>
        <p:spPr>
          <a:xfrm>
            <a:off x="10972800" y="91440"/>
            <a:ext cx="822960" cy="411480"/>
          </a:xfrm>
          <a:prstGeom prst="rect">
            <a:avLst/>
          </a:prstGeom>
        </p:spPr>
      </p:pic>
      <p:sp>
        <p:nvSpPr>
          <p:cNvPr id="7" name="TextBox 6"/>
          <p:cNvSpPr txBox="1"/>
          <p:nvPr/>
        </p:nvSpPr>
        <p:spPr>
          <a:xfrm>
            <a:off x="457200" y="6446520"/>
            <a:ext cx="11274552" cy="274320"/>
          </a:xfrm>
          <a:prstGeom prst="rect">
            <a:avLst/>
          </a:prstGeom>
          <a:noFill/>
        </p:spPr>
        <p:txBody>
          <a:bodyPr wrap="square">
            <a:spAutoFit/>
          </a:bodyPr>
          <a:lstStyle/>
          <a:p>
            <a:pPr algn="ctr"/>
            <a:r>
              <a:rPr sz="900" b="0" i="0">
                <a:solidFill>
                  <a:srgbClr val="6B7280"/>
                </a:solidFill>
                <a:latin typeface="Calibri"/>
              </a:rPr>
              <a:t>Maintenance Prédictive · EFREI 2025-26 · Adam Beloucif · Emilien Morice</a:t>
            </a:r>
          </a:p>
        </p:txBody>
      </p:sp>
      <p:sp>
        <p:nvSpPr>
          <p:cNvPr id="8" name="TextBox 7"/>
          <p:cNvSpPr txBox="1"/>
          <p:nvPr/>
        </p:nvSpPr>
        <p:spPr>
          <a:xfrm>
            <a:off x="274320" y="685800"/>
            <a:ext cx="11612880" cy="868680"/>
          </a:xfrm>
          <a:prstGeom prst="rect">
            <a:avLst/>
          </a:prstGeom>
          <a:noFill/>
        </p:spPr>
        <p:txBody>
          <a:bodyPr wrap="square">
            <a:spAutoFit/>
          </a:bodyPr>
          <a:lstStyle/>
          <a:p>
            <a:pPr>
              <a:spcBef>
                <a:spcPts val="300"/>
              </a:spcBef>
            </a:pPr>
            <a:r>
              <a:rPr sz="1300" b="0">
                <a:solidFill>
                  <a:srgbClr val="212121"/>
                </a:solidFill>
                <a:latin typeface="Calibri"/>
              </a:rPr>
              <a:t>· Binaire XGBoost final : F1=0.886, ROC-AUC=0.995, PR-AUC=0.974, CV F1=0.886+/-0.011</a:t>
            </a:r>
          </a:p>
          <a:p>
            <a:pPr>
              <a:spcBef>
                <a:spcPts val="300"/>
              </a:spcBef>
            </a:pPr>
            <a:r>
              <a:rPr sz="1300" b="0">
                <a:solidFill>
                  <a:srgbClr val="212121"/>
                </a:solidFill>
                <a:latin typeface="Calibri"/>
              </a:rPr>
              <a:t>· Multiclasse XGBoost : Macro-F1=0.931 (bearing 0.918 · hydraulic 0.923 · none 0.987)</a:t>
            </a:r>
          </a:p>
          <a:p>
            <a:pPr>
              <a:spcBef>
                <a:spcPts val="300"/>
              </a:spcBef>
            </a:pPr>
            <a:r>
              <a:rPr sz="1300" b="0">
                <a:solidFill>
                  <a:srgbClr val="212121"/>
                </a:solidFill>
                <a:latin typeface="Calibri"/>
              </a:rPr>
              <a:t>· Régression RUL Random Forest : R2=0.673, MAE=9.57h, RMSE=15.04h</a:t>
            </a:r>
          </a:p>
        </p:txBody>
      </p:sp>
      <p:pic>
        <p:nvPicPr>
          <p:cNvPr id="9" name="Picture 8" descr="roc_curves_comparison.png"/>
          <p:cNvPicPr>
            <a:picLocks noChangeAspect="1"/>
          </p:cNvPicPr>
          <p:nvPr/>
        </p:nvPicPr>
        <p:blipFill>
          <a:blip r:embed="rId3"/>
          <a:stretch>
            <a:fillRect/>
          </a:stretch>
        </p:blipFill>
        <p:spPr>
          <a:xfrm>
            <a:off x="457200" y="1627632"/>
            <a:ext cx="5303520" cy="3956381"/>
          </a:xfrm>
          <a:prstGeom prst="rect">
            <a:avLst/>
          </a:prstGeom>
        </p:spPr>
      </p:pic>
      <p:sp>
        <p:nvSpPr>
          <p:cNvPr id="10" name="TextBox 9"/>
          <p:cNvSpPr txBox="1"/>
          <p:nvPr/>
        </p:nvSpPr>
        <p:spPr>
          <a:xfrm>
            <a:off x="457200" y="5657165"/>
            <a:ext cx="5303520" cy="274320"/>
          </a:xfrm>
          <a:prstGeom prst="rect">
            <a:avLst/>
          </a:prstGeom>
          <a:noFill/>
        </p:spPr>
        <p:txBody>
          <a:bodyPr wrap="square">
            <a:spAutoFit/>
          </a:bodyPr>
          <a:lstStyle/>
          <a:p>
            <a:pPr algn="ctr"/>
            <a:r>
              <a:rPr sz="1100" b="0" i="1">
                <a:solidFill>
                  <a:srgbClr val="6B7280"/>
                </a:solidFill>
                <a:latin typeface="Calibri"/>
              </a:rPr>
              <a:t>Courbes ROC superposées (4 modèles binaires)</a:t>
            </a:r>
          </a:p>
        </p:txBody>
      </p:sp>
      <p:pic>
        <p:nvPicPr>
          <p:cNvPr id="11" name="Picture 10" descr="confusion_matrix_xgboost.png"/>
          <p:cNvPicPr>
            <a:picLocks noChangeAspect="1"/>
          </p:cNvPicPr>
          <p:nvPr/>
        </p:nvPicPr>
        <p:blipFill>
          <a:blip r:embed="rId4"/>
          <a:stretch>
            <a:fillRect/>
          </a:stretch>
        </p:blipFill>
        <p:spPr>
          <a:xfrm>
            <a:off x="6245352" y="1627632"/>
            <a:ext cx="4969239" cy="4114800"/>
          </a:xfrm>
          <a:prstGeom prst="rect">
            <a:avLst/>
          </a:prstGeom>
        </p:spPr>
      </p:pic>
      <p:sp>
        <p:nvSpPr>
          <p:cNvPr id="12" name="TextBox 11"/>
          <p:cNvSpPr txBox="1"/>
          <p:nvPr/>
        </p:nvSpPr>
        <p:spPr>
          <a:xfrm>
            <a:off x="6245352" y="5815584"/>
            <a:ext cx="4969239" cy="274320"/>
          </a:xfrm>
          <a:prstGeom prst="rect">
            <a:avLst/>
          </a:prstGeom>
          <a:noFill/>
        </p:spPr>
        <p:txBody>
          <a:bodyPr wrap="square">
            <a:spAutoFit/>
          </a:bodyPr>
          <a:lstStyle/>
          <a:p>
            <a:pPr algn="ctr"/>
            <a:r>
              <a:rPr sz="1100" b="0" i="1">
                <a:solidFill>
                  <a:srgbClr val="6B7280"/>
                </a:solidFill>
                <a:latin typeface="Calibri"/>
              </a:rPr>
              <a:t>Matrice de confusion XGBoost (final binaire)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9436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 y="45720"/>
            <a:ext cx="9784080" cy="502920"/>
          </a:xfrm>
          <a:prstGeom prst="rect">
            <a:avLst/>
          </a:prstGeom>
          <a:noFill/>
        </p:spPr>
        <p:txBody>
          <a:bodyPr wrap="square">
            <a:spAutoFit/>
          </a:bodyPr>
          <a:lstStyle/>
          <a:p>
            <a:pPr algn="l"/>
            <a:r>
              <a:rPr sz="2400" b="1" i="0">
                <a:solidFill>
                  <a:srgbClr val="FFFFFF"/>
                </a:solidFill>
                <a:latin typeface="Calibri"/>
              </a:rPr>
              <a:t>Interprétabilité · SHAP &amp; Feature Importance</a:t>
            </a:r>
          </a:p>
        </p:txBody>
      </p:sp>
      <p:sp>
        <p:nvSpPr>
          <p:cNvPr id="5" name="TextBox 4"/>
          <p:cNvSpPr txBox="1"/>
          <p:nvPr/>
        </p:nvSpPr>
        <p:spPr>
          <a:xfrm>
            <a:off x="10058400" y="64008"/>
            <a:ext cx="777240" cy="457200"/>
          </a:xfrm>
          <a:prstGeom prst="rect">
            <a:avLst/>
          </a:prstGeom>
          <a:noFill/>
        </p:spPr>
        <p:txBody>
          <a:bodyPr wrap="square">
            <a:spAutoFit/>
          </a:bodyPr>
          <a:lstStyle/>
          <a:p>
            <a:pPr algn="r"/>
            <a:r>
              <a:rPr sz="1100" b="0" i="0">
                <a:solidFill>
                  <a:srgbClr val="BDC3CB"/>
                </a:solidFill>
                <a:latin typeface="Calibri"/>
              </a:rPr>
              <a:t>9 / 12</a:t>
            </a:r>
          </a:p>
        </p:txBody>
      </p:sp>
      <p:pic>
        <p:nvPicPr>
          <p:cNvPr id="6" name="Picture 5" descr="logo_efrei.png"/>
          <p:cNvPicPr>
            <a:picLocks noChangeAspect="1"/>
          </p:cNvPicPr>
          <p:nvPr/>
        </p:nvPicPr>
        <p:blipFill>
          <a:blip r:embed="rId2"/>
          <a:stretch>
            <a:fillRect/>
          </a:stretch>
        </p:blipFill>
        <p:spPr>
          <a:xfrm>
            <a:off x="10972800" y="91440"/>
            <a:ext cx="822960" cy="411480"/>
          </a:xfrm>
          <a:prstGeom prst="rect">
            <a:avLst/>
          </a:prstGeom>
        </p:spPr>
      </p:pic>
      <p:sp>
        <p:nvSpPr>
          <p:cNvPr id="7" name="TextBox 6"/>
          <p:cNvSpPr txBox="1"/>
          <p:nvPr/>
        </p:nvSpPr>
        <p:spPr>
          <a:xfrm>
            <a:off x="457200" y="6446520"/>
            <a:ext cx="11274552" cy="274320"/>
          </a:xfrm>
          <a:prstGeom prst="rect">
            <a:avLst/>
          </a:prstGeom>
          <a:noFill/>
        </p:spPr>
        <p:txBody>
          <a:bodyPr wrap="square">
            <a:spAutoFit/>
          </a:bodyPr>
          <a:lstStyle/>
          <a:p>
            <a:pPr algn="ctr"/>
            <a:r>
              <a:rPr sz="900" b="0" i="0">
                <a:solidFill>
                  <a:srgbClr val="6B7280"/>
                </a:solidFill>
                <a:latin typeface="Calibri"/>
              </a:rPr>
              <a:t>Maintenance Prédictive · EFREI 2025-26 · Adam Beloucif · Emilien Morice</a:t>
            </a:r>
          </a:p>
        </p:txBody>
      </p:sp>
      <p:pic>
        <p:nvPicPr>
          <p:cNvPr id="8" name="Picture 7" descr="shap_summary_xgboost.png"/>
          <p:cNvPicPr>
            <a:picLocks noChangeAspect="1"/>
          </p:cNvPicPr>
          <p:nvPr/>
        </p:nvPicPr>
        <p:blipFill>
          <a:blip r:embed="rId3"/>
          <a:stretch>
            <a:fillRect/>
          </a:stretch>
        </p:blipFill>
        <p:spPr>
          <a:xfrm>
            <a:off x="457200" y="685800"/>
            <a:ext cx="5669280" cy="4232137"/>
          </a:xfrm>
          <a:prstGeom prst="rect">
            <a:avLst/>
          </a:prstGeom>
        </p:spPr>
      </p:pic>
      <p:sp>
        <p:nvSpPr>
          <p:cNvPr id="9" name="TextBox 8"/>
          <p:cNvSpPr txBox="1"/>
          <p:nvPr/>
        </p:nvSpPr>
        <p:spPr>
          <a:xfrm>
            <a:off x="457200" y="4991089"/>
            <a:ext cx="5669280" cy="274320"/>
          </a:xfrm>
          <a:prstGeom prst="rect">
            <a:avLst/>
          </a:prstGeom>
          <a:noFill/>
        </p:spPr>
        <p:txBody>
          <a:bodyPr wrap="square">
            <a:spAutoFit/>
          </a:bodyPr>
          <a:lstStyle/>
          <a:p>
            <a:pPr algn="ctr"/>
            <a:r>
              <a:rPr sz="1100" b="0" i="1">
                <a:solidFill>
                  <a:srgbClr val="6B7280"/>
                </a:solidFill>
                <a:latin typeface="Calibri"/>
              </a:rPr>
              <a:t>SHAP dot plot XGBoost (contribution par observation)</a:t>
            </a:r>
          </a:p>
        </p:txBody>
      </p:sp>
      <p:sp>
        <p:nvSpPr>
          <p:cNvPr id="10" name="TextBox 9"/>
          <p:cNvSpPr txBox="1"/>
          <p:nvPr/>
        </p:nvSpPr>
        <p:spPr>
          <a:xfrm>
            <a:off x="6400800" y="685800"/>
            <a:ext cx="5303520" cy="365760"/>
          </a:xfrm>
          <a:prstGeom prst="rect">
            <a:avLst/>
          </a:prstGeom>
          <a:noFill/>
        </p:spPr>
        <p:txBody>
          <a:bodyPr wrap="square">
            <a:spAutoFit/>
          </a:bodyPr>
          <a:lstStyle/>
          <a:p>
            <a:pPr algn="l"/>
            <a:r>
              <a:rPr sz="1500" b="1" i="0">
                <a:solidFill>
                  <a:srgbClr val="0D47A1"/>
                </a:solidFill>
                <a:latin typeface="Calibri"/>
              </a:rPr>
              <a:t>Conclusions interprétabilité</a:t>
            </a:r>
          </a:p>
        </p:txBody>
      </p:sp>
      <p:sp>
        <p:nvSpPr>
          <p:cNvPr id="11" name="TextBox 10"/>
          <p:cNvSpPr txBox="1"/>
          <p:nvPr/>
        </p:nvSpPr>
        <p:spPr>
          <a:xfrm>
            <a:off x="6400800" y="1124712"/>
            <a:ext cx="5303520" cy="2103120"/>
          </a:xfrm>
          <a:prstGeom prst="rect">
            <a:avLst/>
          </a:prstGeom>
          <a:noFill/>
        </p:spPr>
        <p:txBody>
          <a:bodyPr wrap="square">
            <a:spAutoFit/>
          </a:bodyPr>
          <a:lstStyle/>
          <a:p>
            <a:pPr>
              <a:spcBef>
                <a:spcPts val="300"/>
              </a:spcBef>
            </a:pPr>
            <a:r>
              <a:rPr sz="1300" b="0">
                <a:solidFill>
                  <a:srgbClr val="212121"/>
                </a:solidFill>
                <a:latin typeface="Calibri"/>
              </a:rPr>
              <a:t>· vibration_rms : feature la plus impactante (~30% du gain XGBoost)</a:t>
            </a:r>
          </a:p>
          <a:p>
            <a:pPr>
              <a:spcBef>
                <a:spcPts val="300"/>
              </a:spcBef>
            </a:pPr>
            <a:r>
              <a:rPr sz="1300" b="0">
                <a:solidFill>
                  <a:srgbClr val="212121"/>
                </a:solidFill>
                <a:latin typeface="Calibri"/>
              </a:rPr>
              <a:t>· temperature_motor : 2e rang (~20%) · confirme l'EDA</a:t>
            </a:r>
          </a:p>
          <a:p>
            <a:pPr>
              <a:spcBef>
                <a:spcPts val="300"/>
              </a:spcBef>
            </a:pPr>
            <a:r>
              <a:rPr sz="1300" b="0">
                <a:solidFill>
                  <a:srgbClr val="212121"/>
                </a:solidFill>
                <a:latin typeface="Calibri"/>
              </a:rPr>
              <a:t>· Traduction métier : vib &gt; seuil ET temp &gt; seuil = alerte critique</a:t>
            </a:r>
          </a:p>
          <a:p>
            <a:pPr>
              <a:spcBef>
                <a:spcPts val="300"/>
              </a:spcBef>
            </a:pPr>
            <a:r>
              <a:rPr sz="1300" b="0">
                <a:solidFill>
                  <a:srgbClr val="212121"/>
                </a:solidFill>
                <a:latin typeface="Calibri"/>
              </a:rPr>
              <a:t>· 3 niveaux d'interprétabilité : feature importance native + permutation + SHAP</a:t>
            </a:r>
          </a:p>
        </p:txBody>
      </p:sp>
      <p:sp>
        <p:nvSpPr>
          <p:cNvPr id="12" name="Rectangle 11"/>
          <p:cNvSpPr/>
          <p:nvPr/>
        </p:nvSpPr>
        <p:spPr>
          <a:xfrm>
            <a:off x="6400800" y="3337560"/>
            <a:ext cx="5303520" cy="594360"/>
          </a:xfrm>
          <a:prstGeom prst="rect">
            <a:avLst/>
          </a:prstGeom>
          <a:solidFill>
            <a:srgbClr val="D1FAE5"/>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3364992"/>
            <a:ext cx="5120640" cy="539496"/>
          </a:xfrm>
          <a:prstGeom prst="rect">
            <a:avLst/>
          </a:prstGeom>
          <a:noFill/>
        </p:spPr>
        <p:txBody>
          <a:bodyPr wrap="square">
            <a:spAutoFit/>
          </a:bodyPr>
          <a:lstStyle/>
          <a:p>
            <a:pPr algn="l"/>
            <a:r>
              <a:rPr sz="1200" b="0" i="0">
                <a:solidFill>
                  <a:srgbClr val="065F46"/>
                </a:solidFill>
                <a:latin typeface="Calibri"/>
              </a:rPr>
              <a:t>Couvre RNCP C3.1/C3.2/C3.3 : explicabilité des modèles, confiance métier, audit de biais.</a:t>
            </a:r>
          </a:p>
        </p:txBody>
      </p:sp>
      <p:pic>
        <p:nvPicPr>
          <p:cNvPr id="14" name="Picture 13" descr="permutation_importance_xgboost.png"/>
          <p:cNvPicPr>
            <a:picLocks noChangeAspect="1"/>
          </p:cNvPicPr>
          <p:nvPr/>
        </p:nvPicPr>
        <p:blipFill>
          <a:blip r:embed="rId4"/>
          <a:stretch>
            <a:fillRect/>
          </a:stretch>
        </p:blipFill>
        <p:spPr>
          <a:xfrm>
            <a:off x="6400800" y="4069080"/>
            <a:ext cx="2921834" cy="1737360"/>
          </a:xfrm>
          <a:prstGeom prst="rect">
            <a:avLst/>
          </a:prstGeom>
        </p:spPr>
      </p:pic>
      <p:sp>
        <p:nvSpPr>
          <p:cNvPr id="15" name="TextBox 14"/>
          <p:cNvSpPr txBox="1"/>
          <p:nvPr/>
        </p:nvSpPr>
        <p:spPr>
          <a:xfrm>
            <a:off x="6400800" y="5879592"/>
            <a:ext cx="2921834" cy="274320"/>
          </a:xfrm>
          <a:prstGeom prst="rect">
            <a:avLst/>
          </a:prstGeom>
          <a:noFill/>
        </p:spPr>
        <p:txBody>
          <a:bodyPr wrap="square">
            <a:spAutoFit/>
          </a:bodyPr>
          <a:lstStyle/>
          <a:p>
            <a:pPr algn="ctr"/>
            <a:r>
              <a:rPr sz="1100" b="0" i="1">
                <a:solidFill>
                  <a:srgbClr val="6B7280"/>
                </a:solidFill>
                <a:latin typeface="Calibri"/>
              </a:rPr>
              <a:t>Permutation importance XGBoost (perte F1)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9436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 y="45720"/>
            <a:ext cx="9784080" cy="502920"/>
          </a:xfrm>
          <a:prstGeom prst="rect">
            <a:avLst/>
          </a:prstGeom>
          <a:noFill/>
        </p:spPr>
        <p:txBody>
          <a:bodyPr wrap="square">
            <a:spAutoFit/>
          </a:bodyPr>
          <a:lstStyle/>
          <a:p>
            <a:pPr algn="l"/>
            <a:r>
              <a:rPr sz="2400" b="1" i="0">
                <a:solidFill>
                  <a:srgbClr val="FFFFFF"/>
                </a:solidFill>
                <a:latin typeface="Calibri"/>
              </a:rPr>
              <a:t>Dashboard Décisionnel + API · Démo</a:t>
            </a:r>
          </a:p>
        </p:txBody>
      </p:sp>
      <p:sp>
        <p:nvSpPr>
          <p:cNvPr id="5" name="TextBox 4"/>
          <p:cNvSpPr txBox="1"/>
          <p:nvPr/>
        </p:nvSpPr>
        <p:spPr>
          <a:xfrm>
            <a:off x="10058400" y="64008"/>
            <a:ext cx="777240" cy="457200"/>
          </a:xfrm>
          <a:prstGeom prst="rect">
            <a:avLst/>
          </a:prstGeom>
          <a:noFill/>
        </p:spPr>
        <p:txBody>
          <a:bodyPr wrap="square">
            <a:spAutoFit/>
          </a:bodyPr>
          <a:lstStyle/>
          <a:p>
            <a:pPr algn="r"/>
            <a:r>
              <a:rPr sz="1100" b="0" i="0">
                <a:solidFill>
                  <a:srgbClr val="BDC3CB"/>
                </a:solidFill>
                <a:latin typeface="Calibri"/>
              </a:rPr>
              <a:t>10 / 12</a:t>
            </a:r>
          </a:p>
        </p:txBody>
      </p:sp>
      <p:pic>
        <p:nvPicPr>
          <p:cNvPr id="6" name="Picture 5" descr="logo_efrei.png"/>
          <p:cNvPicPr>
            <a:picLocks noChangeAspect="1"/>
          </p:cNvPicPr>
          <p:nvPr/>
        </p:nvPicPr>
        <p:blipFill>
          <a:blip r:embed="rId2"/>
          <a:stretch>
            <a:fillRect/>
          </a:stretch>
        </p:blipFill>
        <p:spPr>
          <a:xfrm>
            <a:off x="10972800" y="91440"/>
            <a:ext cx="822960" cy="411480"/>
          </a:xfrm>
          <a:prstGeom prst="rect">
            <a:avLst/>
          </a:prstGeom>
        </p:spPr>
      </p:pic>
      <p:sp>
        <p:nvSpPr>
          <p:cNvPr id="7" name="TextBox 6"/>
          <p:cNvSpPr txBox="1"/>
          <p:nvPr/>
        </p:nvSpPr>
        <p:spPr>
          <a:xfrm>
            <a:off x="457200" y="6446520"/>
            <a:ext cx="11274552" cy="274320"/>
          </a:xfrm>
          <a:prstGeom prst="rect">
            <a:avLst/>
          </a:prstGeom>
          <a:noFill/>
        </p:spPr>
        <p:txBody>
          <a:bodyPr wrap="square">
            <a:spAutoFit/>
          </a:bodyPr>
          <a:lstStyle/>
          <a:p>
            <a:pPr algn="ctr"/>
            <a:r>
              <a:rPr sz="900" b="0" i="0">
                <a:solidFill>
                  <a:srgbClr val="6B7280"/>
                </a:solidFill>
                <a:latin typeface="Calibri"/>
              </a:rPr>
              <a:t>Maintenance Prédictive · EFREI 2025-26 · Adam Beloucif · Emilien Morice</a:t>
            </a:r>
          </a:p>
        </p:txBody>
      </p:sp>
      <p:sp>
        <p:nvSpPr>
          <p:cNvPr id="8" name="TextBox 7"/>
          <p:cNvSpPr txBox="1"/>
          <p:nvPr/>
        </p:nvSpPr>
        <p:spPr>
          <a:xfrm>
            <a:off x="274320" y="685800"/>
            <a:ext cx="5303520" cy="365760"/>
          </a:xfrm>
          <a:prstGeom prst="rect">
            <a:avLst/>
          </a:prstGeom>
          <a:noFill/>
        </p:spPr>
        <p:txBody>
          <a:bodyPr wrap="square">
            <a:spAutoFit/>
          </a:bodyPr>
          <a:lstStyle/>
          <a:p>
            <a:pPr algn="l"/>
            <a:r>
              <a:rPr sz="1400" b="1" i="0">
                <a:solidFill>
                  <a:srgbClr val="0D47A1"/>
                </a:solidFill>
                <a:latin typeface="Calibri"/>
              </a:rPr>
              <a:t>Calibration cost-sensitive</a:t>
            </a:r>
          </a:p>
        </p:txBody>
      </p:sp>
      <p:sp>
        <p:nvSpPr>
          <p:cNvPr id="9" name="Rectangle 8"/>
          <p:cNvSpPr/>
          <p:nvPr/>
        </p:nvSpPr>
        <p:spPr>
          <a:xfrm>
            <a:off x="274320" y="4114800"/>
            <a:ext cx="5303520" cy="822960"/>
          </a:xfrm>
          <a:prstGeom prst="rect">
            <a:avLst/>
          </a:prstGeom>
          <a:solidFill>
            <a:srgbClr val="D1FAE5"/>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4142232"/>
            <a:ext cx="5120640" cy="777240"/>
          </a:xfrm>
          <a:prstGeom prst="rect">
            <a:avLst/>
          </a:prstGeom>
          <a:noFill/>
        </p:spPr>
        <p:txBody>
          <a:bodyPr wrap="square">
            <a:spAutoFit/>
          </a:bodyPr>
          <a:lstStyle/>
          <a:p>
            <a:pPr algn="l"/>
            <a:r>
              <a:rPr sz="1200" b="1" i="0">
                <a:solidFill>
                  <a:srgbClr val="065F46"/>
                </a:solidFill>
                <a:latin typeface="Calibri"/>
              </a:rPr>
              <a:t>Seuil optimal : 0.23 (vs 0.5 défaut)
FN=7 x 1000 EUR + FP=256 x 100 EUR = 32 600 EUR
Économie : ~12 000 EUR par cycle de scoring</a:t>
            </a:r>
          </a:p>
        </p:txBody>
      </p:sp>
      <p:sp>
        <p:nvSpPr>
          <p:cNvPr id="11" name="TextBox 10"/>
          <p:cNvSpPr txBox="1"/>
          <p:nvPr/>
        </p:nvSpPr>
        <p:spPr>
          <a:xfrm>
            <a:off x="5943600" y="685800"/>
            <a:ext cx="5943600" cy="365760"/>
          </a:xfrm>
          <a:prstGeom prst="rect">
            <a:avLst/>
          </a:prstGeom>
          <a:noFill/>
        </p:spPr>
        <p:txBody>
          <a:bodyPr wrap="square">
            <a:spAutoFit/>
          </a:bodyPr>
          <a:lstStyle/>
          <a:p>
            <a:pPr algn="l"/>
            <a:r>
              <a:rPr sz="1400" b="1" i="0">
                <a:solidFill>
                  <a:srgbClr val="0D47A1"/>
                </a:solidFill>
                <a:latin typeface="Calibri"/>
              </a:rPr>
              <a:t>Dashboard Streamlit · 5 onglets</a:t>
            </a:r>
          </a:p>
        </p:txBody>
      </p:sp>
      <p:sp>
        <p:nvSpPr>
          <p:cNvPr id="12" name="TextBox 11"/>
          <p:cNvSpPr txBox="1"/>
          <p:nvPr/>
        </p:nvSpPr>
        <p:spPr>
          <a:xfrm>
            <a:off x="5943600" y="1097280"/>
            <a:ext cx="5943600" cy="2103120"/>
          </a:xfrm>
          <a:prstGeom prst="rect">
            <a:avLst/>
          </a:prstGeom>
          <a:noFill/>
        </p:spPr>
        <p:txBody>
          <a:bodyPr wrap="square">
            <a:spAutoFit/>
          </a:bodyPr>
          <a:lstStyle/>
          <a:p>
            <a:pPr>
              <a:spcBef>
                <a:spcPts val="300"/>
              </a:spcBef>
            </a:pPr>
            <a:r>
              <a:rPr sz="1200" b="0">
                <a:solidFill>
                  <a:srgbClr val="212121"/>
                </a:solidFill>
                <a:latin typeface="Calibri"/>
              </a:rPr>
              <a:t>· État du parc : vue temps réel 20 machines, top alertes</a:t>
            </a:r>
          </a:p>
          <a:p>
            <a:pPr>
              <a:spcBef>
                <a:spcPts val="300"/>
              </a:spcBef>
            </a:pPr>
            <a:r>
              <a:rPr sz="1200" b="0">
                <a:solidFill>
                  <a:srgbClr val="212121"/>
                </a:solidFill>
                <a:latin typeface="Calibri"/>
              </a:rPr>
              <a:t>· Plan d'intervention : table priorisée par urgence</a:t>
            </a:r>
          </a:p>
          <a:p>
            <a:pPr>
              <a:spcBef>
                <a:spcPts val="300"/>
              </a:spcBef>
            </a:pPr>
            <a:r>
              <a:rPr sz="1200" b="0">
                <a:solidFill>
                  <a:srgbClr val="212121"/>
                </a:solidFill>
                <a:latin typeface="Calibri"/>
              </a:rPr>
              <a:t>· Impact économique : ROI, coûts évités, comparaison avec/sans IA</a:t>
            </a:r>
          </a:p>
          <a:p>
            <a:pPr>
              <a:spcBef>
                <a:spcPts val="300"/>
              </a:spcBef>
            </a:pPr>
            <a:r>
              <a:rPr sz="1200" b="0">
                <a:solidFill>
                  <a:srgbClr val="212121"/>
                </a:solidFill>
                <a:latin typeface="Calibri"/>
              </a:rPr>
              <a:t>· Diagnostic machine : saisie capteurs -&gt; recommandation temps réel</a:t>
            </a:r>
          </a:p>
          <a:p>
            <a:pPr>
              <a:spcBef>
                <a:spcPts val="300"/>
              </a:spcBef>
            </a:pPr>
            <a:r>
              <a:rPr sz="1200" b="0">
                <a:solidFill>
                  <a:srgbClr val="212121"/>
                </a:solidFill>
                <a:latin typeface="Calibri"/>
              </a:rPr>
              <a:t>· Détails techniques : EDA, modèles, interprétabilité (sous-onglets)</a:t>
            </a:r>
          </a:p>
        </p:txBody>
      </p:sp>
      <p:sp>
        <p:nvSpPr>
          <p:cNvPr id="13" name="TextBox 12"/>
          <p:cNvSpPr txBox="1"/>
          <p:nvPr/>
        </p:nvSpPr>
        <p:spPr>
          <a:xfrm>
            <a:off x="5943600" y="3337560"/>
            <a:ext cx="5943600" cy="365760"/>
          </a:xfrm>
          <a:prstGeom prst="rect">
            <a:avLst/>
          </a:prstGeom>
          <a:noFill/>
        </p:spPr>
        <p:txBody>
          <a:bodyPr wrap="square">
            <a:spAutoFit/>
          </a:bodyPr>
          <a:lstStyle/>
          <a:p>
            <a:pPr algn="l"/>
            <a:r>
              <a:rPr sz="1400" b="1" i="0">
                <a:solidFill>
                  <a:srgbClr val="0D47A1"/>
                </a:solidFill>
                <a:latin typeface="Calibri"/>
              </a:rPr>
              <a:t>API FastAPI · 4 endpoints</a:t>
            </a:r>
          </a:p>
        </p:txBody>
      </p:sp>
      <p:graphicFrame>
        <p:nvGraphicFramePr>
          <p:cNvPr id="14" name="Table 13"/>
          <p:cNvGraphicFramePr>
            <a:graphicFrameLocks noGrp="1"/>
          </p:cNvGraphicFramePr>
          <p:nvPr/>
        </p:nvGraphicFramePr>
        <p:xfrm>
          <a:off x="5943600" y="3749039"/>
          <a:ext cx="5943600" cy="1737360"/>
        </p:xfrm>
        <a:graphic>
          <a:graphicData uri="http://schemas.openxmlformats.org/drawingml/2006/table">
            <a:tbl>
              <a:tblPr firstRow="1" bandRow="1">
                <a:tableStyleId>{5C22544A-7EE6-4342-B048-85BDC9FD1C3A}</a:tableStyleId>
              </a:tblPr>
              <a:tblGrid>
                <a:gridCol w="1981200"/>
                <a:gridCol w="1981200"/>
                <a:gridCol w="1981200"/>
              </a:tblGrid>
              <a:tr h="347472">
                <a:tc>
                  <a:txBody>
                    <a:bodyPr/>
                    <a:lstStyle/>
                    <a:p>
                      <a:pPr algn="ctr"/>
                      <a:r>
                        <a:rPr b="1" sz="1200">
                          <a:solidFill>
                            <a:srgbClr val="FFFFFF"/>
                          </a:solidFill>
                          <a:latin typeface="Calibri"/>
                        </a:rPr>
                        <a:t>Méthode</a:t>
                      </a:r>
                    </a:p>
                  </a:txBody>
                  <a:tcPr>
                    <a:solidFill>
                      <a:srgbClr val="0D47A1"/>
                    </a:solidFill>
                  </a:tcPr>
                </a:tc>
                <a:tc>
                  <a:txBody>
                    <a:bodyPr/>
                    <a:lstStyle/>
                    <a:p>
                      <a:pPr algn="ctr"/>
                      <a:r>
                        <a:rPr b="1" sz="1200">
                          <a:solidFill>
                            <a:srgbClr val="FFFFFF"/>
                          </a:solidFill>
                          <a:latin typeface="Calibri"/>
                        </a:rPr>
                        <a:t>Route</a:t>
                      </a:r>
                    </a:p>
                  </a:txBody>
                  <a:tcPr>
                    <a:solidFill>
                      <a:srgbClr val="0D47A1"/>
                    </a:solidFill>
                  </a:tcPr>
                </a:tc>
                <a:tc>
                  <a:txBody>
                    <a:bodyPr/>
                    <a:lstStyle/>
                    <a:p>
                      <a:pPr algn="ctr"/>
                      <a:r>
                        <a:rPr b="1" sz="1200">
                          <a:solidFill>
                            <a:srgbClr val="FFFFFF"/>
                          </a:solidFill>
                          <a:latin typeface="Calibri"/>
                        </a:rPr>
                        <a:t>Description</a:t>
                      </a:r>
                    </a:p>
                  </a:txBody>
                  <a:tcPr>
                    <a:solidFill>
                      <a:srgbClr val="0D47A1"/>
                    </a:solidFill>
                  </a:tcPr>
                </a:tc>
              </a:tr>
              <a:tr h="347472">
                <a:tc>
                  <a:txBody>
                    <a:bodyPr/>
                    <a:lstStyle/>
                    <a:p>
                      <a:pPr algn="ctr"/>
                      <a:r>
                        <a:rPr sz="1100" b="0">
                          <a:solidFill>
                            <a:srgbClr val="212121"/>
                          </a:solidFill>
                          <a:latin typeface="Calibri"/>
                        </a:rPr>
                        <a:t>GET</a:t>
                      </a:r>
                    </a:p>
                  </a:txBody>
                  <a:tcPr>
                    <a:solidFill>
                      <a:srgbClr val="FFFFFF"/>
                    </a:solidFill>
                  </a:tcPr>
                </a:tc>
                <a:tc>
                  <a:txBody>
                    <a:bodyPr/>
                    <a:lstStyle/>
                    <a:p>
                      <a:pPr algn="ctr"/>
                      <a:r>
                        <a:rPr sz="1100" b="0">
                          <a:solidFill>
                            <a:srgbClr val="212121"/>
                          </a:solidFill>
                          <a:latin typeface="Calibri"/>
                        </a:rPr>
                        <a:t>/</a:t>
                      </a:r>
                    </a:p>
                  </a:txBody>
                  <a:tcPr>
                    <a:solidFill>
                      <a:srgbClr val="FFFFFF"/>
                    </a:solidFill>
                  </a:tcPr>
                </a:tc>
                <a:tc>
                  <a:txBody>
                    <a:bodyPr/>
                    <a:lstStyle/>
                    <a:p>
                      <a:pPr algn="ctr"/>
                      <a:r>
                        <a:rPr sz="1100" b="0">
                          <a:solidFill>
                            <a:srgbClr val="212121"/>
                          </a:solidFill>
                          <a:latin typeface="Calibri"/>
                        </a:rPr>
                        <a:t>Accueil + liens docs</a:t>
                      </a:r>
                    </a:p>
                  </a:txBody>
                  <a:tcPr>
                    <a:solidFill>
                      <a:srgbClr val="FFFFFF"/>
                    </a:solidFill>
                  </a:tcPr>
                </a:tc>
              </a:tr>
              <a:tr h="347472">
                <a:tc>
                  <a:txBody>
                    <a:bodyPr/>
                    <a:lstStyle/>
                    <a:p>
                      <a:pPr algn="ctr"/>
                      <a:r>
                        <a:rPr sz="1100" b="0">
                          <a:solidFill>
                            <a:srgbClr val="212121"/>
                          </a:solidFill>
                          <a:latin typeface="Calibri"/>
                        </a:rPr>
                        <a:t>GET</a:t>
                      </a:r>
                    </a:p>
                  </a:txBody>
                  <a:tcPr>
                    <a:solidFill>
                      <a:srgbClr val="F5F7FA"/>
                    </a:solidFill>
                  </a:tcPr>
                </a:tc>
                <a:tc>
                  <a:txBody>
                    <a:bodyPr/>
                    <a:lstStyle/>
                    <a:p>
                      <a:pPr algn="ctr"/>
                      <a:r>
                        <a:rPr sz="1100" b="0">
                          <a:solidFill>
                            <a:srgbClr val="212121"/>
                          </a:solidFill>
                          <a:latin typeface="Calibri"/>
                        </a:rPr>
                        <a:t>/health</a:t>
                      </a:r>
                    </a:p>
                  </a:txBody>
                  <a:tcPr>
                    <a:solidFill>
                      <a:srgbClr val="F5F7FA"/>
                    </a:solidFill>
                  </a:tcPr>
                </a:tc>
                <a:tc>
                  <a:txBody>
                    <a:bodyPr/>
                    <a:lstStyle/>
                    <a:p>
                      <a:pPr algn="ctr"/>
                      <a:r>
                        <a:rPr sz="1100" b="0">
                          <a:solidFill>
                            <a:srgbClr val="212121"/>
                          </a:solidFill>
                          <a:latin typeface="Calibri"/>
                        </a:rPr>
                        <a:t>Status + model_loaded</a:t>
                      </a:r>
                    </a:p>
                  </a:txBody>
                  <a:tcPr>
                    <a:solidFill>
                      <a:srgbClr val="F5F7FA"/>
                    </a:solidFill>
                  </a:tcPr>
                </a:tc>
              </a:tr>
              <a:tr h="347472">
                <a:tc>
                  <a:txBody>
                    <a:bodyPr/>
                    <a:lstStyle/>
                    <a:p>
                      <a:pPr algn="ctr"/>
                      <a:r>
                        <a:rPr sz="1100" b="0">
                          <a:solidFill>
                            <a:srgbClr val="212121"/>
                          </a:solidFill>
                          <a:latin typeface="Calibri"/>
                        </a:rPr>
                        <a:t>GET</a:t>
                      </a:r>
                    </a:p>
                  </a:txBody>
                  <a:tcPr>
                    <a:solidFill>
                      <a:srgbClr val="FFFFFF"/>
                    </a:solidFill>
                  </a:tcPr>
                </a:tc>
                <a:tc>
                  <a:txBody>
                    <a:bodyPr/>
                    <a:lstStyle/>
                    <a:p>
                      <a:pPr algn="ctr"/>
                      <a:r>
                        <a:rPr sz="1100" b="0">
                          <a:solidFill>
                            <a:srgbClr val="212121"/>
                          </a:solidFill>
                          <a:latin typeface="Calibri"/>
                        </a:rPr>
                        <a:t>/model-info</a:t>
                      </a:r>
                    </a:p>
                  </a:txBody>
                  <a:tcPr>
                    <a:solidFill>
                      <a:srgbClr val="FFFFFF"/>
                    </a:solidFill>
                  </a:tcPr>
                </a:tc>
                <a:tc>
                  <a:txBody>
                    <a:bodyPr/>
                    <a:lstStyle/>
                    <a:p>
                      <a:pPr algn="ctr"/>
                      <a:r>
                        <a:rPr sz="1100" b="0">
                          <a:solidFill>
                            <a:srgbClr val="212121"/>
                          </a:solidFill>
                          <a:latin typeface="Calibri"/>
                        </a:rPr>
                        <a:t>Métriques + features</a:t>
                      </a:r>
                    </a:p>
                  </a:txBody>
                  <a:tcPr>
                    <a:solidFill>
                      <a:srgbClr val="FFFFFF"/>
                    </a:solidFill>
                  </a:tcPr>
                </a:tc>
              </a:tr>
              <a:tr h="347472">
                <a:tc>
                  <a:txBody>
                    <a:bodyPr/>
                    <a:lstStyle/>
                    <a:p>
                      <a:pPr algn="ctr"/>
                      <a:r>
                        <a:rPr sz="1100" b="0">
                          <a:solidFill>
                            <a:srgbClr val="212121"/>
                          </a:solidFill>
                          <a:latin typeface="Calibri"/>
                        </a:rPr>
                        <a:t>POST</a:t>
                      </a:r>
                    </a:p>
                  </a:txBody>
                  <a:tcPr>
                    <a:solidFill>
                      <a:srgbClr val="F5F7FA"/>
                    </a:solidFill>
                  </a:tcPr>
                </a:tc>
                <a:tc>
                  <a:txBody>
                    <a:bodyPr/>
                    <a:lstStyle/>
                    <a:p>
                      <a:pPr algn="ctr"/>
                      <a:r>
                        <a:rPr sz="1100" b="0">
                          <a:solidFill>
                            <a:srgbClr val="212121"/>
                          </a:solidFill>
                          <a:latin typeface="Calibri"/>
                        </a:rPr>
                        <a:t>/predict</a:t>
                      </a:r>
                    </a:p>
                  </a:txBody>
                  <a:tcPr>
                    <a:solidFill>
                      <a:srgbClr val="F5F7FA"/>
                    </a:solidFill>
                  </a:tcPr>
                </a:tc>
                <a:tc>
                  <a:txBody>
                    <a:bodyPr/>
                    <a:lstStyle/>
                    <a:p>
                      <a:pPr algn="ctr"/>
                      <a:r>
                        <a:rPr sz="1100" b="0">
                          <a:solidFill>
                            <a:srgbClr val="212121"/>
                          </a:solidFill>
                          <a:latin typeface="Calibri"/>
                        </a:rPr>
                        <a:t>Inférence temps réel</a:t>
                      </a:r>
                    </a:p>
                  </a:txBody>
                  <a:tcPr>
                    <a:solidFill>
                      <a:srgbClr val="F5F7FA"/>
                    </a:solidFill>
                  </a:tcPr>
                </a:tc>
              </a:tr>
            </a:tbl>
          </a:graphicData>
        </a:graphic>
      </p:graphicFrame>
      <p:sp>
        <p:nvSpPr>
          <p:cNvPr id="15" name="TextBox 14"/>
          <p:cNvSpPr txBox="1"/>
          <p:nvPr/>
        </p:nvSpPr>
        <p:spPr>
          <a:xfrm>
            <a:off x="457200" y="5897880"/>
            <a:ext cx="11274552" cy="274320"/>
          </a:xfrm>
          <a:prstGeom prst="rect">
            <a:avLst/>
          </a:prstGeom>
          <a:noFill/>
        </p:spPr>
        <p:txBody>
          <a:bodyPr wrap="square">
            <a:spAutoFit/>
          </a:bodyPr>
          <a:lstStyle/>
          <a:p>
            <a:pPr algn="ctr"/>
            <a:r>
              <a:rPr sz="1000" b="0" i="1">
                <a:solidFill>
                  <a:srgbClr val="6B7280"/>
                </a:solidFill>
                <a:latin typeface="Calibri"/>
              </a:rPr>
              <a:t>Backup : screenshots disponibles si démo live indisponible.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9436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 y="45720"/>
            <a:ext cx="9784080" cy="502920"/>
          </a:xfrm>
          <a:prstGeom prst="rect">
            <a:avLst/>
          </a:prstGeom>
          <a:noFill/>
        </p:spPr>
        <p:txBody>
          <a:bodyPr wrap="square">
            <a:spAutoFit/>
          </a:bodyPr>
          <a:lstStyle/>
          <a:p>
            <a:pPr algn="l"/>
            <a:r>
              <a:rPr sz="2400" b="1" i="0">
                <a:solidFill>
                  <a:srgbClr val="FFFFFF"/>
                </a:solidFill>
                <a:latin typeface="Calibri"/>
              </a:rPr>
              <a:t>Limites &amp; Pistes d'Amélioration</a:t>
            </a:r>
          </a:p>
        </p:txBody>
      </p:sp>
      <p:sp>
        <p:nvSpPr>
          <p:cNvPr id="5" name="TextBox 4"/>
          <p:cNvSpPr txBox="1"/>
          <p:nvPr/>
        </p:nvSpPr>
        <p:spPr>
          <a:xfrm>
            <a:off x="10058400" y="64008"/>
            <a:ext cx="777240" cy="457200"/>
          </a:xfrm>
          <a:prstGeom prst="rect">
            <a:avLst/>
          </a:prstGeom>
          <a:noFill/>
        </p:spPr>
        <p:txBody>
          <a:bodyPr wrap="square">
            <a:spAutoFit/>
          </a:bodyPr>
          <a:lstStyle/>
          <a:p>
            <a:pPr algn="r"/>
            <a:r>
              <a:rPr sz="1100" b="0" i="0">
                <a:solidFill>
                  <a:srgbClr val="BDC3CB"/>
                </a:solidFill>
                <a:latin typeface="Calibri"/>
              </a:rPr>
              <a:t>11 / 12</a:t>
            </a:r>
          </a:p>
        </p:txBody>
      </p:sp>
      <p:pic>
        <p:nvPicPr>
          <p:cNvPr id="6" name="Picture 5" descr="logo_efrei.png"/>
          <p:cNvPicPr>
            <a:picLocks noChangeAspect="1"/>
          </p:cNvPicPr>
          <p:nvPr/>
        </p:nvPicPr>
        <p:blipFill>
          <a:blip r:embed="rId2"/>
          <a:stretch>
            <a:fillRect/>
          </a:stretch>
        </p:blipFill>
        <p:spPr>
          <a:xfrm>
            <a:off x="10972800" y="91440"/>
            <a:ext cx="822960" cy="411480"/>
          </a:xfrm>
          <a:prstGeom prst="rect">
            <a:avLst/>
          </a:prstGeom>
        </p:spPr>
      </p:pic>
      <p:sp>
        <p:nvSpPr>
          <p:cNvPr id="7" name="TextBox 6"/>
          <p:cNvSpPr txBox="1"/>
          <p:nvPr/>
        </p:nvSpPr>
        <p:spPr>
          <a:xfrm>
            <a:off x="457200" y="6446520"/>
            <a:ext cx="11274552" cy="274320"/>
          </a:xfrm>
          <a:prstGeom prst="rect">
            <a:avLst/>
          </a:prstGeom>
          <a:noFill/>
        </p:spPr>
        <p:txBody>
          <a:bodyPr wrap="square">
            <a:spAutoFit/>
          </a:bodyPr>
          <a:lstStyle/>
          <a:p>
            <a:pPr algn="ctr"/>
            <a:r>
              <a:rPr sz="900" b="0" i="0">
                <a:solidFill>
                  <a:srgbClr val="6B7280"/>
                </a:solidFill>
                <a:latin typeface="Calibri"/>
              </a:rPr>
              <a:t>Maintenance Prédictive · EFREI 2025-26 · Adam Beloucif · Emilien Morice</a:t>
            </a:r>
          </a:p>
        </p:txBody>
      </p:sp>
      <p:sp>
        <p:nvSpPr>
          <p:cNvPr id="8" name="TextBox 7"/>
          <p:cNvSpPr txBox="1"/>
          <p:nvPr/>
        </p:nvSpPr>
        <p:spPr>
          <a:xfrm>
            <a:off x="274320" y="685800"/>
            <a:ext cx="5486400" cy="365760"/>
          </a:xfrm>
          <a:prstGeom prst="rect">
            <a:avLst/>
          </a:prstGeom>
          <a:noFill/>
        </p:spPr>
        <p:txBody>
          <a:bodyPr wrap="square">
            <a:spAutoFit/>
          </a:bodyPr>
          <a:lstStyle/>
          <a:p>
            <a:pPr algn="l"/>
            <a:r>
              <a:rPr sz="1500" b="1" i="0">
                <a:solidFill>
                  <a:srgbClr val="B91C1C"/>
                </a:solidFill>
                <a:latin typeface="Calibri"/>
              </a:rPr>
              <a:t>Limites actuelles</a:t>
            </a:r>
          </a:p>
        </p:txBody>
      </p:sp>
      <p:sp>
        <p:nvSpPr>
          <p:cNvPr id="9" name="TextBox 8"/>
          <p:cNvSpPr txBox="1"/>
          <p:nvPr/>
        </p:nvSpPr>
        <p:spPr>
          <a:xfrm>
            <a:off x="274320" y="1097280"/>
            <a:ext cx="5394960" cy="4114800"/>
          </a:xfrm>
          <a:prstGeom prst="rect">
            <a:avLst/>
          </a:prstGeom>
          <a:noFill/>
        </p:spPr>
        <p:txBody>
          <a:bodyPr wrap="square">
            <a:spAutoFit/>
          </a:bodyPr>
          <a:lstStyle/>
          <a:p>
            <a:pPr>
              <a:spcBef>
                <a:spcPts val="300"/>
              </a:spcBef>
            </a:pPr>
            <a:r>
              <a:rPr sz="1200" b="0">
                <a:solidFill>
                  <a:srgbClr val="4B0505"/>
                </a:solidFill>
                <a:latin typeface="Calibri"/>
              </a:rPr>
              <a:t>· Données simulées Kaggle, pas un vrai flux IoT en production</a:t>
            </a:r>
          </a:p>
          <a:p>
            <a:pPr>
              <a:spcBef>
                <a:spcPts val="300"/>
              </a:spcBef>
            </a:pPr>
            <a:r>
              <a:rPr sz="1200" b="0">
                <a:solidFill>
                  <a:srgbClr val="4B0505"/>
                </a:solidFill>
                <a:latin typeface="Calibri"/>
              </a:rPr>
              <a:t>· Déséquilibre résiduel malgré class_weight/scale_pos_weight</a:t>
            </a:r>
          </a:p>
          <a:p>
            <a:pPr>
              <a:spcBef>
                <a:spcPts val="300"/>
              </a:spcBef>
            </a:pPr>
            <a:r>
              <a:rPr sz="1200" b="0">
                <a:solidFill>
                  <a:srgbClr val="4B0505"/>
                </a:solidFill>
                <a:latin typeface="Calibri"/>
              </a:rPr>
              <a:t>· Optuna documentaire : best_params non réinjectés dans les modèles</a:t>
            </a:r>
          </a:p>
          <a:p>
            <a:pPr>
              <a:spcBef>
                <a:spcPts val="300"/>
              </a:spcBef>
            </a:pPr>
            <a:r>
              <a:rPr sz="1200" b="0">
                <a:solidFill>
                  <a:srgbClr val="4B0505"/>
                </a:solidFill>
                <a:latin typeface="Calibri"/>
              </a:rPr>
              <a:t>· MLP scikit-learn : léger overfitting (F1 CV = 0.795 &lt; F1 test = 0.836)</a:t>
            </a:r>
          </a:p>
          <a:p>
            <a:pPr>
              <a:spcBef>
                <a:spcPts val="300"/>
              </a:spcBef>
            </a:pPr>
            <a:r>
              <a:rPr sz="1200" b="0">
                <a:solidFill>
                  <a:srgbClr val="4B0505"/>
                </a:solidFill>
                <a:latin typeface="Calibri"/>
              </a:rPr>
              <a:t>· Pas de monitoring de drift (concept drift non détecté)</a:t>
            </a:r>
          </a:p>
          <a:p>
            <a:pPr>
              <a:spcBef>
                <a:spcPts val="300"/>
              </a:spcBef>
            </a:pPr>
            <a:r>
              <a:rPr sz="1200" b="0">
                <a:solidFill>
                  <a:srgbClr val="4B0505"/>
                </a:solidFill>
                <a:latin typeface="Calibri"/>
              </a:rPr>
              <a:t>· API CORS permissive (allow_origins=*) - à restreindre en prod</a:t>
            </a:r>
          </a:p>
          <a:p>
            <a:pPr>
              <a:spcBef>
                <a:spcPts val="300"/>
              </a:spcBef>
            </a:pPr>
            <a:r>
              <a:rPr sz="1200" b="0">
                <a:solidFill>
                  <a:srgbClr val="4B0505"/>
                </a:solidFill>
                <a:latin typeface="Calibri"/>
              </a:rPr>
              <a:t>· Brier score non persisté (print stdout seulement)</a:t>
            </a:r>
          </a:p>
        </p:txBody>
      </p:sp>
      <p:sp>
        <p:nvSpPr>
          <p:cNvPr id="10" name="TextBox 9"/>
          <p:cNvSpPr txBox="1"/>
          <p:nvPr/>
        </p:nvSpPr>
        <p:spPr>
          <a:xfrm>
            <a:off x="6126480" y="685800"/>
            <a:ext cx="5760720" cy="365760"/>
          </a:xfrm>
          <a:prstGeom prst="rect">
            <a:avLst/>
          </a:prstGeom>
          <a:noFill/>
        </p:spPr>
        <p:txBody>
          <a:bodyPr wrap="square">
            <a:spAutoFit/>
          </a:bodyPr>
          <a:lstStyle/>
          <a:p>
            <a:pPr algn="l"/>
            <a:r>
              <a:rPr sz="1500" b="1" i="0">
                <a:solidFill>
                  <a:srgbClr val="065F46"/>
                </a:solidFill>
                <a:latin typeface="Calibri"/>
              </a:rPr>
              <a:t>Pistes d'amélioration</a:t>
            </a:r>
          </a:p>
        </p:txBody>
      </p:sp>
      <p:sp>
        <p:nvSpPr>
          <p:cNvPr id="11" name="TextBox 10"/>
          <p:cNvSpPr txBox="1"/>
          <p:nvPr/>
        </p:nvSpPr>
        <p:spPr>
          <a:xfrm>
            <a:off x="6126480" y="1097280"/>
            <a:ext cx="5760720" cy="4114800"/>
          </a:xfrm>
          <a:prstGeom prst="rect">
            <a:avLst/>
          </a:prstGeom>
          <a:noFill/>
        </p:spPr>
        <p:txBody>
          <a:bodyPr wrap="square">
            <a:spAutoFit/>
          </a:bodyPr>
          <a:lstStyle/>
          <a:p>
            <a:pPr>
              <a:spcBef>
                <a:spcPts val="300"/>
              </a:spcBef>
            </a:pPr>
            <a:r>
              <a:rPr sz="1200" b="0">
                <a:solidFill>
                  <a:srgbClr val="065F46"/>
                </a:solidFill>
                <a:latin typeface="Calibri"/>
              </a:rPr>
              <a:t>· Réinjection best_params Optuna dans src/models.py</a:t>
            </a:r>
          </a:p>
          <a:p>
            <a:pPr>
              <a:spcBef>
                <a:spcPts val="300"/>
              </a:spcBef>
            </a:pPr>
            <a:r>
              <a:rPr sz="1200" b="0">
                <a:solidFill>
                  <a:srgbClr val="065F46"/>
                </a:solidFill>
                <a:latin typeface="Calibri"/>
              </a:rPr>
              <a:t>· Drift monitoring : Evidently AI, alerte par email</a:t>
            </a:r>
          </a:p>
          <a:p>
            <a:pPr>
              <a:spcBef>
                <a:spcPts val="300"/>
              </a:spcBef>
            </a:pPr>
            <a:r>
              <a:rPr sz="1200" b="0">
                <a:solidFill>
                  <a:srgbClr val="065F46"/>
                </a:solidFill>
                <a:latin typeface="Calibri"/>
              </a:rPr>
              <a:t>· Déploiement cloud : Azure ML / Google Cloud Run</a:t>
            </a:r>
          </a:p>
          <a:p>
            <a:pPr>
              <a:spcBef>
                <a:spcPts val="300"/>
              </a:spcBef>
            </a:pPr>
            <a:r>
              <a:rPr sz="1200" b="0">
                <a:solidFill>
                  <a:srgbClr val="065F46"/>
                </a:solidFill>
                <a:latin typeface="Calibri"/>
              </a:rPr>
              <a:t>· OAuth2 sur l'API + restriction CORS en production</a:t>
            </a:r>
          </a:p>
          <a:p>
            <a:pPr>
              <a:spcBef>
                <a:spcPts val="300"/>
              </a:spcBef>
            </a:pPr>
            <a:r>
              <a:rPr sz="1200" b="0">
                <a:solidFill>
                  <a:srgbClr val="065F46"/>
                </a:solidFill>
                <a:latin typeface="Calibri"/>
              </a:rPr>
              <a:t>· Base de données historique prédictions (PostgreSQL)</a:t>
            </a:r>
          </a:p>
          <a:p>
            <a:pPr>
              <a:spcBef>
                <a:spcPts val="300"/>
              </a:spcBef>
            </a:pPr>
            <a:r>
              <a:rPr sz="1200" b="0">
                <a:solidFill>
                  <a:srgbClr val="065F46"/>
                </a:solidFill>
                <a:latin typeface="Calibri"/>
              </a:rPr>
              <a:t>· Retraining trimestriel automatique (pipeline CI/CD)</a:t>
            </a:r>
          </a:p>
          <a:p>
            <a:pPr>
              <a:spcBef>
                <a:spcPts val="300"/>
              </a:spcBef>
            </a:pPr>
            <a:r>
              <a:rPr sz="1200" b="0">
                <a:solidFill>
                  <a:srgbClr val="065F46"/>
                </a:solidFill>
                <a:latin typeface="Calibri"/>
              </a:rPr>
              <a:t>· Tests d'intégration E2E : valider F1 &gt;= seuil sur test set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efrei_white.png"/>
          <p:cNvPicPr>
            <a:picLocks noChangeAspect="1"/>
          </p:cNvPicPr>
          <p:nvPr/>
        </p:nvPicPr>
        <p:blipFill>
          <a:blip r:embed="rId2"/>
          <a:stretch>
            <a:fillRect/>
          </a:stretch>
        </p:blipFill>
        <p:spPr>
          <a:xfrm>
            <a:off x="5547207" y="365760"/>
            <a:ext cx="1097280" cy="548640"/>
          </a:xfrm>
          <a:prstGeom prst="rect">
            <a:avLst/>
          </a:prstGeom>
        </p:spPr>
      </p:pic>
      <p:sp>
        <p:nvSpPr>
          <p:cNvPr id="4" name="TextBox 3"/>
          <p:cNvSpPr txBox="1"/>
          <p:nvPr/>
        </p:nvSpPr>
        <p:spPr>
          <a:xfrm>
            <a:off x="457200" y="1005840"/>
            <a:ext cx="11247120" cy="548640"/>
          </a:xfrm>
          <a:prstGeom prst="rect">
            <a:avLst/>
          </a:prstGeom>
          <a:noFill/>
        </p:spPr>
        <p:txBody>
          <a:bodyPr wrap="square">
            <a:spAutoFit/>
          </a:bodyPr>
          <a:lstStyle/>
          <a:p>
            <a:pPr algn="ctr"/>
            <a:r>
              <a:rPr sz="3000" b="1" i="0">
                <a:solidFill>
                  <a:srgbClr val="FFFFFF"/>
                </a:solidFill>
                <a:latin typeface="Calibri"/>
              </a:rPr>
              <a:t>Conclusion</a:t>
            </a:r>
          </a:p>
        </p:txBody>
      </p:sp>
      <p:sp>
        <p:nvSpPr>
          <p:cNvPr id="5" name="Rectangle 4"/>
          <p:cNvSpPr/>
          <p:nvPr/>
        </p:nvSpPr>
        <p:spPr>
          <a:xfrm>
            <a:off x="1371600" y="1645920"/>
            <a:ext cx="9418320" cy="36576"/>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783080"/>
            <a:ext cx="11247120" cy="365760"/>
          </a:xfrm>
          <a:prstGeom prst="rect">
            <a:avLst/>
          </a:prstGeom>
          <a:noFill/>
        </p:spPr>
        <p:txBody>
          <a:bodyPr wrap="square">
            <a:spAutoFit/>
          </a:bodyPr>
          <a:lstStyle/>
          <a:p>
            <a:pPr algn="ctr"/>
            <a:r>
              <a:rPr sz="1600" b="1" i="0">
                <a:solidFill>
                  <a:srgbClr val="90CAF9"/>
                </a:solidFill>
                <a:latin typeface="Calibri"/>
              </a:rPr>
              <a:t>Bilan du projet</a:t>
            </a:r>
          </a:p>
        </p:txBody>
      </p:sp>
      <p:graphicFrame>
        <p:nvGraphicFramePr>
          <p:cNvPr id="7" name="Table 6"/>
          <p:cNvGraphicFramePr>
            <a:graphicFrameLocks noGrp="1"/>
          </p:cNvGraphicFramePr>
          <p:nvPr/>
        </p:nvGraphicFramePr>
        <p:xfrm>
          <a:off x="457200" y="2194560"/>
          <a:ext cx="11247120" cy="2103120"/>
        </p:xfrm>
        <a:graphic>
          <a:graphicData uri="http://schemas.openxmlformats.org/drawingml/2006/table">
            <a:tbl>
              <a:tblPr firstRow="1" bandRow="1">
                <a:tableStyleId>{5C22544A-7EE6-4342-B048-85BDC9FD1C3A}</a:tableStyleId>
              </a:tblPr>
              <a:tblGrid>
                <a:gridCol w="5623560"/>
                <a:gridCol w="5623560"/>
              </a:tblGrid>
              <a:tr h="350520">
                <a:tc>
                  <a:txBody>
                    <a:bodyPr/>
                    <a:lstStyle/>
                    <a:p>
                      <a:pPr algn="ctr"/>
                      <a:r>
                        <a:rPr b="1" sz="1200">
                          <a:solidFill>
                            <a:srgbClr val="FFFFFF"/>
                          </a:solidFill>
                          <a:latin typeface="Calibri"/>
                        </a:rPr>
                        <a:t>Livrable</a:t>
                      </a:r>
                    </a:p>
                  </a:txBody>
                  <a:tcPr>
                    <a:solidFill>
                      <a:srgbClr val="0D47A1"/>
                    </a:solidFill>
                  </a:tcPr>
                </a:tc>
                <a:tc>
                  <a:txBody>
                    <a:bodyPr/>
                    <a:lstStyle/>
                    <a:p>
                      <a:pPr algn="ctr"/>
                      <a:r>
                        <a:rPr b="1" sz="1200">
                          <a:solidFill>
                            <a:srgbClr val="FFFFFF"/>
                          </a:solidFill>
                          <a:latin typeface="Calibri"/>
                        </a:rPr>
                        <a:t>Détail</a:t>
                      </a:r>
                    </a:p>
                  </a:txBody>
                  <a:tcPr>
                    <a:solidFill>
                      <a:srgbClr val="0D47A1"/>
                    </a:solidFill>
                  </a:tcPr>
                </a:tc>
              </a:tr>
              <a:tr h="350520">
                <a:tc>
                  <a:txBody>
                    <a:bodyPr/>
                    <a:lstStyle/>
                    <a:p>
                      <a:pPr algn="ctr"/>
                      <a:r>
                        <a:rPr sz="1100" b="0">
                          <a:solidFill>
                            <a:srgbClr val="212121"/>
                          </a:solidFill>
                          <a:latin typeface="Calibri"/>
                        </a:rPr>
                        <a:t>12 modèles entraînés</a:t>
                      </a:r>
                    </a:p>
                  </a:txBody>
                  <a:tcPr>
                    <a:solidFill>
                      <a:srgbClr val="FFFFFF"/>
                    </a:solidFill>
                  </a:tcPr>
                </a:tc>
                <a:tc>
                  <a:txBody>
                    <a:bodyPr/>
                    <a:lstStyle/>
                    <a:p>
                      <a:pPr algn="ctr"/>
                      <a:r>
                        <a:rPr sz="1100" b="0">
                          <a:solidFill>
                            <a:srgbClr val="212121"/>
                          </a:solidFill>
                          <a:latin typeface="Calibri"/>
                        </a:rPr>
                        <a:t>4 binaire + 4 multiclasse + 4 régression</a:t>
                      </a:r>
                    </a:p>
                  </a:txBody>
                  <a:tcPr>
                    <a:solidFill>
                      <a:srgbClr val="FFFFFF"/>
                    </a:solidFill>
                  </a:tcPr>
                </a:tc>
              </a:tr>
              <a:tr h="350520">
                <a:tc>
                  <a:txBody>
                    <a:bodyPr/>
                    <a:lstStyle/>
                    <a:p>
                      <a:pPr algn="ctr"/>
                      <a:r>
                        <a:rPr sz="1100" b="0">
                          <a:solidFill>
                            <a:srgbClr val="212121"/>
                          </a:solidFill>
                          <a:latin typeface="Calibri"/>
                        </a:rPr>
                        <a:t>3 tâches couvertes</a:t>
                      </a:r>
                    </a:p>
                  </a:txBody>
                  <a:tcPr>
                    <a:solidFill>
                      <a:srgbClr val="F5F7FA"/>
                    </a:solidFill>
                  </a:tcPr>
                </a:tc>
                <a:tc>
                  <a:txBody>
                    <a:bodyPr/>
                    <a:lstStyle/>
                    <a:p>
                      <a:pPr algn="ctr"/>
                      <a:r>
                        <a:rPr sz="1100" b="0">
                          <a:solidFill>
                            <a:srgbClr val="212121"/>
                          </a:solidFill>
                          <a:latin typeface="Calibri"/>
                        </a:rPr>
                        <a:t>Binaire F1=0.886 · Multiclasse Macro-F1=0.931 · RUL R2=0.673</a:t>
                      </a:r>
                    </a:p>
                  </a:txBody>
                  <a:tcPr>
                    <a:solidFill>
                      <a:srgbClr val="F5F7FA"/>
                    </a:solidFill>
                  </a:tcPr>
                </a:tc>
              </a:tr>
              <a:tr h="350520">
                <a:tc>
                  <a:txBody>
                    <a:bodyPr/>
                    <a:lstStyle/>
                    <a:p>
                      <a:pPr algn="ctr"/>
                      <a:r>
                        <a:rPr sz="1100" b="0">
                          <a:solidFill>
                            <a:srgbClr val="212121"/>
                          </a:solidFill>
                          <a:latin typeface="Calibri"/>
                        </a:rPr>
                        <a:t>Dashboard 5 onglets</a:t>
                      </a:r>
                    </a:p>
                  </a:txBody>
                  <a:tcPr>
                    <a:solidFill>
                      <a:srgbClr val="FFFFFF"/>
                    </a:solidFill>
                  </a:tcPr>
                </a:tc>
                <a:tc>
                  <a:txBody>
                    <a:bodyPr/>
                    <a:lstStyle/>
                    <a:p>
                      <a:pPr algn="ctr"/>
                      <a:r>
                        <a:rPr sz="1100" b="0">
                          <a:solidFill>
                            <a:srgbClr val="212121"/>
                          </a:solidFill>
                          <a:latin typeface="Calibri"/>
                        </a:rPr>
                        <a:t>Streamlit orienté métier (responsable maintenance)</a:t>
                      </a:r>
                    </a:p>
                  </a:txBody>
                  <a:tcPr>
                    <a:solidFill>
                      <a:srgbClr val="FFFFFF"/>
                    </a:solidFill>
                  </a:tcPr>
                </a:tc>
              </a:tr>
              <a:tr h="350520">
                <a:tc>
                  <a:txBody>
                    <a:bodyPr/>
                    <a:lstStyle/>
                    <a:p>
                      <a:pPr algn="ctr"/>
                      <a:r>
                        <a:rPr sz="1100" b="0">
                          <a:solidFill>
                            <a:srgbClr val="212121"/>
                          </a:solidFill>
                          <a:latin typeface="Calibri"/>
                        </a:rPr>
                        <a:t>API 4 endpoints</a:t>
                      </a:r>
                    </a:p>
                  </a:txBody>
                  <a:tcPr>
                    <a:solidFill>
                      <a:srgbClr val="F5F7FA"/>
                    </a:solidFill>
                  </a:tcPr>
                </a:tc>
                <a:tc>
                  <a:txBody>
                    <a:bodyPr/>
                    <a:lstStyle/>
                    <a:p>
                      <a:pPr algn="ctr"/>
                      <a:r>
                        <a:rPr sz="1100" b="0">
                          <a:solidFill>
                            <a:srgbClr val="212121"/>
                          </a:solidFill>
                          <a:latin typeface="Calibri"/>
                        </a:rPr>
                        <a:t>FastAPI + Pydantic, latence &lt; 1ms/prédiction</a:t>
                      </a:r>
                    </a:p>
                  </a:txBody>
                  <a:tcPr>
                    <a:solidFill>
                      <a:srgbClr val="F5F7FA"/>
                    </a:solidFill>
                  </a:tcPr>
                </a:tc>
              </a:tr>
              <a:tr h="350520">
                <a:tc>
                  <a:txBody>
                    <a:bodyPr/>
                    <a:lstStyle/>
                    <a:p>
                      <a:pPr algn="ctr"/>
                      <a:r>
                        <a:rPr sz="1100" b="0">
                          <a:solidFill>
                            <a:srgbClr val="212121"/>
                          </a:solidFill>
                          <a:latin typeface="Calibri"/>
                        </a:rPr>
                        <a:t>RNCP40875 Bloc 2</a:t>
                      </a:r>
                    </a:p>
                  </a:txBody>
                  <a:tcPr>
                    <a:solidFill>
                      <a:srgbClr val="FFFFFF"/>
                    </a:solidFill>
                  </a:tcPr>
                </a:tc>
                <a:tc>
                  <a:txBody>
                    <a:bodyPr/>
                    <a:lstStyle/>
                    <a:p>
                      <a:pPr algn="ctr"/>
                      <a:r>
                        <a:rPr sz="1100" b="0">
                          <a:solidFill>
                            <a:srgbClr val="212121"/>
                          </a:solidFill>
                          <a:latin typeface="Calibri"/>
                        </a:rPr>
                        <a:t>C3.1 EDA · C3.2 Prép · C3.3 Éval · C4.3 Empreinte carbone</a:t>
                      </a:r>
                    </a:p>
                  </a:txBody>
                  <a:tcPr>
                    <a:solidFill>
                      <a:srgbClr val="FFFFFF"/>
                    </a:solidFill>
                  </a:tcPr>
                </a:tc>
              </a:tr>
            </a:tbl>
          </a:graphicData>
        </a:graphic>
      </p:graphicFrame>
      <p:sp>
        <p:nvSpPr>
          <p:cNvPr id="8" name="TextBox 7"/>
          <p:cNvSpPr txBox="1"/>
          <p:nvPr/>
        </p:nvSpPr>
        <p:spPr>
          <a:xfrm>
            <a:off x="457200" y="4434840"/>
            <a:ext cx="11247120" cy="347472"/>
          </a:xfrm>
          <a:prstGeom prst="rect">
            <a:avLst/>
          </a:prstGeom>
          <a:noFill/>
        </p:spPr>
        <p:txBody>
          <a:bodyPr wrap="square">
            <a:spAutoFit/>
          </a:bodyPr>
          <a:lstStyle/>
          <a:p>
            <a:pPr algn="ctr"/>
            <a:r>
              <a:rPr sz="1400" b="1" i="0">
                <a:solidFill>
                  <a:srgbClr val="90CAF9"/>
                </a:solidFill>
                <a:latin typeface="Calibri"/>
              </a:rPr>
              <a:t>Compétences acquises</a:t>
            </a:r>
          </a:p>
        </p:txBody>
      </p:sp>
      <p:sp>
        <p:nvSpPr>
          <p:cNvPr id="9" name="TextBox 8"/>
          <p:cNvSpPr txBox="1"/>
          <p:nvPr/>
        </p:nvSpPr>
        <p:spPr>
          <a:xfrm>
            <a:off x="457200" y="4828032"/>
            <a:ext cx="11247120" cy="457200"/>
          </a:xfrm>
          <a:prstGeom prst="rect">
            <a:avLst/>
          </a:prstGeom>
          <a:noFill/>
        </p:spPr>
        <p:txBody>
          <a:bodyPr wrap="square">
            <a:spAutoFit/>
          </a:bodyPr>
          <a:lstStyle/>
          <a:p>
            <a:pPr algn="ctr"/>
            <a:r>
              <a:rPr sz="1200" b="0" i="0">
                <a:solidFill>
                  <a:srgbClr val="BBDEFB"/>
                </a:solidFill>
                <a:latin typeface="Calibri"/>
              </a:rPr>
              <a:t>EDA · Preprocessing anti-leakage · Classification binaire &amp; multiclasse · Régression · DL tabulaire (MLP) · Interprétabilité SHAP · Dashboard Streamlit · API FastAPI · Gestion de projet Agile</a:t>
            </a:r>
          </a:p>
        </p:txBody>
      </p:sp>
      <p:sp>
        <p:nvSpPr>
          <p:cNvPr id="10" name="Rectangle 9"/>
          <p:cNvSpPr/>
          <p:nvPr/>
        </p:nvSpPr>
        <p:spPr>
          <a:xfrm>
            <a:off x="2743200" y="5413248"/>
            <a:ext cx="6675120" cy="36576"/>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5532120"/>
            <a:ext cx="11247120" cy="594360"/>
          </a:xfrm>
          <a:prstGeom prst="rect">
            <a:avLst/>
          </a:prstGeom>
          <a:noFill/>
        </p:spPr>
        <p:txBody>
          <a:bodyPr wrap="square">
            <a:spAutoFit/>
          </a:bodyPr>
          <a:lstStyle/>
          <a:p>
            <a:pPr algn="ctr"/>
            <a:r>
              <a:rPr sz="2400" b="1" i="0">
                <a:solidFill>
                  <a:srgbClr val="FFFFFF"/>
                </a:solidFill>
                <a:latin typeface="Calibri"/>
              </a:rPr>
              <a:t>Merci pour votre attention · Questions ?</a:t>
            </a:r>
          </a:p>
        </p:txBody>
      </p:sp>
      <p:sp>
        <p:nvSpPr>
          <p:cNvPr id="12" name="TextBox 11"/>
          <p:cNvSpPr txBox="1"/>
          <p:nvPr/>
        </p:nvSpPr>
        <p:spPr>
          <a:xfrm>
            <a:off x="457200" y="6199632"/>
            <a:ext cx="11247120" cy="347472"/>
          </a:xfrm>
          <a:prstGeom prst="rect">
            <a:avLst/>
          </a:prstGeom>
          <a:noFill/>
        </p:spPr>
        <p:txBody>
          <a:bodyPr wrap="square">
            <a:spAutoFit/>
          </a:bodyPr>
          <a:lstStyle/>
          <a:p>
            <a:pPr algn="ctr"/>
            <a:r>
              <a:rPr sz="1100" b="0" i="0">
                <a:solidFill>
                  <a:srgbClr val="90CAF9"/>
                </a:solidFill>
                <a:latin typeface="Calibri"/>
              </a:rPr>
              <a:t>Adam BELOUCIF  ·  Emilien MORICE  ·  M1 DE&amp;IA EFREI 2025-2026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