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efre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548640"/>
            <a:ext cx="2559467" cy="12801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377440"/>
            <a:ext cx="11274552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Système Intelligent Multi-Modèles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Maintenance Prédictive Industrielle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D47A1"/>
                </a:solidFill>
                <a:latin typeface="Calibri"/>
              </a:rPr>
              <a:t>Projet Data Science · M1 Mastère Data Engineering &amp;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E6E6E"/>
                </a:solidFill>
                <a:latin typeface="Calibri"/>
              </a:rPr>
              <a:t>Bloc 2 · BC2 RNCP40875 · Année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47A1"/>
                </a:solidFill>
                <a:latin typeface="Calibri"/>
              </a:rPr>
              <a:t>Adam BELOUCIF  ·  Emilien MORICE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Calibri"/>
              </a:rPr>
              <a:t>EFREI Paris Panthéon-Assas Université  ·  www.efrei.fr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Contexte métier et objectifs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12121"/>
                </a:solidFill>
                <a:latin typeface="Calibri"/>
              </a:rPr>
              <a:t>•  Capteurs IoT industriels · vibration / température / pression / RPM en continu.
•  Une panne non anticipée provoque arrêt non planifié, coût correctif élevé.
•  Cible retenue : classification binaire failure_within_24h.
•  Tâches bonus : multi-classe failure_type + régression rul_hours.
•  Objectif : transformer le signal capteur en alerte exploitable.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Architecture du système</a:t>
            </a:r>
          </a:p>
        </p:txBody>
      </p:sp>
      <p:pic>
        <p:nvPicPr>
          <p:cNvPr id="4" name="Picture 3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106" y="1097280"/>
            <a:ext cx="11126739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E6E6E"/>
                </a:solidFill>
                <a:latin typeface="Calibri"/>
              </a:rPr>
              <a:t>Architecture médaillon Bronze / Silver / Gold · pipeline reproductible · API +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Méthodologie · 4 modèles comparés</a:t>
            </a:r>
          </a:p>
        </p:txBody>
      </p:sp>
      <p:pic>
        <p:nvPicPr>
          <p:cNvPr id="4" name="Picture 3" descr="diagram_m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35602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931839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Calibri"/>
              </a:rPr>
              <a:t>•  Logistic Regression · baseline interprétable
•  Random Forest · ensemble d'arbres, capture les non-linéarités
•  XGBoost · gradient boosting, état de l'art tabulaire
•  MLP 64-32-16 · Deep Learning (early stopping, alpha = 1e-3)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Résultats · comparaison des 4 modèles</a:t>
            </a:r>
          </a:p>
        </p:txBody>
      </p:sp>
      <p:pic>
        <p:nvPicPr>
          <p:cNvPr id="4" name="Picture 3" descr="metrics_comparison_bar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410" y="1005840"/>
            <a:ext cx="8456131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47A1"/>
                </a:solidFill>
                <a:latin typeface="Calibri"/>
              </a:rPr>
              <a:t>Modèle candidat retenu : xgboost (compromis F1 / stabilité CV / interprétabilité)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ROC + Precision-Recall</a:t>
            </a:r>
          </a:p>
        </p:txBody>
      </p:sp>
      <p:pic>
        <p:nvPicPr>
          <p:cNvPr id="4" name="Picture 3" descr="roc_curve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852160" cy="4365661"/>
          </a:xfrm>
          <a:prstGeom prst="rect">
            <a:avLst/>
          </a:prstGeom>
        </p:spPr>
      </p:pic>
      <p:pic>
        <p:nvPicPr>
          <p:cNvPr id="5" name="Picture 4" descr="pr_curve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05840"/>
            <a:ext cx="5852160" cy="43557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Interprétabilité · SHAP</a:t>
            </a:r>
          </a:p>
        </p:txBody>
      </p:sp>
      <p:pic>
        <p:nvPicPr>
          <p:cNvPr id="4" name="Picture 3" descr="shap_summary_xgbo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400800" cy="4778219"/>
          </a:xfrm>
          <a:prstGeom prst="rect">
            <a:avLst/>
          </a:prstGeom>
        </p:spPr>
      </p:pic>
      <p:pic>
        <p:nvPicPr>
          <p:cNvPr id="5" name="Picture 4" descr="shap_bar_xgbo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280160"/>
            <a:ext cx="5029200" cy="37383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66939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E6E6E"/>
                </a:solidFill>
                <a:latin typeface="Calibri"/>
              </a:rPr>
              <a:t>Vibration_rms · Temperature_motor · Maintenance_age_days = top 3 variables explicatives.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7. Industrialisation · Dashboard +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12121"/>
                </a:solidFill>
                <a:latin typeface="Calibri"/>
              </a:rPr>
              <a:t>•  Dashboard Streamlit · 5 onglets, CSS personnalisé charte EFREI
•  API REST FastAPI · /predict, /health, /model-info (Pydantic v2)
•  Architecture front → API → modèle (joblib), pratiques production
•  Container Docker + docker-compose, démarrage en docker compose 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8. Écoresponsabilité (RNCP C4.3)</a:t>
            </a:r>
          </a:p>
        </p:txBody>
      </p:sp>
      <p:pic>
        <p:nvPicPr>
          <p:cNvPr id="4" name="Picture 3" descr="compute_cos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217" y="1005840"/>
            <a:ext cx="10992517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E6E6E"/>
                </a:solidFill>
                <a:latin typeface="Calibri"/>
              </a:rPr>
              <a:t>Empreinte CO2 mesurée via CodeCarbon · mix énergétique France ~80 gCO2/kWh.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9. Conclusion et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12121"/>
                </a:solidFill>
                <a:latin typeface="Calibri"/>
              </a:rPr>
              <a:t>•  MVP complet · pipeline + 4 modèles + dashboard + API + rapport
•  Tâches bonus livrées · multi-classe failure_type + régression RUL
•  Hyperparameter tuning Optuna + threshold métier optimisé (FN/FP)
•  Limites : drift temporel non géré, événements rares sous-représentés
•  Suite : monitoring drift, RNN / LSTM temporel, intégration GMAO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efrei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640080"/>
            <a:ext cx="2193829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5603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Merci pour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Questions &amp; démonstration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Adam BELOUCIF · Emilien MORICE  ·  EFREI Paris Panthéon-Assas Université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